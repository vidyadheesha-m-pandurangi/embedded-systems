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74" r:id="rId10"/>
    <p:sldId id="264" r:id="rId11"/>
    <p:sldId id="265" r:id="rId12"/>
    <p:sldId id="266" r:id="rId13"/>
    <p:sldId id="267" r:id="rId14"/>
    <p:sldId id="268" r:id="rId15"/>
    <p:sldId id="269" r:id="rId16"/>
    <p:sldId id="270" r:id="rId17"/>
    <p:sldId id="271" r:id="rId18"/>
    <p:sldId id="272" r:id="rId19"/>
    <p:sldId id="273" r:id="rId20"/>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850"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0" i="0">
                <a:solidFill>
                  <a:schemeClr val="tx1"/>
                </a:solidFill>
                <a:latin typeface="Calibri Light"/>
                <a:cs typeface="Calibri Light"/>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8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11/23/2025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Light"/>
                <a:cs typeface="Calibri Light"/>
              </a:defRPr>
            </a:lvl1pPr>
          </a:lstStyle>
          <a:p>
            <a:endParaRPr/>
          </a:p>
        </p:txBody>
      </p:sp>
      <p:sp>
        <p:nvSpPr>
          <p:cNvPr id="3" name="Holder 3"/>
          <p:cNvSpPr>
            <a:spLocks noGrp="1"/>
          </p:cNvSpPr>
          <p:nvPr>
            <p:ph type="body" idx="1"/>
          </p:nvPr>
        </p:nvSpPr>
        <p:spPr/>
        <p:txBody>
          <a:bodyPr lIns="0" tIns="0" rIns="0" bIns="0"/>
          <a:lstStyle>
            <a:lvl1pPr>
              <a:defRPr sz="18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11/23/2025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Light"/>
                <a:cs typeface="Calibri Light"/>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11/23/2025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Light"/>
                <a:cs typeface="Calibri Ligh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11/23/2025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11/23/2025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78739" y="-59944"/>
            <a:ext cx="12034520" cy="1228725"/>
          </a:xfrm>
          <a:prstGeom prst="rect">
            <a:avLst/>
          </a:prstGeom>
        </p:spPr>
        <p:txBody>
          <a:bodyPr wrap="square" lIns="0" tIns="0" rIns="0" bIns="0">
            <a:spAutoFit/>
          </a:bodyPr>
          <a:lstStyle>
            <a:lvl1pPr>
              <a:defRPr sz="4400" b="0" i="0">
                <a:solidFill>
                  <a:schemeClr val="tx1"/>
                </a:solidFill>
                <a:latin typeface="Calibri Light"/>
                <a:cs typeface="Calibri Light"/>
              </a:defRPr>
            </a:lvl1pPr>
          </a:lstStyle>
          <a:p>
            <a:endParaRPr/>
          </a:p>
        </p:txBody>
      </p:sp>
      <p:sp>
        <p:nvSpPr>
          <p:cNvPr id="3" name="Holder 3"/>
          <p:cNvSpPr>
            <a:spLocks noGrp="1"/>
          </p:cNvSpPr>
          <p:nvPr>
            <p:ph type="body" idx="1"/>
          </p:nvPr>
        </p:nvSpPr>
        <p:spPr>
          <a:xfrm>
            <a:off x="362508" y="1877314"/>
            <a:ext cx="10582910" cy="3592195"/>
          </a:xfrm>
          <a:prstGeom prst="rect">
            <a:avLst/>
          </a:prstGeom>
        </p:spPr>
        <p:txBody>
          <a:bodyPr wrap="square" lIns="0" tIns="0" rIns="0" bIns="0">
            <a:spAutoFit/>
          </a:bodyPr>
          <a:lstStyle>
            <a:lvl1pPr>
              <a:defRPr sz="1800" b="0" i="0">
                <a:solidFill>
                  <a:schemeClr val="tx1"/>
                </a:solidFill>
                <a:latin typeface="Arial MT"/>
                <a:cs typeface="Arial MT"/>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11/23/2025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81452" y="183641"/>
            <a:ext cx="6528434" cy="756920"/>
          </a:xfrm>
          <a:prstGeom prst="rect">
            <a:avLst/>
          </a:prstGeom>
        </p:spPr>
        <p:txBody>
          <a:bodyPr vert="horz" wrap="square" lIns="0" tIns="12700" rIns="0" bIns="0" rtlCol="0">
            <a:spAutoFit/>
          </a:bodyPr>
          <a:lstStyle/>
          <a:p>
            <a:pPr marL="774700" marR="5080" indent="-762635">
              <a:lnSpc>
                <a:spcPct val="100000"/>
              </a:lnSpc>
              <a:spcBef>
                <a:spcPts val="100"/>
              </a:spcBef>
            </a:pPr>
            <a:r>
              <a:rPr sz="2400" b="1" spc="-30" dirty="0">
                <a:solidFill>
                  <a:srgbClr val="FF0000"/>
                </a:solidFill>
                <a:latin typeface="Times New Roman"/>
                <a:cs typeface="Times New Roman"/>
              </a:rPr>
              <a:t>ADHIYAMAAN</a:t>
            </a:r>
            <a:r>
              <a:rPr sz="2400" b="1" spc="-10" dirty="0">
                <a:solidFill>
                  <a:srgbClr val="FF0000"/>
                </a:solidFill>
                <a:latin typeface="Times New Roman"/>
                <a:cs typeface="Times New Roman"/>
              </a:rPr>
              <a:t> </a:t>
            </a:r>
            <a:r>
              <a:rPr sz="2400" b="1" dirty="0">
                <a:solidFill>
                  <a:srgbClr val="FF0000"/>
                </a:solidFill>
                <a:latin typeface="Times New Roman"/>
                <a:cs typeface="Times New Roman"/>
              </a:rPr>
              <a:t>COLLEGE</a:t>
            </a:r>
            <a:r>
              <a:rPr sz="2400" b="1" spc="-35" dirty="0">
                <a:solidFill>
                  <a:srgbClr val="FF0000"/>
                </a:solidFill>
                <a:latin typeface="Times New Roman"/>
                <a:cs typeface="Times New Roman"/>
              </a:rPr>
              <a:t> </a:t>
            </a:r>
            <a:r>
              <a:rPr sz="2400" b="1" dirty="0">
                <a:solidFill>
                  <a:srgbClr val="FF0000"/>
                </a:solidFill>
                <a:latin typeface="Times New Roman"/>
                <a:cs typeface="Times New Roman"/>
              </a:rPr>
              <a:t>OF</a:t>
            </a:r>
            <a:r>
              <a:rPr sz="2400" b="1" spc="-140" dirty="0">
                <a:solidFill>
                  <a:srgbClr val="FF0000"/>
                </a:solidFill>
                <a:latin typeface="Times New Roman"/>
                <a:cs typeface="Times New Roman"/>
              </a:rPr>
              <a:t> </a:t>
            </a:r>
            <a:r>
              <a:rPr sz="2400" b="1" spc="-10" dirty="0">
                <a:solidFill>
                  <a:srgbClr val="FF0000"/>
                </a:solidFill>
                <a:latin typeface="Times New Roman"/>
                <a:cs typeface="Times New Roman"/>
              </a:rPr>
              <a:t>ENGINEERING </a:t>
            </a:r>
            <a:r>
              <a:rPr sz="2400" b="1" spc="-20" dirty="0">
                <a:solidFill>
                  <a:srgbClr val="FF0000"/>
                </a:solidFill>
                <a:latin typeface="Times New Roman"/>
                <a:cs typeface="Times New Roman"/>
              </a:rPr>
              <a:t>(AN</a:t>
            </a:r>
            <a:r>
              <a:rPr sz="2400" b="1" spc="-130" dirty="0">
                <a:solidFill>
                  <a:srgbClr val="FF0000"/>
                </a:solidFill>
                <a:latin typeface="Times New Roman"/>
                <a:cs typeface="Times New Roman"/>
              </a:rPr>
              <a:t> </a:t>
            </a:r>
            <a:r>
              <a:rPr sz="2400" b="1" dirty="0">
                <a:solidFill>
                  <a:srgbClr val="FF0000"/>
                </a:solidFill>
                <a:latin typeface="Times New Roman"/>
                <a:cs typeface="Times New Roman"/>
              </a:rPr>
              <a:t>AUTONOMOUS</a:t>
            </a:r>
            <a:r>
              <a:rPr sz="2400" b="1" spc="-140" dirty="0">
                <a:solidFill>
                  <a:srgbClr val="FF0000"/>
                </a:solidFill>
                <a:latin typeface="Times New Roman"/>
                <a:cs typeface="Times New Roman"/>
              </a:rPr>
              <a:t> </a:t>
            </a:r>
            <a:r>
              <a:rPr sz="2400" b="1" spc="-10" dirty="0">
                <a:solidFill>
                  <a:srgbClr val="FF0000"/>
                </a:solidFill>
                <a:latin typeface="Times New Roman"/>
                <a:cs typeface="Times New Roman"/>
              </a:rPr>
              <a:t>INSTITUTION)</a:t>
            </a:r>
            <a:endParaRPr sz="2400">
              <a:latin typeface="Times New Roman"/>
              <a:cs typeface="Times New Roman"/>
            </a:endParaRPr>
          </a:p>
        </p:txBody>
      </p:sp>
      <p:sp>
        <p:nvSpPr>
          <p:cNvPr id="3" name="object 3"/>
          <p:cNvSpPr txBox="1"/>
          <p:nvPr/>
        </p:nvSpPr>
        <p:spPr>
          <a:xfrm>
            <a:off x="1493647" y="919734"/>
            <a:ext cx="8543925" cy="3143809"/>
          </a:xfrm>
          <a:prstGeom prst="rect">
            <a:avLst/>
          </a:prstGeom>
        </p:spPr>
        <p:txBody>
          <a:bodyPr vert="horz" wrap="square" lIns="0" tIns="12065" rIns="0" bIns="0" rtlCol="0">
            <a:spAutoFit/>
          </a:bodyPr>
          <a:lstStyle/>
          <a:p>
            <a:pPr marR="33020" algn="ctr">
              <a:lnSpc>
                <a:spcPts val="1914"/>
              </a:lnSpc>
              <a:spcBef>
                <a:spcPts val="95"/>
              </a:spcBef>
            </a:pPr>
            <a:r>
              <a:rPr sz="1600" b="1" spc="-10" dirty="0">
                <a:solidFill>
                  <a:srgbClr val="4471C4"/>
                </a:solidFill>
                <a:latin typeface="Times New Roman"/>
                <a:cs typeface="Times New Roman"/>
              </a:rPr>
              <a:t>Approved</a:t>
            </a:r>
            <a:r>
              <a:rPr sz="1600" b="1" spc="-55" dirty="0">
                <a:solidFill>
                  <a:srgbClr val="4471C4"/>
                </a:solidFill>
                <a:latin typeface="Times New Roman"/>
                <a:cs typeface="Times New Roman"/>
              </a:rPr>
              <a:t> </a:t>
            </a:r>
            <a:r>
              <a:rPr sz="1600" b="1" spc="-10" dirty="0">
                <a:solidFill>
                  <a:srgbClr val="4471C4"/>
                </a:solidFill>
                <a:latin typeface="Times New Roman"/>
                <a:cs typeface="Times New Roman"/>
              </a:rPr>
              <a:t>by</a:t>
            </a:r>
            <a:r>
              <a:rPr sz="1600" b="1" spc="-100" dirty="0">
                <a:solidFill>
                  <a:srgbClr val="4471C4"/>
                </a:solidFill>
                <a:latin typeface="Times New Roman"/>
                <a:cs typeface="Times New Roman"/>
              </a:rPr>
              <a:t> </a:t>
            </a:r>
            <a:r>
              <a:rPr sz="1600" b="1" dirty="0">
                <a:solidFill>
                  <a:srgbClr val="4471C4"/>
                </a:solidFill>
                <a:latin typeface="Times New Roman"/>
                <a:cs typeface="Times New Roman"/>
              </a:rPr>
              <a:t>AICTE,</a:t>
            </a:r>
            <a:r>
              <a:rPr sz="1600" b="1" spc="-100" dirty="0">
                <a:solidFill>
                  <a:srgbClr val="4471C4"/>
                </a:solidFill>
                <a:latin typeface="Times New Roman"/>
                <a:cs typeface="Times New Roman"/>
              </a:rPr>
              <a:t> </a:t>
            </a:r>
            <a:r>
              <a:rPr sz="1600" b="1" spc="-10" dirty="0">
                <a:solidFill>
                  <a:srgbClr val="4471C4"/>
                </a:solidFill>
                <a:latin typeface="Times New Roman"/>
                <a:cs typeface="Times New Roman"/>
              </a:rPr>
              <a:t>Affiliated</a:t>
            </a:r>
            <a:r>
              <a:rPr sz="1600" b="1" spc="-55" dirty="0">
                <a:solidFill>
                  <a:srgbClr val="4471C4"/>
                </a:solidFill>
                <a:latin typeface="Times New Roman"/>
                <a:cs typeface="Times New Roman"/>
              </a:rPr>
              <a:t> </a:t>
            </a:r>
            <a:r>
              <a:rPr sz="1600" b="1" dirty="0">
                <a:solidFill>
                  <a:srgbClr val="4471C4"/>
                </a:solidFill>
                <a:latin typeface="Times New Roman"/>
                <a:cs typeface="Times New Roman"/>
              </a:rPr>
              <a:t>Anna</a:t>
            </a:r>
            <a:r>
              <a:rPr sz="1600" b="1" spc="-15" dirty="0">
                <a:solidFill>
                  <a:srgbClr val="4471C4"/>
                </a:solidFill>
                <a:latin typeface="Times New Roman"/>
                <a:cs typeface="Times New Roman"/>
              </a:rPr>
              <a:t> </a:t>
            </a:r>
            <a:r>
              <a:rPr sz="1600" b="1" dirty="0">
                <a:solidFill>
                  <a:srgbClr val="4471C4"/>
                </a:solidFill>
                <a:latin typeface="Times New Roman"/>
                <a:cs typeface="Times New Roman"/>
              </a:rPr>
              <a:t>University</a:t>
            </a:r>
            <a:r>
              <a:rPr sz="1600" b="1" spc="10" dirty="0">
                <a:solidFill>
                  <a:srgbClr val="4471C4"/>
                </a:solidFill>
                <a:latin typeface="Times New Roman"/>
                <a:cs typeface="Times New Roman"/>
              </a:rPr>
              <a:t> </a:t>
            </a:r>
            <a:r>
              <a:rPr sz="1600" b="1" spc="-10" dirty="0">
                <a:solidFill>
                  <a:srgbClr val="4471C4"/>
                </a:solidFill>
                <a:latin typeface="Times New Roman"/>
                <a:cs typeface="Times New Roman"/>
              </a:rPr>
              <a:t>accredited</a:t>
            </a:r>
            <a:r>
              <a:rPr sz="1600" b="1" spc="10" dirty="0">
                <a:solidFill>
                  <a:srgbClr val="4471C4"/>
                </a:solidFill>
                <a:latin typeface="Times New Roman"/>
                <a:cs typeface="Times New Roman"/>
              </a:rPr>
              <a:t> </a:t>
            </a:r>
            <a:r>
              <a:rPr sz="1600" b="1" dirty="0">
                <a:solidFill>
                  <a:srgbClr val="4471C4"/>
                </a:solidFill>
                <a:latin typeface="Times New Roman"/>
                <a:cs typeface="Times New Roman"/>
              </a:rPr>
              <a:t>by</a:t>
            </a:r>
            <a:r>
              <a:rPr sz="1600" b="1" spc="-10" dirty="0">
                <a:solidFill>
                  <a:srgbClr val="4471C4"/>
                </a:solidFill>
                <a:latin typeface="Times New Roman"/>
                <a:cs typeface="Times New Roman"/>
              </a:rPr>
              <a:t> NBA</a:t>
            </a:r>
            <a:r>
              <a:rPr sz="1600" b="1" spc="-105" dirty="0">
                <a:solidFill>
                  <a:srgbClr val="4471C4"/>
                </a:solidFill>
                <a:latin typeface="Times New Roman"/>
                <a:cs typeface="Times New Roman"/>
              </a:rPr>
              <a:t> </a:t>
            </a:r>
            <a:r>
              <a:rPr sz="1600" b="1" dirty="0">
                <a:solidFill>
                  <a:srgbClr val="4471C4"/>
                </a:solidFill>
                <a:latin typeface="Times New Roman"/>
                <a:cs typeface="Times New Roman"/>
              </a:rPr>
              <a:t>&amp;</a:t>
            </a:r>
            <a:r>
              <a:rPr sz="1600" b="1" spc="-10" dirty="0">
                <a:solidFill>
                  <a:srgbClr val="4471C4"/>
                </a:solidFill>
                <a:latin typeface="Times New Roman"/>
                <a:cs typeface="Times New Roman"/>
              </a:rPr>
              <a:t> </a:t>
            </a:r>
            <a:r>
              <a:rPr sz="1600" b="1" dirty="0">
                <a:solidFill>
                  <a:srgbClr val="4471C4"/>
                </a:solidFill>
                <a:latin typeface="Times New Roman"/>
                <a:cs typeface="Times New Roman"/>
              </a:rPr>
              <a:t>NAAC</a:t>
            </a:r>
            <a:r>
              <a:rPr sz="1600" b="1" spc="-30" dirty="0">
                <a:solidFill>
                  <a:srgbClr val="4471C4"/>
                </a:solidFill>
                <a:latin typeface="Times New Roman"/>
                <a:cs typeface="Times New Roman"/>
              </a:rPr>
              <a:t> </a:t>
            </a:r>
            <a:r>
              <a:rPr sz="1600" b="1" spc="-10" dirty="0">
                <a:solidFill>
                  <a:srgbClr val="4471C4"/>
                </a:solidFill>
                <a:latin typeface="Times New Roman"/>
                <a:cs typeface="Times New Roman"/>
              </a:rPr>
              <a:t>with</a:t>
            </a:r>
            <a:r>
              <a:rPr sz="1600" b="1" spc="-105" dirty="0">
                <a:solidFill>
                  <a:srgbClr val="4471C4"/>
                </a:solidFill>
                <a:latin typeface="Times New Roman"/>
                <a:cs typeface="Times New Roman"/>
              </a:rPr>
              <a:t> </a:t>
            </a:r>
            <a:r>
              <a:rPr sz="1600" b="1" dirty="0">
                <a:solidFill>
                  <a:srgbClr val="4471C4"/>
                </a:solidFill>
                <a:latin typeface="Times New Roman"/>
                <a:cs typeface="Times New Roman"/>
              </a:rPr>
              <a:t>A</a:t>
            </a:r>
            <a:r>
              <a:rPr sz="1600" b="1" spc="-100" dirty="0">
                <a:solidFill>
                  <a:srgbClr val="4471C4"/>
                </a:solidFill>
                <a:latin typeface="Times New Roman"/>
                <a:cs typeface="Times New Roman"/>
              </a:rPr>
              <a:t> </a:t>
            </a:r>
            <a:r>
              <a:rPr sz="1600" b="1" spc="-10" dirty="0">
                <a:solidFill>
                  <a:srgbClr val="4471C4"/>
                </a:solidFill>
                <a:latin typeface="Times New Roman"/>
                <a:cs typeface="Times New Roman"/>
              </a:rPr>
              <a:t>Grade.</a:t>
            </a:r>
            <a:endParaRPr sz="1600" dirty="0">
              <a:latin typeface="Times New Roman"/>
              <a:cs typeface="Times New Roman"/>
            </a:endParaRPr>
          </a:p>
          <a:p>
            <a:pPr marR="30480" algn="ctr">
              <a:lnSpc>
                <a:spcPts val="2155"/>
              </a:lnSpc>
            </a:pPr>
            <a:r>
              <a:rPr sz="1600" b="1" dirty="0">
                <a:latin typeface="Times New Roman"/>
                <a:cs typeface="Times New Roman"/>
              </a:rPr>
              <a:t>Dr</a:t>
            </a:r>
            <a:r>
              <a:rPr sz="1600" b="1" spc="-65" dirty="0">
                <a:latin typeface="Times New Roman"/>
                <a:cs typeface="Times New Roman"/>
              </a:rPr>
              <a:t> </a:t>
            </a:r>
            <a:r>
              <a:rPr sz="1600" b="1" dirty="0">
                <a:latin typeface="Times New Roman"/>
                <a:cs typeface="Times New Roman"/>
              </a:rPr>
              <a:t>M</a:t>
            </a:r>
            <a:r>
              <a:rPr sz="1600" b="1" spc="-40" dirty="0">
                <a:latin typeface="Times New Roman"/>
                <a:cs typeface="Times New Roman"/>
              </a:rPr>
              <a:t> </a:t>
            </a:r>
            <a:r>
              <a:rPr sz="1600" b="1" dirty="0">
                <a:latin typeface="Times New Roman"/>
                <a:cs typeface="Times New Roman"/>
              </a:rPr>
              <a:t>G</a:t>
            </a:r>
            <a:r>
              <a:rPr sz="1600" b="1" spc="-25" dirty="0">
                <a:latin typeface="Times New Roman"/>
                <a:cs typeface="Times New Roman"/>
              </a:rPr>
              <a:t> </a:t>
            </a:r>
            <a:r>
              <a:rPr sz="1600" b="1" dirty="0">
                <a:latin typeface="Times New Roman"/>
                <a:cs typeface="Times New Roman"/>
              </a:rPr>
              <a:t>R</a:t>
            </a:r>
            <a:r>
              <a:rPr sz="1600" b="1" spc="-40" dirty="0">
                <a:latin typeface="Times New Roman"/>
                <a:cs typeface="Times New Roman"/>
              </a:rPr>
              <a:t> </a:t>
            </a:r>
            <a:r>
              <a:rPr sz="1600" b="1" spc="-25" dirty="0">
                <a:latin typeface="Times New Roman"/>
                <a:cs typeface="Times New Roman"/>
              </a:rPr>
              <a:t>Nagar,</a:t>
            </a:r>
            <a:r>
              <a:rPr sz="1600" b="1" spc="-45" dirty="0">
                <a:latin typeface="Times New Roman"/>
                <a:cs typeface="Times New Roman"/>
              </a:rPr>
              <a:t> </a:t>
            </a:r>
            <a:r>
              <a:rPr sz="1600" b="1" dirty="0">
                <a:latin typeface="Times New Roman"/>
                <a:cs typeface="Times New Roman"/>
              </a:rPr>
              <a:t>Hosur</a:t>
            </a:r>
            <a:r>
              <a:rPr sz="1600" b="1" spc="-40" dirty="0">
                <a:latin typeface="Times New Roman"/>
                <a:cs typeface="Times New Roman"/>
              </a:rPr>
              <a:t> </a:t>
            </a:r>
            <a:r>
              <a:rPr sz="1600" b="1" dirty="0">
                <a:latin typeface="Times New Roman"/>
                <a:cs typeface="Times New Roman"/>
              </a:rPr>
              <a:t>-</a:t>
            </a:r>
            <a:r>
              <a:rPr sz="1600" b="1" spc="-35" dirty="0">
                <a:latin typeface="Times New Roman"/>
                <a:cs typeface="Times New Roman"/>
              </a:rPr>
              <a:t> </a:t>
            </a:r>
            <a:r>
              <a:rPr sz="1600" b="1" dirty="0">
                <a:latin typeface="Times New Roman"/>
                <a:cs typeface="Times New Roman"/>
              </a:rPr>
              <a:t>635</a:t>
            </a:r>
            <a:r>
              <a:rPr sz="1600" b="1" spc="-50" dirty="0">
                <a:latin typeface="Times New Roman"/>
                <a:cs typeface="Times New Roman"/>
              </a:rPr>
              <a:t> </a:t>
            </a:r>
            <a:r>
              <a:rPr sz="1600" b="1" dirty="0">
                <a:latin typeface="Times New Roman"/>
                <a:cs typeface="Times New Roman"/>
              </a:rPr>
              <a:t>130,</a:t>
            </a:r>
            <a:r>
              <a:rPr sz="1600" b="1" spc="-35" dirty="0">
                <a:latin typeface="Times New Roman"/>
                <a:cs typeface="Times New Roman"/>
              </a:rPr>
              <a:t> </a:t>
            </a:r>
            <a:r>
              <a:rPr sz="1600" b="1" dirty="0">
                <a:latin typeface="Times New Roman"/>
                <a:cs typeface="Times New Roman"/>
              </a:rPr>
              <a:t>Krishnagiri</a:t>
            </a:r>
            <a:r>
              <a:rPr sz="1600" b="1" spc="-5" dirty="0">
                <a:latin typeface="Times New Roman"/>
                <a:cs typeface="Times New Roman"/>
              </a:rPr>
              <a:t> </a:t>
            </a:r>
            <a:r>
              <a:rPr sz="1600" b="1" dirty="0">
                <a:latin typeface="Times New Roman"/>
                <a:cs typeface="Times New Roman"/>
              </a:rPr>
              <a:t>(Dist.),</a:t>
            </a:r>
            <a:r>
              <a:rPr sz="1600" b="1" spc="-25" dirty="0">
                <a:latin typeface="Times New Roman"/>
                <a:cs typeface="Times New Roman"/>
              </a:rPr>
              <a:t> Tamil</a:t>
            </a:r>
            <a:r>
              <a:rPr sz="1600" b="1" spc="-20" dirty="0">
                <a:latin typeface="Times New Roman"/>
                <a:cs typeface="Times New Roman"/>
              </a:rPr>
              <a:t> </a:t>
            </a:r>
            <a:r>
              <a:rPr sz="1600" b="1" dirty="0">
                <a:latin typeface="Times New Roman"/>
                <a:cs typeface="Times New Roman"/>
              </a:rPr>
              <a:t>Nadu,</a:t>
            </a:r>
            <a:r>
              <a:rPr sz="1600" b="1" spc="-40" dirty="0">
                <a:latin typeface="Times New Roman"/>
                <a:cs typeface="Times New Roman"/>
              </a:rPr>
              <a:t> </a:t>
            </a:r>
            <a:r>
              <a:rPr sz="1600" b="1" spc="-10" dirty="0">
                <a:latin typeface="Times New Roman"/>
                <a:cs typeface="Times New Roman"/>
              </a:rPr>
              <a:t>India</a:t>
            </a:r>
            <a:r>
              <a:rPr sz="1800" spc="-10" dirty="0">
                <a:latin typeface="Times New Roman"/>
                <a:cs typeface="Times New Roman"/>
              </a:rPr>
              <a:t>.</a:t>
            </a:r>
            <a:endParaRPr sz="1800" dirty="0">
              <a:latin typeface="Times New Roman"/>
              <a:cs typeface="Times New Roman"/>
            </a:endParaRPr>
          </a:p>
          <a:p>
            <a:pPr algn="ctr">
              <a:lnSpc>
                <a:spcPct val="100000"/>
              </a:lnSpc>
              <a:spcBef>
                <a:spcPts val="290"/>
              </a:spcBef>
            </a:pPr>
            <a:r>
              <a:rPr sz="1900" b="1" spc="-30" dirty="0">
                <a:solidFill>
                  <a:srgbClr val="C04D13"/>
                </a:solidFill>
                <a:latin typeface="Times New Roman"/>
                <a:cs typeface="Times New Roman"/>
              </a:rPr>
              <a:t>DEPARTMENT</a:t>
            </a:r>
            <a:r>
              <a:rPr sz="1900" b="1" spc="-55" dirty="0">
                <a:solidFill>
                  <a:srgbClr val="C04D13"/>
                </a:solidFill>
                <a:latin typeface="Times New Roman"/>
                <a:cs typeface="Times New Roman"/>
              </a:rPr>
              <a:t> </a:t>
            </a:r>
            <a:r>
              <a:rPr sz="1900" b="1" dirty="0">
                <a:solidFill>
                  <a:srgbClr val="C04D13"/>
                </a:solidFill>
                <a:latin typeface="Times New Roman"/>
                <a:cs typeface="Times New Roman"/>
              </a:rPr>
              <a:t>OF</a:t>
            </a:r>
            <a:r>
              <a:rPr sz="1900" b="1" spc="-105" dirty="0">
                <a:solidFill>
                  <a:srgbClr val="C04D13"/>
                </a:solidFill>
                <a:latin typeface="Times New Roman"/>
                <a:cs typeface="Times New Roman"/>
              </a:rPr>
              <a:t> </a:t>
            </a:r>
            <a:r>
              <a:rPr sz="1900" b="1" spc="-10" dirty="0">
                <a:solidFill>
                  <a:srgbClr val="C04D13"/>
                </a:solidFill>
                <a:latin typeface="Times New Roman"/>
                <a:cs typeface="Times New Roman"/>
              </a:rPr>
              <a:t>ELECTRONICS</a:t>
            </a:r>
            <a:r>
              <a:rPr sz="1900" b="1" spc="-95" dirty="0">
                <a:solidFill>
                  <a:srgbClr val="C04D13"/>
                </a:solidFill>
                <a:latin typeface="Times New Roman"/>
                <a:cs typeface="Times New Roman"/>
              </a:rPr>
              <a:t> </a:t>
            </a:r>
            <a:r>
              <a:rPr sz="1900" b="1" dirty="0">
                <a:solidFill>
                  <a:srgbClr val="C04D13"/>
                </a:solidFill>
                <a:latin typeface="Times New Roman"/>
                <a:cs typeface="Times New Roman"/>
              </a:rPr>
              <a:t>AND</a:t>
            </a:r>
            <a:r>
              <a:rPr sz="1900" b="1" spc="-40" dirty="0">
                <a:solidFill>
                  <a:srgbClr val="C04D13"/>
                </a:solidFill>
                <a:latin typeface="Times New Roman"/>
                <a:cs typeface="Times New Roman"/>
              </a:rPr>
              <a:t> </a:t>
            </a:r>
            <a:r>
              <a:rPr sz="1900" b="1" spc="-25" dirty="0">
                <a:solidFill>
                  <a:srgbClr val="C04D13"/>
                </a:solidFill>
                <a:latin typeface="Times New Roman"/>
                <a:cs typeface="Times New Roman"/>
              </a:rPr>
              <a:t>COMMUNICATION</a:t>
            </a:r>
            <a:r>
              <a:rPr sz="1900" b="1" spc="-5" dirty="0">
                <a:solidFill>
                  <a:srgbClr val="C04D13"/>
                </a:solidFill>
                <a:latin typeface="Times New Roman"/>
                <a:cs typeface="Times New Roman"/>
              </a:rPr>
              <a:t> </a:t>
            </a:r>
            <a:r>
              <a:rPr sz="1900" b="1" spc="-10" dirty="0">
                <a:solidFill>
                  <a:srgbClr val="C04D13"/>
                </a:solidFill>
                <a:latin typeface="Times New Roman"/>
                <a:cs typeface="Times New Roman"/>
              </a:rPr>
              <a:t>ENGINEERING</a:t>
            </a:r>
            <a:endParaRPr sz="1900" dirty="0">
              <a:latin typeface="Times New Roman"/>
              <a:cs typeface="Times New Roman"/>
            </a:endParaRPr>
          </a:p>
          <a:p>
            <a:pPr marL="310515" algn="ctr">
              <a:lnSpc>
                <a:spcPct val="100000"/>
              </a:lnSpc>
              <a:spcBef>
                <a:spcPts val="1355"/>
              </a:spcBef>
            </a:pPr>
            <a:r>
              <a:rPr sz="2200" b="1" dirty="0">
                <a:latin typeface="Times New Roman"/>
                <a:cs typeface="Times New Roman"/>
              </a:rPr>
              <a:t>MINI</a:t>
            </a:r>
            <a:r>
              <a:rPr sz="2200" b="1" spc="-20" dirty="0">
                <a:latin typeface="Times New Roman"/>
                <a:cs typeface="Times New Roman"/>
              </a:rPr>
              <a:t> </a:t>
            </a:r>
            <a:r>
              <a:rPr sz="2200" b="1" spc="-10" dirty="0">
                <a:latin typeface="Times New Roman"/>
                <a:cs typeface="Times New Roman"/>
              </a:rPr>
              <a:t>PROJECT</a:t>
            </a:r>
            <a:endParaRPr lang="en-IN" sz="2200" b="1" spc="-10" dirty="0">
              <a:latin typeface="Times New Roman"/>
              <a:cs typeface="Times New Roman"/>
            </a:endParaRPr>
          </a:p>
          <a:p>
            <a:pPr marL="310515" algn="ctr">
              <a:lnSpc>
                <a:spcPct val="100000"/>
              </a:lnSpc>
              <a:spcBef>
                <a:spcPts val="1355"/>
              </a:spcBef>
            </a:pPr>
            <a:endParaRPr sz="2200" dirty="0">
              <a:latin typeface="Times New Roman"/>
              <a:cs typeface="Times New Roman"/>
            </a:endParaRPr>
          </a:p>
          <a:p>
            <a:pPr marL="205740" algn="ctr">
              <a:lnSpc>
                <a:spcPct val="100000"/>
              </a:lnSpc>
              <a:spcBef>
                <a:spcPts val="5"/>
              </a:spcBef>
            </a:pPr>
            <a:r>
              <a:rPr sz="2800" b="1" dirty="0">
                <a:latin typeface="Times New Roman"/>
                <a:cs typeface="Times New Roman"/>
              </a:rPr>
              <a:t>PROJECT</a:t>
            </a:r>
            <a:r>
              <a:rPr sz="2800" b="1" spc="-150" dirty="0">
                <a:latin typeface="Times New Roman"/>
                <a:cs typeface="Times New Roman"/>
              </a:rPr>
              <a:t> </a:t>
            </a:r>
            <a:r>
              <a:rPr sz="2800" b="1" spc="-10" dirty="0">
                <a:latin typeface="Times New Roman"/>
                <a:cs typeface="Times New Roman"/>
              </a:rPr>
              <a:t>TITLE</a:t>
            </a:r>
            <a:endParaRPr sz="2800" dirty="0">
              <a:latin typeface="Times New Roman"/>
              <a:cs typeface="Times New Roman"/>
            </a:endParaRPr>
          </a:p>
          <a:p>
            <a:pPr marL="344805" marR="147955" algn="ctr">
              <a:lnSpc>
                <a:spcPts val="2590"/>
              </a:lnSpc>
              <a:spcBef>
                <a:spcPts val="1135"/>
              </a:spcBef>
              <a:tabLst>
                <a:tab pos="7302500" algn="l"/>
              </a:tabLst>
            </a:pPr>
            <a:r>
              <a:rPr sz="2400" b="1" spc="-70" dirty="0">
                <a:latin typeface="Times New Roman"/>
                <a:cs typeface="Times New Roman"/>
              </a:rPr>
              <a:t>IoT-</a:t>
            </a:r>
            <a:r>
              <a:rPr sz="2400" b="1" dirty="0">
                <a:latin typeface="Times New Roman"/>
                <a:cs typeface="Times New Roman"/>
              </a:rPr>
              <a:t>Enabled</a:t>
            </a:r>
            <a:r>
              <a:rPr sz="2400" b="1" spc="-45" dirty="0">
                <a:latin typeface="Times New Roman"/>
                <a:cs typeface="Times New Roman"/>
              </a:rPr>
              <a:t> </a:t>
            </a:r>
            <a:r>
              <a:rPr sz="2400" b="1" dirty="0">
                <a:latin typeface="Times New Roman"/>
                <a:cs typeface="Times New Roman"/>
              </a:rPr>
              <a:t>Biometric</a:t>
            </a:r>
            <a:r>
              <a:rPr sz="2400" b="1" spc="-70" dirty="0">
                <a:latin typeface="Times New Roman"/>
                <a:cs typeface="Times New Roman"/>
              </a:rPr>
              <a:t> </a:t>
            </a:r>
            <a:r>
              <a:rPr sz="2400" b="1" dirty="0">
                <a:latin typeface="Times New Roman"/>
                <a:cs typeface="Times New Roman"/>
              </a:rPr>
              <a:t>and</a:t>
            </a:r>
            <a:r>
              <a:rPr sz="2400" b="1" spc="-35" dirty="0">
                <a:latin typeface="Times New Roman"/>
                <a:cs typeface="Times New Roman"/>
              </a:rPr>
              <a:t> </a:t>
            </a:r>
            <a:r>
              <a:rPr sz="2400" b="1" spc="-10" dirty="0">
                <a:latin typeface="Times New Roman"/>
                <a:cs typeface="Times New Roman"/>
              </a:rPr>
              <a:t>OTP-</a:t>
            </a:r>
            <a:r>
              <a:rPr sz="2400" b="1" dirty="0">
                <a:latin typeface="Times New Roman"/>
                <a:cs typeface="Times New Roman"/>
              </a:rPr>
              <a:t>Based</a:t>
            </a:r>
            <a:r>
              <a:rPr sz="2400" b="1" spc="-50" dirty="0">
                <a:latin typeface="Times New Roman"/>
                <a:cs typeface="Times New Roman"/>
              </a:rPr>
              <a:t> </a:t>
            </a:r>
            <a:r>
              <a:rPr sz="2400" b="1" dirty="0">
                <a:latin typeface="Times New Roman"/>
                <a:cs typeface="Times New Roman"/>
              </a:rPr>
              <a:t>Smart</a:t>
            </a:r>
            <a:r>
              <a:rPr sz="2400" b="1" spc="-70" dirty="0">
                <a:latin typeface="Times New Roman"/>
                <a:cs typeface="Times New Roman"/>
              </a:rPr>
              <a:t> </a:t>
            </a:r>
            <a:r>
              <a:rPr sz="2400" b="1" spc="-10" dirty="0">
                <a:latin typeface="Times New Roman"/>
                <a:cs typeface="Times New Roman"/>
              </a:rPr>
              <a:t>Vault</a:t>
            </a:r>
            <a:r>
              <a:rPr sz="2400" b="1" dirty="0">
                <a:latin typeface="Times New Roman"/>
                <a:cs typeface="Times New Roman"/>
              </a:rPr>
              <a:t>	</a:t>
            </a:r>
            <a:r>
              <a:rPr sz="2400" b="1" spc="-10" dirty="0">
                <a:latin typeface="Times New Roman"/>
                <a:cs typeface="Times New Roman"/>
              </a:rPr>
              <a:t>Security System</a:t>
            </a:r>
            <a:endParaRPr sz="2400" dirty="0">
              <a:latin typeface="Times New Roman"/>
              <a:cs typeface="Times New Roman"/>
            </a:endParaRPr>
          </a:p>
        </p:txBody>
      </p:sp>
      <p:sp>
        <p:nvSpPr>
          <p:cNvPr id="4" name="object 4"/>
          <p:cNvSpPr txBox="1"/>
          <p:nvPr/>
        </p:nvSpPr>
        <p:spPr>
          <a:xfrm>
            <a:off x="6188202" y="4628133"/>
            <a:ext cx="4678045" cy="1671955"/>
          </a:xfrm>
          <a:prstGeom prst="rect">
            <a:avLst/>
          </a:prstGeom>
        </p:spPr>
        <p:txBody>
          <a:bodyPr vert="horz" wrap="square" lIns="0" tIns="12700" rIns="0" bIns="0" rtlCol="0">
            <a:spAutoFit/>
          </a:bodyPr>
          <a:lstStyle/>
          <a:p>
            <a:pPr marL="635" algn="ctr">
              <a:lnSpc>
                <a:spcPct val="100000"/>
              </a:lnSpc>
              <a:spcBef>
                <a:spcPts val="100"/>
              </a:spcBef>
            </a:pPr>
            <a:r>
              <a:rPr sz="1800" b="1" spc="-20" dirty="0">
                <a:latin typeface="Times New Roman"/>
                <a:cs typeface="Times New Roman"/>
              </a:rPr>
              <a:t>PREPARED</a:t>
            </a:r>
            <a:r>
              <a:rPr sz="1800" b="1" spc="-35" dirty="0">
                <a:latin typeface="Times New Roman"/>
                <a:cs typeface="Times New Roman"/>
              </a:rPr>
              <a:t> </a:t>
            </a:r>
            <a:r>
              <a:rPr sz="1800" b="1" spc="-25" dirty="0">
                <a:latin typeface="Times New Roman"/>
                <a:cs typeface="Times New Roman"/>
              </a:rPr>
              <a:t>BY:</a:t>
            </a:r>
            <a:endParaRPr sz="1800">
              <a:latin typeface="Times New Roman"/>
              <a:cs typeface="Times New Roman"/>
            </a:endParaRPr>
          </a:p>
          <a:p>
            <a:pPr algn="ctr">
              <a:lnSpc>
                <a:spcPct val="100000"/>
              </a:lnSpc>
            </a:pPr>
            <a:r>
              <a:rPr sz="1800" dirty="0">
                <a:latin typeface="Times New Roman"/>
                <a:cs typeface="Times New Roman"/>
              </a:rPr>
              <a:t>Suganth</a:t>
            </a:r>
            <a:r>
              <a:rPr sz="1800" spc="-5" dirty="0">
                <a:latin typeface="Times New Roman"/>
                <a:cs typeface="Times New Roman"/>
              </a:rPr>
              <a:t> </a:t>
            </a:r>
            <a:r>
              <a:rPr sz="1800" dirty="0">
                <a:latin typeface="Times New Roman"/>
                <a:cs typeface="Times New Roman"/>
              </a:rPr>
              <a:t>S.N</a:t>
            </a:r>
            <a:r>
              <a:rPr sz="1800" spc="-10" dirty="0">
                <a:latin typeface="Times New Roman"/>
                <a:cs typeface="Times New Roman"/>
              </a:rPr>
              <a:t> (6176AC22UEC140)</a:t>
            </a:r>
            <a:endParaRPr sz="1800">
              <a:latin typeface="Times New Roman"/>
              <a:cs typeface="Times New Roman"/>
            </a:endParaRPr>
          </a:p>
          <a:p>
            <a:pPr marL="12700" marR="5080" indent="-1905" algn="ctr">
              <a:lnSpc>
                <a:spcPct val="100000"/>
              </a:lnSpc>
            </a:pPr>
            <a:r>
              <a:rPr sz="1800" spc="-10" dirty="0">
                <a:latin typeface="Times New Roman"/>
                <a:cs typeface="Times New Roman"/>
              </a:rPr>
              <a:t>Thameen</a:t>
            </a:r>
            <a:r>
              <a:rPr sz="1800" spc="-85" dirty="0">
                <a:latin typeface="Times New Roman"/>
                <a:cs typeface="Times New Roman"/>
              </a:rPr>
              <a:t> </a:t>
            </a:r>
            <a:r>
              <a:rPr sz="1800" spc="-10" dirty="0">
                <a:latin typeface="Times New Roman"/>
                <a:cs typeface="Times New Roman"/>
              </a:rPr>
              <a:t>Ansari.</a:t>
            </a:r>
            <a:r>
              <a:rPr sz="1800" spc="-90" dirty="0">
                <a:latin typeface="Times New Roman"/>
                <a:cs typeface="Times New Roman"/>
              </a:rPr>
              <a:t> </a:t>
            </a:r>
            <a:r>
              <a:rPr sz="1800" dirty="0">
                <a:latin typeface="Times New Roman"/>
                <a:cs typeface="Times New Roman"/>
              </a:rPr>
              <a:t>A</a:t>
            </a:r>
            <a:r>
              <a:rPr sz="1800" spc="-80" dirty="0">
                <a:latin typeface="Times New Roman"/>
                <a:cs typeface="Times New Roman"/>
              </a:rPr>
              <a:t> </a:t>
            </a:r>
            <a:r>
              <a:rPr sz="1800" spc="-10" dirty="0">
                <a:latin typeface="Times New Roman"/>
                <a:cs typeface="Times New Roman"/>
              </a:rPr>
              <a:t>(6176AC22UEC150) Vidyadheesha.M.Pandurangi</a:t>
            </a:r>
            <a:r>
              <a:rPr sz="1800" spc="-25" dirty="0">
                <a:latin typeface="Times New Roman"/>
                <a:cs typeface="Times New Roman"/>
              </a:rPr>
              <a:t> </a:t>
            </a:r>
            <a:r>
              <a:rPr sz="1800" spc="-10" dirty="0">
                <a:latin typeface="Times New Roman"/>
                <a:cs typeface="Times New Roman"/>
              </a:rPr>
              <a:t>(6176AC22UEC162) </a:t>
            </a:r>
            <a:r>
              <a:rPr sz="1800" spc="-20" dirty="0">
                <a:latin typeface="Times New Roman"/>
                <a:cs typeface="Times New Roman"/>
              </a:rPr>
              <a:t>Yeshwanth.</a:t>
            </a:r>
            <a:r>
              <a:rPr sz="1800" spc="-15" dirty="0">
                <a:latin typeface="Times New Roman"/>
                <a:cs typeface="Times New Roman"/>
              </a:rPr>
              <a:t> </a:t>
            </a:r>
            <a:r>
              <a:rPr sz="1800" dirty="0">
                <a:latin typeface="Times New Roman"/>
                <a:cs typeface="Times New Roman"/>
              </a:rPr>
              <a:t>R</a:t>
            </a:r>
            <a:r>
              <a:rPr sz="1800" spc="-25" dirty="0">
                <a:latin typeface="Times New Roman"/>
                <a:cs typeface="Times New Roman"/>
              </a:rPr>
              <a:t> </a:t>
            </a:r>
            <a:r>
              <a:rPr sz="1800" spc="-10" dirty="0">
                <a:latin typeface="Times New Roman"/>
                <a:cs typeface="Times New Roman"/>
              </a:rPr>
              <a:t>(6176AC22UEC170)</a:t>
            </a:r>
            <a:endParaRPr sz="1800">
              <a:latin typeface="Times New Roman"/>
              <a:cs typeface="Times New Roman"/>
            </a:endParaRPr>
          </a:p>
          <a:p>
            <a:pPr marL="1216660">
              <a:lnSpc>
                <a:spcPct val="100000"/>
              </a:lnSpc>
            </a:pPr>
            <a:r>
              <a:rPr sz="1800" dirty="0">
                <a:latin typeface="Times New Roman"/>
                <a:cs typeface="Times New Roman"/>
              </a:rPr>
              <a:t>B.E.</a:t>
            </a:r>
            <a:r>
              <a:rPr sz="1800" spc="-40" dirty="0">
                <a:latin typeface="Times New Roman"/>
                <a:cs typeface="Times New Roman"/>
              </a:rPr>
              <a:t> </a:t>
            </a:r>
            <a:r>
              <a:rPr sz="1800" dirty="0">
                <a:latin typeface="Times New Roman"/>
                <a:cs typeface="Times New Roman"/>
              </a:rPr>
              <a:t>ECE</a:t>
            </a:r>
            <a:r>
              <a:rPr sz="1800" spc="-20" dirty="0">
                <a:latin typeface="Times New Roman"/>
                <a:cs typeface="Times New Roman"/>
              </a:rPr>
              <a:t> </a:t>
            </a:r>
            <a:r>
              <a:rPr sz="1800" dirty="0">
                <a:latin typeface="Times New Roman"/>
                <a:cs typeface="Times New Roman"/>
              </a:rPr>
              <a:t>“C”</a:t>
            </a:r>
            <a:r>
              <a:rPr sz="1800" spc="-5" dirty="0">
                <a:latin typeface="Times New Roman"/>
                <a:cs typeface="Times New Roman"/>
              </a:rPr>
              <a:t> </a:t>
            </a:r>
            <a:r>
              <a:rPr sz="1800" dirty="0">
                <a:latin typeface="Times New Roman"/>
                <a:cs typeface="Times New Roman"/>
              </a:rPr>
              <a:t>–</a:t>
            </a:r>
            <a:r>
              <a:rPr sz="1800" spc="-25" dirty="0">
                <a:latin typeface="Times New Roman"/>
                <a:cs typeface="Times New Roman"/>
              </a:rPr>
              <a:t> </a:t>
            </a:r>
            <a:r>
              <a:rPr sz="1800" spc="-10" dirty="0">
                <a:latin typeface="Times New Roman"/>
                <a:cs typeface="Times New Roman"/>
              </a:rPr>
              <a:t>IV</a:t>
            </a:r>
            <a:r>
              <a:rPr sz="1800" spc="-105" dirty="0">
                <a:latin typeface="Times New Roman"/>
                <a:cs typeface="Times New Roman"/>
              </a:rPr>
              <a:t> </a:t>
            </a:r>
            <a:r>
              <a:rPr sz="1800" spc="-20" dirty="0">
                <a:latin typeface="Times New Roman"/>
                <a:cs typeface="Times New Roman"/>
              </a:rPr>
              <a:t>Year</a:t>
            </a:r>
            <a:endParaRPr sz="1800">
              <a:latin typeface="Times New Roman"/>
              <a:cs typeface="Times New Roman"/>
            </a:endParaRPr>
          </a:p>
        </p:txBody>
      </p:sp>
      <p:pic>
        <p:nvPicPr>
          <p:cNvPr id="5" name="object 5"/>
          <p:cNvPicPr/>
          <p:nvPr/>
        </p:nvPicPr>
        <p:blipFill>
          <a:blip r:embed="rId2" cstate="print"/>
          <a:stretch>
            <a:fillRect/>
          </a:stretch>
        </p:blipFill>
        <p:spPr>
          <a:xfrm>
            <a:off x="78658" y="29463"/>
            <a:ext cx="1523998" cy="1490471"/>
          </a:xfrm>
          <a:prstGeom prst="rect">
            <a:avLst/>
          </a:prstGeom>
        </p:spPr>
      </p:pic>
      <p:pic>
        <p:nvPicPr>
          <p:cNvPr id="6" name="object 6"/>
          <p:cNvPicPr/>
          <p:nvPr/>
        </p:nvPicPr>
        <p:blipFill>
          <a:blip r:embed="rId3" cstate="print"/>
          <a:stretch>
            <a:fillRect/>
          </a:stretch>
        </p:blipFill>
        <p:spPr>
          <a:xfrm>
            <a:off x="10338275" y="428077"/>
            <a:ext cx="1471071" cy="641065"/>
          </a:xfrm>
          <a:prstGeom prst="rect">
            <a:avLst/>
          </a:prstGeom>
        </p:spPr>
      </p:pic>
      <p:sp>
        <p:nvSpPr>
          <p:cNvPr id="7" name="object 7"/>
          <p:cNvSpPr txBox="1"/>
          <p:nvPr/>
        </p:nvSpPr>
        <p:spPr>
          <a:xfrm>
            <a:off x="1218082" y="4688585"/>
            <a:ext cx="3385185" cy="1397635"/>
          </a:xfrm>
          <a:prstGeom prst="rect">
            <a:avLst/>
          </a:prstGeom>
        </p:spPr>
        <p:txBody>
          <a:bodyPr vert="horz" wrap="square" lIns="0" tIns="12700" rIns="0" bIns="0" rtlCol="0">
            <a:spAutoFit/>
          </a:bodyPr>
          <a:lstStyle/>
          <a:p>
            <a:pPr marL="1905" algn="ctr">
              <a:lnSpc>
                <a:spcPct val="100000"/>
              </a:lnSpc>
              <a:spcBef>
                <a:spcPts val="100"/>
              </a:spcBef>
            </a:pPr>
            <a:r>
              <a:rPr sz="1800" b="1" dirty="0">
                <a:latin typeface="Times New Roman"/>
                <a:cs typeface="Times New Roman"/>
              </a:rPr>
              <a:t>PROJECT</a:t>
            </a:r>
            <a:r>
              <a:rPr sz="1800" b="1" spc="-35" dirty="0">
                <a:latin typeface="Times New Roman"/>
                <a:cs typeface="Times New Roman"/>
              </a:rPr>
              <a:t> </a:t>
            </a:r>
            <a:r>
              <a:rPr sz="1800" b="1" spc="-10" dirty="0">
                <a:latin typeface="Times New Roman"/>
                <a:cs typeface="Times New Roman"/>
              </a:rPr>
              <a:t>GUIDE:</a:t>
            </a:r>
            <a:endParaRPr sz="1800">
              <a:latin typeface="Times New Roman"/>
              <a:cs typeface="Times New Roman"/>
            </a:endParaRPr>
          </a:p>
          <a:p>
            <a:pPr marL="784860" marR="775970" indent="-1270" algn="ctr">
              <a:lnSpc>
                <a:spcPct val="100000"/>
              </a:lnSpc>
            </a:pPr>
            <a:r>
              <a:rPr sz="1800" spc="-10" dirty="0">
                <a:latin typeface="Times New Roman"/>
                <a:cs typeface="Times New Roman"/>
              </a:rPr>
              <a:t>Dr.</a:t>
            </a:r>
            <a:r>
              <a:rPr sz="1800" spc="-50" dirty="0">
                <a:latin typeface="Times New Roman"/>
                <a:cs typeface="Times New Roman"/>
              </a:rPr>
              <a:t> </a:t>
            </a:r>
            <a:r>
              <a:rPr sz="1800" dirty="0">
                <a:latin typeface="Times New Roman"/>
                <a:cs typeface="Times New Roman"/>
              </a:rPr>
              <a:t>S.</a:t>
            </a:r>
            <a:r>
              <a:rPr sz="1800" spc="-45" dirty="0">
                <a:latin typeface="Times New Roman"/>
                <a:cs typeface="Times New Roman"/>
              </a:rPr>
              <a:t> </a:t>
            </a:r>
            <a:r>
              <a:rPr sz="1800" spc="-10" dirty="0">
                <a:latin typeface="Times New Roman"/>
                <a:cs typeface="Times New Roman"/>
              </a:rPr>
              <a:t>Sumathi </a:t>
            </a:r>
            <a:r>
              <a:rPr sz="1800" dirty="0">
                <a:latin typeface="Times New Roman"/>
                <a:cs typeface="Times New Roman"/>
              </a:rPr>
              <a:t>Professor</a:t>
            </a:r>
            <a:r>
              <a:rPr sz="1800" spc="-45" dirty="0">
                <a:latin typeface="Times New Roman"/>
                <a:cs typeface="Times New Roman"/>
              </a:rPr>
              <a:t> </a:t>
            </a:r>
            <a:r>
              <a:rPr sz="1800" spc="-20" dirty="0">
                <a:latin typeface="Times New Roman"/>
                <a:cs typeface="Times New Roman"/>
              </a:rPr>
              <a:t>/HoD </a:t>
            </a:r>
            <a:r>
              <a:rPr sz="1800" dirty="0">
                <a:latin typeface="Times New Roman"/>
                <a:cs typeface="Times New Roman"/>
              </a:rPr>
              <a:t>Department</a:t>
            </a:r>
            <a:r>
              <a:rPr sz="1800" spc="-55" dirty="0">
                <a:latin typeface="Times New Roman"/>
                <a:cs typeface="Times New Roman"/>
              </a:rPr>
              <a:t> </a:t>
            </a:r>
            <a:r>
              <a:rPr sz="1800" dirty="0">
                <a:latin typeface="Times New Roman"/>
                <a:cs typeface="Times New Roman"/>
              </a:rPr>
              <a:t>of</a:t>
            </a:r>
            <a:r>
              <a:rPr sz="1800" spc="-55" dirty="0">
                <a:latin typeface="Times New Roman"/>
                <a:cs typeface="Times New Roman"/>
              </a:rPr>
              <a:t> </a:t>
            </a:r>
            <a:r>
              <a:rPr sz="1800" spc="-25" dirty="0">
                <a:latin typeface="Times New Roman"/>
                <a:cs typeface="Times New Roman"/>
              </a:rPr>
              <a:t>ECE</a:t>
            </a:r>
            <a:endParaRPr sz="1800">
              <a:latin typeface="Times New Roman"/>
              <a:cs typeface="Times New Roman"/>
            </a:endParaRPr>
          </a:p>
          <a:p>
            <a:pPr algn="ctr">
              <a:lnSpc>
                <a:spcPct val="100000"/>
              </a:lnSpc>
            </a:pPr>
            <a:r>
              <a:rPr sz="1800" dirty="0">
                <a:latin typeface="Times New Roman"/>
                <a:cs typeface="Times New Roman"/>
              </a:rPr>
              <a:t>Adhiyamaan</a:t>
            </a:r>
            <a:r>
              <a:rPr sz="1800" spc="-55" dirty="0">
                <a:latin typeface="Times New Roman"/>
                <a:cs typeface="Times New Roman"/>
              </a:rPr>
              <a:t> </a:t>
            </a:r>
            <a:r>
              <a:rPr sz="1800" dirty="0">
                <a:latin typeface="Times New Roman"/>
                <a:cs typeface="Times New Roman"/>
              </a:rPr>
              <a:t>College</a:t>
            </a:r>
            <a:r>
              <a:rPr sz="1800" spc="-30" dirty="0">
                <a:latin typeface="Times New Roman"/>
                <a:cs typeface="Times New Roman"/>
              </a:rPr>
              <a:t> </a:t>
            </a:r>
            <a:r>
              <a:rPr sz="1800" dirty="0">
                <a:latin typeface="Times New Roman"/>
                <a:cs typeface="Times New Roman"/>
              </a:rPr>
              <a:t>of</a:t>
            </a:r>
            <a:r>
              <a:rPr sz="1800" spc="-15" dirty="0">
                <a:latin typeface="Times New Roman"/>
                <a:cs typeface="Times New Roman"/>
              </a:rPr>
              <a:t> </a:t>
            </a:r>
            <a:r>
              <a:rPr sz="1800" spc="-10" dirty="0">
                <a:latin typeface="Times New Roman"/>
                <a:cs typeface="Times New Roman"/>
              </a:rPr>
              <a:t>Engineering</a:t>
            </a:r>
            <a:endParaRPr sz="180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739" y="-59944"/>
            <a:ext cx="12034520" cy="1095556"/>
          </a:xfrm>
          <a:prstGeom prst="rect">
            <a:avLst/>
          </a:prstGeom>
        </p:spPr>
        <p:txBody>
          <a:bodyPr vert="horz" wrap="square" lIns="0" tIns="414401" rIns="0" bIns="0" rtlCol="0">
            <a:spAutoFit/>
          </a:bodyPr>
          <a:lstStyle/>
          <a:p>
            <a:pPr marL="850265">
              <a:lnSpc>
                <a:spcPct val="100000"/>
              </a:lnSpc>
              <a:spcBef>
                <a:spcPts val="100"/>
              </a:spcBef>
            </a:pPr>
            <a:r>
              <a:rPr spc="-40" dirty="0">
                <a:latin typeface="Times New Roman" panose="02020603050405020304" pitchFamily="18" charset="0"/>
                <a:cs typeface="Times New Roman" panose="02020603050405020304" pitchFamily="18" charset="0"/>
              </a:rPr>
              <a:t>INTRODUCTION</a:t>
            </a:r>
          </a:p>
        </p:txBody>
      </p:sp>
      <p:sp>
        <p:nvSpPr>
          <p:cNvPr id="3" name="object 3"/>
          <p:cNvSpPr txBox="1"/>
          <p:nvPr/>
        </p:nvSpPr>
        <p:spPr>
          <a:xfrm>
            <a:off x="916939" y="1373251"/>
            <a:ext cx="10115550" cy="3634969"/>
          </a:xfrm>
          <a:prstGeom prst="rect">
            <a:avLst/>
          </a:prstGeom>
        </p:spPr>
        <p:txBody>
          <a:bodyPr vert="horz" wrap="square" lIns="0" tIns="53975" rIns="0" bIns="0" rtlCol="0">
            <a:spAutoFit/>
          </a:bodyPr>
          <a:lstStyle/>
          <a:p>
            <a:pPr marL="240029" marR="292100" indent="-227965" algn="just">
              <a:spcBef>
                <a:spcPts val="425"/>
              </a:spcBef>
              <a:buFont typeface="Arial MT"/>
              <a:buChar char="•"/>
              <a:tabLst>
                <a:tab pos="241300" algn="l"/>
              </a:tabLst>
            </a:pPr>
            <a:r>
              <a:rPr sz="2400" dirty="0">
                <a:latin typeface="Times New Roman" panose="02020603050405020304" pitchFamily="18" charset="0"/>
                <a:cs typeface="Times New Roman" panose="02020603050405020304" pitchFamily="18" charset="0"/>
              </a:rPr>
              <a:t>In</a:t>
            </a:r>
            <a:r>
              <a:rPr sz="2400" spc="-6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today’s</a:t>
            </a:r>
            <a:r>
              <a:rPr sz="2400" spc="-6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digital</a:t>
            </a:r>
            <a:r>
              <a:rPr sz="2400" spc="-7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world,</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need</a:t>
            </a:r>
            <a:r>
              <a:rPr sz="2400" spc="-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for</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enhanced</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security</a:t>
            </a:r>
            <a:r>
              <a:rPr sz="2400" spc="-6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systems</a:t>
            </a:r>
            <a:r>
              <a:rPr sz="2400" spc="-6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has</a:t>
            </a:r>
            <a:r>
              <a:rPr sz="2400" spc="-5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become 	</a:t>
            </a:r>
            <a:r>
              <a:rPr sz="2400" dirty="0">
                <a:latin typeface="Times New Roman" panose="02020603050405020304" pitchFamily="18" charset="0"/>
                <a:cs typeface="Times New Roman" panose="02020603050405020304" pitchFamily="18" charset="0"/>
              </a:rPr>
              <a:t>essential</a:t>
            </a:r>
            <a:r>
              <a:rPr sz="2400" spc="-8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to</a:t>
            </a:r>
            <a:r>
              <a:rPr sz="2400" spc="-10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protect</a:t>
            </a:r>
            <a:r>
              <a:rPr sz="2400" spc="-9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valuable</a:t>
            </a:r>
            <a:r>
              <a:rPr sz="2400" spc="-8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assets.</a:t>
            </a:r>
            <a:r>
              <a:rPr sz="2400" spc="-10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Traditional</a:t>
            </a:r>
            <a:r>
              <a:rPr sz="2400" spc="-8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lock-</a:t>
            </a:r>
            <a:r>
              <a:rPr sz="2400" dirty="0">
                <a:latin typeface="Times New Roman" panose="02020603050405020304" pitchFamily="18" charset="0"/>
                <a:cs typeface="Times New Roman" panose="02020603050405020304" pitchFamily="18" charset="0"/>
              </a:rPr>
              <a:t>based</a:t>
            </a:r>
            <a:r>
              <a:rPr sz="2400" spc="-8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vaults</a:t>
            </a:r>
            <a:r>
              <a:rPr sz="2400" spc="-9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are</a:t>
            </a:r>
            <a:r>
              <a:rPr sz="2400" spc="-8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prone</a:t>
            </a:r>
            <a:r>
              <a:rPr sz="2400" spc="-80"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to 	</a:t>
            </a:r>
            <a:r>
              <a:rPr sz="2400" dirty="0">
                <a:latin typeface="Times New Roman" panose="02020603050405020304" pitchFamily="18" charset="0"/>
                <a:cs typeface="Times New Roman" panose="02020603050405020304" pitchFamily="18" charset="0"/>
              </a:rPr>
              <a:t>theft,</a:t>
            </a:r>
            <a:r>
              <a:rPr sz="2400" spc="-8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duplication,</a:t>
            </a:r>
            <a:r>
              <a:rPr sz="2400" spc="-8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and</a:t>
            </a:r>
            <a:r>
              <a:rPr sz="2400" spc="-8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unauthorized</a:t>
            </a:r>
            <a:r>
              <a:rPr sz="2400" spc="-8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access.</a:t>
            </a:r>
            <a:endParaRPr sz="2400" dirty="0">
              <a:latin typeface="Times New Roman" panose="02020603050405020304" pitchFamily="18" charset="0"/>
              <a:cs typeface="Times New Roman" panose="02020603050405020304" pitchFamily="18" charset="0"/>
            </a:endParaRPr>
          </a:p>
          <a:p>
            <a:pPr marL="241300" marR="179070" indent="-229235" algn="just">
              <a:spcBef>
                <a:spcPts val="975"/>
              </a:spcBef>
              <a:buFont typeface="Arial MT"/>
              <a:buChar char="•"/>
              <a:tabLst>
                <a:tab pos="241300" algn="l"/>
                <a:tab pos="307975" algn="l"/>
              </a:tabLst>
            </a:pPr>
            <a:r>
              <a:rPr sz="2400" dirty="0">
                <a:latin typeface="Times New Roman" panose="02020603050405020304" pitchFamily="18" charset="0"/>
                <a:cs typeface="Times New Roman" panose="02020603050405020304" pitchFamily="18" charset="0"/>
              </a:rPr>
              <a:t>	</a:t>
            </a:r>
            <a:r>
              <a:rPr sz="2400" spc="-110" dirty="0">
                <a:latin typeface="Times New Roman" panose="02020603050405020304" pitchFamily="18" charset="0"/>
                <a:cs typeface="Times New Roman" panose="02020603050405020304" pitchFamily="18" charset="0"/>
              </a:rPr>
              <a:t>To</a:t>
            </a:r>
            <a:r>
              <a:rPr sz="2400" spc="-2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overcome</a:t>
            </a:r>
            <a:r>
              <a:rPr sz="2400" spc="-7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these</a:t>
            </a:r>
            <a:r>
              <a:rPr sz="2400" spc="-4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limitations,</a:t>
            </a:r>
            <a:r>
              <a:rPr sz="2400" spc="-7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this</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project</a:t>
            </a:r>
            <a:r>
              <a:rPr sz="2400" spc="-6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proposes</a:t>
            </a:r>
            <a:r>
              <a:rPr sz="2400" spc="-4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an</a:t>
            </a:r>
            <a:r>
              <a:rPr sz="2400" spc="-50"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IoT-</a:t>
            </a:r>
            <a:r>
              <a:rPr sz="2400" dirty="0">
                <a:latin typeface="Times New Roman" panose="02020603050405020304" pitchFamily="18" charset="0"/>
                <a:cs typeface="Times New Roman" panose="02020603050405020304" pitchFamily="18" charset="0"/>
              </a:rPr>
              <a:t>based</a:t>
            </a:r>
            <a:r>
              <a:rPr sz="2400" spc="-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Smart</a:t>
            </a:r>
            <a:r>
              <a:rPr sz="2400" spc="-7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Vault </a:t>
            </a:r>
            <a:r>
              <a:rPr sz="2400" dirty="0">
                <a:latin typeface="Times New Roman" panose="02020603050405020304" pitchFamily="18" charset="0"/>
                <a:cs typeface="Times New Roman" panose="02020603050405020304" pitchFamily="18" charset="0"/>
              </a:rPr>
              <a:t>Security</a:t>
            </a:r>
            <a:r>
              <a:rPr sz="2400" spc="-6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System</a:t>
            </a:r>
            <a:r>
              <a:rPr sz="2400" spc="-6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that</a:t>
            </a:r>
            <a:r>
              <a:rPr sz="2400" spc="-4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combines</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Biometric</a:t>
            </a:r>
            <a:r>
              <a:rPr sz="2400" spc="-6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Authentication</a:t>
            </a:r>
            <a:r>
              <a:rPr sz="2400" spc="-5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(Fingerprint)</a:t>
            </a:r>
            <a:r>
              <a:rPr sz="2400" spc="-6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and</a:t>
            </a:r>
            <a:r>
              <a:rPr sz="2400" spc="-35"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OTP </a:t>
            </a:r>
            <a:r>
              <a:rPr sz="2400" spc="-20" dirty="0">
                <a:latin typeface="Times New Roman" panose="02020603050405020304" pitchFamily="18" charset="0"/>
                <a:cs typeface="Times New Roman" panose="02020603050405020304" pitchFamily="18" charset="0"/>
              </a:rPr>
              <a:t>Verification</a:t>
            </a:r>
            <a:r>
              <a:rPr sz="2400" spc="-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for</a:t>
            </a:r>
            <a:r>
              <a:rPr sz="2400" spc="-50"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dual-</a:t>
            </a:r>
            <a:r>
              <a:rPr sz="2400" dirty="0">
                <a:latin typeface="Times New Roman" panose="02020603050405020304" pitchFamily="18" charset="0"/>
                <a:cs typeface="Times New Roman" panose="02020603050405020304" pitchFamily="18" charset="0"/>
              </a:rPr>
              <a:t>layer</a:t>
            </a:r>
            <a:r>
              <a:rPr sz="2400" spc="-5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protection.</a:t>
            </a:r>
            <a:endParaRPr sz="2400" dirty="0">
              <a:latin typeface="Times New Roman" panose="02020603050405020304" pitchFamily="18" charset="0"/>
              <a:cs typeface="Times New Roman" panose="02020603050405020304" pitchFamily="18" charset="0"/>
            </a:endParaRPr>
          </a:p>
          <a:p>
            <a:pPr marL="240029" marR="5080" indent="-227965" algn="just">
              <a:spcBef>
                <a:spcPts val="994"/>
              </a:spcBef>
              <a:buFont typeface="Arial MT"/>
              <a:buChar char="•"/>
              <a:tabLst>
                <a:tab pos="241300" algn="l"/>
              </a:tabLst>
            </a:pPr>
            <a:r>
              <a:rPr sz="2400" dirty="0">
                <a:latin typeface="Times New Roman" panose="02020603050405020304" pitchFamily="18" charset="0"/>
                <a:cs typeface="Times New Roman" panose="02020603050405020304" pitchFamily="18" charset="0"/>
              </a:rPr>
              <a:t>The</a:t>
            </a:r>
            <a:r>
              <a:rPr sz="2400" spc="-5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system</a:t>
            </a:r>
            <a:r>
              <a:rPr sz="2400" spc="-6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ensures</a:t>
            </a:r>
            <a:r>
              <a:rPr sz="2400" spc="-6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that</a:t>
            </a:r>
            <a:r>
              <a:rPr sz="2400" spc="-6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only</a:t>
            </a:r>
            <a:r>
              <a:rPr sz="2400" spc="-7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authorized</a:t>
            </a:r>
            <a:r>
              <a:rPr sz="2400" spc="-6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users</a:t>
            </a:r>
            <a:r>
              <a:rPr sz="2400" spc="-7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can</a:t>
            </a:r>
            <a:r>
              <a:rPr sz="2400" spc="-6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access</a:t>
            </a:r>
            <a:r>
              <a:rPr sz="2400" spc="-7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6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vault,</a:t>
            </a:r>
            <a:r>
              <a:rPr sz="2400" spc="-6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while</a:t>
            </a:r>
            <a:r>
              <a:rPr sz="2400" spc="-5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real- 	</a:t>
            </a:r>
            <a:r>
              <a:rPr sz="2400" dirty="0">
                <a:latin typeface="Times New Roman" panose="02020603050405020304" pitchFamily="18" charset="0"/>
                <a:cs typeface="Times New Roman" panose="02020603050405020304" pitchFamily="18" charset="0"/>
              </a:rPr>
              <a:t>time</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IoT</a:t>
            </a:r>
            <a:r>
              <a:rPr sz="2400" spc="-4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connectivity</a:t>
            </a:r>
            <a:r>
              <a:rPr sz="2400" spc="-6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allows</a:t>
            </a:r>
            <a:r>
              <a:rPr sz="2400" spc="-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monitoring</a:t>
            </a:r>
            <a:r>
              <a:rPr sz="2400" spc="-6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and</a:t>
            </a:r>
            <a:r>
              <a:rPr sz="2400" spc="-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alert</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notifications</a:t>
            </a:r>
            <a:r>
              <a:rPr sz="2400" spc="-4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through</a:t>
            </a:r>
            <a:r>
              <a:rPr sz="2400" spc="-5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a:t>
            </a:r>
            <a:r>
              <a:rPr sz="2400" spc="-3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mobile 	</a:t>
            </a:r>
            <a:r>
              <a:rPr sz="2400" dirty="0">
                <a:latin typeface="Times New Roman" panose="02020603050405020304" pitchFamily="18" charset="0"/>
                <a:cs typeface="Times New Roman" panose="02020603050405020304" pitchFamily="18" charset="0"/>
              </a:rPr>
              <a:t>app</a:t>
            </a:r>
            <a:r>
              <a:rPr sz="2400" spc="-4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or</a:t>
            </a:r>
            <a:r>
              <a:rPr sz="2400" spc="-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web</a:t>
            </a:r>
            <a:r>
              <a:rPr sz="2400" spc="-4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interface.</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739" y="-59944"/>
            <a:ext cx="12034520" cy="1057981"/>
          </a:xfrm>
          <a:prstGeom prst="rect">
            <a:avLst/>
          </a:prstGeom>
        </p:spPr>
        <p:txBody>
          <a:bodyPr vert="horz" wrap="square" lIns="0" tIns="377189" rIns="0" bIns="0" rtlCol="0">
            <a:spAutoFit/>
          </a:bodyPr>
          <a:lstStyle/>
          <a:p>
            <a:pPr marL="850265">
              <a:lnSpc>
                <a:spcPct val="100000"/>
              </a:lnSpc>
              <a:spcBef>
                <a:spcPts val="100"/>
              </a:spcBef>
            </a:pPr>
            <a:r>
              <a:rPr spc="-30" dirty="0">
                <a:latin typeface="Times New Roman" panose="02020603050405020304" pitchFamily="18" charset="0"/>
                <a:cs typeface="Times New Roman" panose="02020603050405020304" pitchFamily="18" charset="0"/>
              </a:rPr>
              <a:t>PROBLEM</a:t>
            </a:r>
            <a:r>
              <a:rPr spc="-210" dirty="0">
                <a:latin typeface="Times New Roman" panose="02020603050405020304" pitchFamily="18" charset="0"/>
                <a:cs typeface="Times New Roman" panose="02020603050405020304" pitchFamily="18" charset="0"/>
              </a:rPr>
              <a:t> </a:t>
            </a:r>
            <a:r>
              <a:rPr spc="-105" dirty="0">
                <a:latin typeface="Times New Roman" panose="02020603050405020304" pitchFamily="18" charset="0"/>
                <a:cs typeface="Times New Roman" panose="02020603050405020304" pitchFamily="18" charset="0"/>
              </a:rPr>
              <a:t>STATEMENT</a:t>
            </a:r>
          </a:p>
        </p:txBody>
      </p:sp>
      <p:sp>
        <p:nvSpPr>
          <p:cNvPr id="3" name="object 3"/>
          <p:cNvSpPr txBox="1"/>
          <p:nvPr/>
        </p:nvSpPr>
        <p:spPr>
          <a:xfrm>
            <a:off x="914400" y="1286382"/>
            <a:ext cx="10439399" cy="4437240"/>
          </a:xfrm>
          <a:prstGeom prst="rect">
            <a:avLst/>
          </a:prstGeom>
        </p:spPr>
        <p:txBody>
          <a:bodyPr vert="horz" wrap="square" lIns="0" tIns="53975" rIns="0" bIns="0" rtlCol="0">
            <a:spAutoFit/>
          </a:bodyPr>
          <a:lstStyle/>
          <a:p>
            <a:pPr marL="239395" marR="391160" indent="-227329" algn="just">
              <a:lnSpc>
                <a:spcPts val="2590"/>
              </a:lnSpc>
              <a:spcBef>
                <a:spcPts val="425"/>
              </a:spcBef>
              <a:buFont typeface="Arial MT"/>
              <a:buChar char="•"/>
              <a:tabLst>
                <a:tab pos="241300" algn="l"/>
              </a:tabLst>
            </a:pPr>
            <a:r>
              <a:rPr sz="2400" dirty="0">
                <a:latin typeface="Times New Roman" panose="02020603050405020304" pitchFamily="18" charset="0"/>
                <a:cs typeface="Times New Roman" panose="02020603050405020304" pitchFamily="18" charset="0"/>
              </a:rPr>
              <a:t>Traditional vault security systems that rely on mechanical locks, PINs, or key- 	based mechanisms are increasingly vulnerable to unauthorized access, 	duplication, hacking, and theft.</a:t>
            </a:r>
          </a:p>
          <a:p>
            <a:pPr marL="241300" marR="144145" indent="-229235" algn="just">
              <a:lnSpc>
                <a:spcPts val="2590"/>
              </a:lnSpc>
              <a:spcBef>
                <a:spcPts val="1015"/>
              </a:spcBef>
              <a:buChar char="•"/>
              <a:tabLst>
                <a:tab pos="241300" algn="l"/>
                <a:tab pos="309245" algn="l"/>
              </a:tabLst>
            </a:pPr>
            <a:r>
              <a:rPr sz="2400" dirty="0">
                <a:latin typeface="Times New Roman" panose="02020603050405020304" pitchFamily="18" charset="0"/>
                <a:cs typeface="Times New Roman" panose="02020603050405020304" pitchFamily="18" charset="0"/>
              </a:rPr>
              <a:t>	These conventional systems lack remote monitoring, user verification layers, and real-time alert mechanisms, making them ineffective in today’s digital and high-risk environments.</a:t>
            </a:r>
          </a:p>
          <a:p>
            <a:pPr marL="239395" marR="5080" indent="-227329" algn="just">
              <a:lnSpc>
                <a:spcPct val="90100"/>
              </a:lnSpc>
              <a:spcBef>
                <a:spcPts val="960"/>
              </a:spcBef>
              <a:buFont typeface="Arial MT"/>
              <a:buChar char="•"/>
              <a:tabLst>
                <a:tab pos="241300" algn="l"/>
              </a:tabLst>
            </a:pPr>
            <a:r>
              <a:rPr sz="2400" dirty="0">
                <a:latin typeface="Times New Roman" panose="02020603050405020304" pitchFamily="18" charset="0"/>
                <a:cs typeface="Times New Roman" panose="02020603050405020304" pitchFamily="18" charset="0"/>
              </a:rPr>
              <a:t>To address these limitations, there is a need for an intelligent, IoT-enabled 	security system that integrates biometric authentication and OTP verification to 	ensure multi-level protection.</a:t>
            </a:r>
          </a:p>
          <a:p>
            <a:pPr marL="241300" marR="140335" indent="-229235" algn="just">
              <a:lnSpc>
                <a:spcPts val="2590"/>
              </a:lnSpc>
              <a:spcBef>
                <a:spcPts val="1040"/>
              </a:spcBef>
              <a:buChar char="•"/>
              <a:tabLst>
                <a:tab pos="241300" algn="l"/>
                <a:tab pos="309245" algn="l"/>
              </a:tabLst>
            </a:pPr>
            <a:r>
              <a:rPr sz="2400" dirty="0">
                <a:latin typeface="Times New Roman" panose="02020603050405020304" pitchFamily="18" charset="0"/>
                <a:cs typeface="Times New Roman" panose="02020603050405020304" pitchFamily="18" charset="0"/>
              </a:rPr>
              <a:t>	Such a system should also be capable of remote status monitoring and instant notifications in case of unauthorized attempts, thereby providing a secure, reliable, and smart vault solution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293040"/>
            <a:ext cx="3241675" cy="635000"/>
          </a:xfrm>
          <a:prstGeom prst="rect">
            <a:avLst/>
          </a:prstGeom>
        </p:spPr>
        <p:txBody>
          <a:bodyPr vert="horz" wrap="square" lIns="0" tIns="12065" rIns="0" bIns="0" rtlCol="0">
            <a:spAutoFit/>
          </a:bodyPr>
          <a:lstStyle/>
          <a:p>
            <a:pPr marL="12700">
              <a:lnSpc>
                <a:spcPct val="100000"/>
              </a:lnSpc>
              <a:spcBef>
                <a:spcPts val="95"/>
              </a:spcBef>
            </a:pPr>
            <a:r>
              <a:rPr sz="4000" b="1" spc="-10" dirty="0">
                <a:latin typeface="Times New Roman"/>
                <a:cs typeface="Times New Roman"/>
              </a:rPr>
              <a:t>OBJECTIVES</a:t>
            </a:r>
            <a:endParaRPr sz="4000" dirty="0">
              <a:latin typeface="Times New Roman"/>
              <a:cs typeface="Times New Roman"/>
            </a:endParaRPr>
          </a:p>
        </p:txBody>
      </p:sp>
      <p:sp>
        <p:nvSpPr>
          <p:cNvPr id="3" name="object 3"/>
          <p:cNvSpPr txBox="1"/>
          <p:nvPr/>
        </p:nvSpPr>
        <p:spPr>
          <a:xfrm>
            <a:off x="916939" y="1130630"/>
            <a:ext cx="10737215" cy="5451492"/>
          </a:xfrm>
          <a:prstGeom prst="rect">
            <a:avLst/>
          </a:prstGeom>
        </p:spPr>
        <p:txBody>
          <a:bodyPr vert="horz" wrap="square" lIns="0" tIns="54610" rIns="0" bIns="0" rtlCol="0">
            <a:spAutoFit/>
          </a:bodyPr>
          <a:lstStyle/>
          <a:p>
            <a:pPr marL="12066" marR="5080" algn="just">
              <a:lnSpc>
                <a:spcPts val="2590"/>
              </a:lnSpc>
              <a:spcBef>
                <a:spcPts val="430"/>
              </a:spcBef>
              <a:tabLst>
                <a:tab pos="241300" algn="l"/>
              </a:tabLst>
            </a:pPr>
            <a:r>
              <a:rPr lang="en-US" sz="240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 main objective of this project is to design and implement a highly secure, IoT- enabled  smart  vault  system  that  combines  biometric  authentication  and  OTP verification to ensure authorized access and real-time monitoring.</a:t>
            </a:r>
          </a:p>
          <a:p>
            <a:pPr marL="12700" algn="just">
              <a:lnSpc>
                <a:spcPct val="100000"/>
              </a:lnSpc>
              <a:spcBef>
                <a:spcPts val="685"/>
              </a:spcBef>
              <a:tabLst>
                <a:tab pos="240665" algn="l"/>
              </a:tabLst>
            </a:pPr>
            <a:r>
              <a:rPr sz="2400" dirty="0">
                <a:latin typeface="Times New Roman" panose="02020603050405020304" pitchFamily="18" charset="0"/>
                <a:cs typeface="Times New Roman" panose="02020603050405020304" pitchFamily="18" charset="0"/>
              </a:rPr>
              <a:t>The specific objectives are:</a:t>
            </a:r>
          </a:p>
          <a:p>
            <a:pPr marL="240029" lvl="2" indent="-227329" algn="just">
              <a:lnSpc>
                <a:spcPts val="2735"/>
              </a:lnSpc>
              <a:spcBef>
                <a:spcPts val="710"/>
              </a:spcBef>
              <a:buFont typeface="Arial MT"/>
              <a:buChar char="•"/>
              <a:tabLst>
                <a:tab pos="240029" algn="l"/>
              </a:tabLst>
            </a:pPr>
            <a:r>
              <a:rPr sz="2400" dirty="0">
                <a:latin typeface="Times New Roman" panose="02020603050405020304" pitchFamily="18" charset="0"/>
                <a:cs typeface="Times New Roman" panose="02020603050405020304" pitchFamily="18" charset="0"/>
              </a:rPr>
              <a:t>To develop a dual-layer authentication system using biometric (fingerprint) and OTP</a:t>
            </a:r>
            <a:endParaRPr lang="en-IN" sz="2400" dirty="0">
              <a:latin typeface="Times New Roman" panose="02020603050405020304" pitchFamily="18" charset="0"/>
              <a:cs typeface="Times New Roman" panose="02020603050405020304" pitchFamily="18" charset="0"/>
            </a:endParaRPr>
          </a:p>
          <a:p>
            <a:pPr marL="241300" lvl="2" algn="just">
              <a:lnSpc>
                <a:spcPts val="2735"/>
              </a:lnSpc>
            </a:pPr>
            <a:r>
              <a:rPr lang="en-IN" sz="2400" dirty="0">
                <a:latin typeface="Times New Roman" panose="02020603050405020304" pitchFamily="18" charset="0"/>
                <a:cs typeface="Times New Roman" panose="02020603050405020304" pitchFamily="18" charset="0"/>
              </a:rPr>
              <a:t>verification for enhanced security.</a:t>
            </a:r>
          </a:p>
          <a:p>
            <a:pPr marL="241300" marR="9525" lvl="2" indent="-229235" algn="just">
              <a:lnSpc>
                <a:spcPts val="2590"/>
              </a:lnSpc>
              <a:spcBef>
                <a:spcPts val="1035"/>
              </a:spcBef>
              <a:buFont typeface="Arial MT"/>
              <a:buChar char="•"/>
              <a:tabLst>
                <a:tab pos="241300" algn="l"/>
                <a:tab pos="307975" algn="l"/>
              </a:tabLst>
            </a:pPr>
            <a:r>
              <a:rPr sz="2400" dirty="0">
                <a:latin typeface="Times New Roman" panose="02020603050405020304" pitchFamily="18" charset="0"/>
                <a:cs typeface="Times New Roman" panose="02020603050405020304" pitchFamily="18" charset="0"/>
              </a:rPr>
              <a:t>	To integrate IoT technology for real-time monitoring, data logging, and remote alerts through GSM or Wi-Fi modules.</a:t>
            </a:r>
          </a:p>
          <a:p>
            <a:pPr marL="308610" lvl="2" indent="-295910" algn="just">
              <a:lnSpc>
                <a:spcPts val="2735"/>
              </a:lnSpc>
              <a:spcBef>
                <a:spcPts val="685"/>
              </a:spcBef>
              <a:buFont typeface="Arial MT"/>
              <a:buChar char="•"/>
              <a:tabLst>
                <a:tab pos="308610" algn="l"/>
              </a:tabLst>
            </a:pPr>
            <a:r>
              <a:rPr sz="2400" dirty="0">
                <a:latin typeface="Times New Roman" panose="02020603050405020304" pitchFamily="18" charset="0"/>
                <a:cs typeface="Times New Roman" panose="02020603050405020304" pitchFamily="18" charset="0"/>
              </a:rPr>
              <a:t>To automate vault operation using a microcontroller-controlled servo motor for</a:t>
            </a:r>
          </a:p>
          <a:p>
            <a:pPr marL="241300" lvl="2" algn="just">
              <a:lnSpc>
                <a:spcPts val="2735"/>
              </a:lnSpc>
            </a:pPr>
            <a:r>
              <a:rPr sz="2400" dirty="0">
                <a:latin typeface="Times New Roman" panose="02020603050405020304" pitchFamily="18" charset="0"/>
                <a:cs typeface="Times New Roman" panose="02020603050405020304" pitchFamily="18" charset="0"/>
              </a:rPr>
              <a:t>locking and unlocking mechanisms.</a:t>
            </a:r>
          </a:p>
          <a:p>
            <a:pPr marL="241300" marR="5715" lvl="2" indent="-229235" algn="just">
              <a:lnSpc>
                <a:spcPts val="2590"/>
              </a:lnSpc>
              <a:spcBef>
                <a:spcPts val="1035"/>
              </a:spcBef>
              <a:buFont typeface="Arial MT"/>
              <a:buChar char="•"/>
              <a:tabLst>
                <a:tab pos="241300" algn="l"/>
                <a:tab pos="307975" algn="l"/>
              </a:tabLst>
            </a:pPr>
            <a:r>
              <a:rPr sz="2400" dirty="0">
                <a:latin typeface="Times New Roman" panose="02020603050405020304" pitchFamily="18" charset="0"/>
                <a:cs typeface="Times New Roman" panose="02020603050405020304" pitchFamily="18" charset="0"/>
              </a:rPr>
              <a:t>	To provide instant alerts via SMS or IoT notifications in case of unauthorized access attempts.</a:t>
            </a:r>
          </a:p>
          <a:p>
            <a:pPr marL="308610" lvl="2" indent="-295910" algn="just">
              <a:lnSpc>
                <a:spcPts val="2735"/>
              </a:lnSpc>
              <a:spcBef>
                <a:spcPts val="675"/>
              </a:spcBef>
              <a:buFont typeface="Arial MT"/>
              <a:buChar char="•"/>
              <a:tabLst>
                <a:tab pos="308610" algn="l"/>
              </a:tabLst>
            </a:pPr>
            <a:r>
              <a:rPr sz="2400" dirty="0">
                <a:latin typeface="Times New Roman" panose="02020603050405020304" pitchFamily="18" charset="0"/>
                <a:cs typeface="Times New Roman" panose="02020603050405020304" pitchFamily="18" charset="0"/>
              </a:rPr>
              <a:t>To ensure low power consumption and cost-effectiveness while maintaining high</a:t>
            </a:r>
          </a:p>
          <a:p>
            <a:pPr marL="241300" lvl="2" algn="just">
              <a:lnSpc>
                <a:spcPts val="2735"/>
              </a:lnSpc>
            </a:pPr>
            <a:r>
              <a:rPr lang="en-US" sz="240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reliability and safety.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6659" y="216484"/>
            <a:ext cx="6968541" cy="690574"/>
          </a:xfrm>
          <a:prstGeom prst="rect">
            <a:avLst/>
          </a:prstGeom>
        </p:spPr>
        <p:txBody>
          <a:bodyPr vert="horz" wrap="square" lIns="0" tIns="13335" rIns="0" bIns="0" rtlCol="0">
            <a:spAutoFit/>
          </a:bodyPr>
          <a:lstStyle/>
          <a:p>
            <a:pPr marL="12700">
              <a:lnSpc>
                <a:spcPct val="100000"/>
              </a:lnSpc>
              <a:spcBef>
                <a:spcPts val="105"/>
              </a:spcBef>
            </a:pPr>
            <a:r>
              <a:rPr spc="-65" dirty="0">
                <a:latin typeface="Times New Roman" panose="02020603050405020304" pitchFamily="18" charset="0"/>
                <a:cs typeface="Times New Roman" panose="02020603050405020304" pitchFamily="18" charset="0"/>
              </a:rPr>
              <a:t>LITERATURE</a:t>
            </a:r>
            <a:r>
              <a:rPr spc="-160"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REVIEW</a:t>
            </a:r>
          </a:p>
        </p:txBody>
      </p:sp>
      <p:graphicFrame>
        <p:nvGraphicFramePr>
          <p:cNvPr id="3" name="object 3"/>
          <p:cNvGraphicFramePr>
            <a:graphicFrameLocks noGrp="1"/>
          </p:cNvGraphicFramePr>
          <p:nvPr/>
        </p:nvGraphicFramePr>
        <p:xfrm>
          <a:off x="261099" y="947419"/>
          <a:ext cx="11656059" cy="5656580"/>
        </p:xfrm>
        <a:graphic>
          <a:graphicData uri="http://schemas.openxmlformats.org/drawingml/2006/table">
            <a:tbl>
              <a:tblPr firstRow="1" bandRow="1">
                <a:tableStyleId>{2D5ABB26-0587-4C30-8999-92F81FD0307C}</a:tableStyleId>
              </a:tblPr>
              <a:tblGrid>
                <a:gridCol w="2914015">
                  <a:extLst>
                    <a:ext uri="{9D8B030D-6E8A-4147-A177-3AD203B41FA5}">
                      <a16:colId xmlns:a16="http://schemas.microsoft.com/office/drawing/2014/main" val="20000"/>
                    </a:ext>
                  </a:extLst>
                </a:gridCol>
                <a:gridCol w="2914015">
                  <a:extLst>
                    <a:ext uri="{9D8B030D-6E8A-4147-A177-3AD203B41FA5}">
                      <a16:colId xmlns:a16="http://schemas.microsoft.com/office/drawing/2014/main" val="20001"/>
                    </a:ext>
                  </a:extLst>
                </a:gridCol>
                <a:gridCol w="2914014">
                  <a:extLst>
                    <a:ext uri="{9D8B030D-6E8A-4147-A177-3AD203B41FA5}">
                      <a16:colId xmlns:a16="http://schemas.microsoft.com/office/drawing/2014/main" val="20002"/>
                    </a:ext>
                  </a:extLst>
                </a:gridCol>
                <a:gridCol w="2914015">
                  <a:extLst>
                    <a:ext uri="{9D8B030D-6E8A-4147-A177-3AD203B41FA5}">
                      <a16:colId xmlns:a16="http://schemas.microsoft.com/office/drawing/2014/main" val="20003"/>
                    </a:ext>
                  </a:extLst>
                </a:gridCol>
              </a:tblGrid>
              <a:tr h="747395">
                <a:tc>
                  <a:txBody>
                    <a:bodyPr/>
                    <a:lstStyle/>
                    <a:p>
                      <a:pPr marL="742315">
                        <a:lnSpc>
                          <a:spcPct val="100000"/>
                        </a:lnSpc>
                        <a:spcBef>
                          <a:spcPts val="1085"/>
                        </a:spcBef>
                      </a:pPr>
                      <a:r>
                        <a:rPr sz="1800" b="1" dirty="0">
                          <a:latin typeface="Calibri"/>
                          <a:cs typeface="Calibri"/>
                        </a:rPr>
                        <a:t>Authors</a:t>
                      </a:r>
                      <a:r>
                        <a:rPr sz="1800" b="1" spc="-55" dirty="0">
                          <a:latin typeface="Calibri"/>
                          <a:cs typeface="Calibri"/>
                        </a:rPr>
                        <a:t> </a:t>
                      </a:r>
                      <a:r>
                        <a:rPr sz="1800" b="1" dirty="0">
                          <a:latin typeface="Calibri"/>
                          <a:cs typeface="Calibri"/>
                        </a:rPr>
                        <a:t>&amp;</a:t>
                      </a:r>
                      <a:r>
                        <a:rPr sz="1800" b="1" spc="-10" dirty="0">
                          <a:latin typeface="Calibri"/>
                          <a:cs typeface="Calibri"/>
                        </a:rPr>
                        <a:t> </a:t>
                      </a:r>
                      <a:r>
                        <a:rPr sz="1800" b="1" spc="-20" dirty="0">
                          <a:latin typeface="Calibri"/>
                          <a:cs typeface="Calibri"/>
                        </a:rPr>
                        <a:t>Year</a:t>
                      </a:r>
                      <a:endParaRPr sz="1800">
                        <a:latin typeface="Calibri"/>
                        <a:cs typeface="Calibri"/>
                      </a:endParaRPr>
                    </a:p>
                  </a:txBody>
                  <a:tcPr marL="0" marR="0" marT="13779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D9D9D9"/>
                    </a:solidFill>
                  </a:tcPr>
                </a:tc>
                <a:tc>
                  <a:txBody>
                    <a:bodyPr/>
                    <a:lstStyle/>
                    <a:p>
                      <a:pPr marL="659130">
                        <a:lnSpc>
                          <a:spcPct val="100000"/>
                        </a:lnSpc>
                        <a:spcBef>
                          <a:spcPts val="1085"/>
                        </a:spcBef>
                      </a:pPr>
                      <a:r>
                        <a:rPr sz="1800" b="1" spc="-10" dirty="0">
                          <a:latin typeface="Calibri"/>
                          <a:cs typeface="Calibri"/>
                        </a:rPr>
                        <a:t>Technology</a:t>
                      </a:r>
                      <a:r>
                        <a:rPr sz="1800" b="1" spc="-90" dirty="0">
                          <a:latin typeface="Calibri"/>
                          <a:cs typeface="Calibri"/>
                        </a:rPr>
                        <a:t> </a:t>
                      </a:r>
                      <a:r>
                        <a:rPr sz="1800" b="1" spc="-20" dirty="0">
                          <a:latin typeface="Calibri"/>
                          <a:cs typeface="Calibri"/>
                        </a:rPr>
                        <a:t>Used</a:t>
                      </a:r>
                      <a:endParaRPr sz="1800">
                        <a:latin typeface="Calibri"/>
                        <a:cs typeface="Calibri"/>
                      </a:endParaRPr>
                    </a:p>
                  </a:txBody>
                  <a:tcPr marL="0" marR="0" marT="13779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D9D9D9"/>
                    </a:solidFill>
                  </a:tcPr>
                </a:tc>
                <a:tc>
                  <a:txBody>
                    <a:bodyPr/>
                    <a:lstStyle/>
                    <a:p>
                      <a:pPr marL="852805">
                        <a:lnSpc>
                          <a:spcPct val="100000"/>
                        </a:lnSpc>
                        <a:spcBef>
                          <a:spcPts val="1085"/>
                        </a:spcBef>
                      </a:pPr>
                      <a:r>
                        <a:rPr sz="1800" b="1" dirty="0">
                          <a:latin typeface="Calibri"/>
                          <a:cs typeface="Calibri"/>
                        </a:rPr>
                        <a:t>Key</a:t>
                      </a:r>
                      <a:r>
                        <a:rPr sz="1800" b="1" spc="-75" dirty="0">
                          <a:latin typeface="Calibri"/>
                          <a:cs typeface="Calibri"/>
                        </a:rPr>
                        <a:t> </a:t>
                      </a:r>
                      <a:r>
                        <a:rPr sz="1800" b="1" spc="-10" dirty="0">
                          <a:latin typeface="Calibri"/>
                          <a:cs typeface="Calibri"/>
                        </a:rPr>
                        <a:t>Features</a:t>
                      </a:r>
                      <a:endParaRPr sz="1800">
                        <a:latin typeface="Calibri"/>
                        <a:cs typeface="Calibri"/>
                      </a:endParaRPr>
                    </a:p>
                  </a:txBody>
                  <a:tcPr marL="0" marR="0" marT="13779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D9D9D9"/>
                    </a:solidFill>
                  </a:tcPr>
                </a:tc>
                <a:tc>
                  <a:txBody>
                    <a:bodyPr/>
                    <a:lstStyle/>
                    <a:p>
                      <a:pPr marL="929640">
                        <a:lnSpc>
                          <a:spcPct val="100000"/>
                        </a:lnSpc>
                        <a:spcBef>
                          <a:spcPts val="1085"/>
                        </a:spcBef>
                      </a:pPr>
                      <a:r>
                        <a:rPr sz="1800" b="1" spc="-10" dirty="0">
                          <a:latin typeface="Calibri"/>
                          <a:cs typeface="Calibri"/>
                        </a:rPr>
                        <a:t>Limitations</a:t>
                      </a:r>
                      <a:endParaRPr sz="1800">
                        <a:latin typeface="Calibri"/>
                        <a:cs typeface="Calibri"/>
                      </a:endParaRPr>
                    </a:p>
                  </a:txBody>
                  <a:tcPr marL="0" marR="0" marT="13779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D9D9D9"/>
                    </a:solidFill>
                  </a:tcPr>
                </a:tc>
                <a:extLst>
                  <a:ext uri="{0D108BD9-81ED-4DB2-BD59-A6C34878D82A}">
                    <a16:rowId xmlns:a16="http://schemas.microsoft.com/office/drawing/2014/main" val="10000"/>
                  </a:ext>
                </a:extLst>
              </a:tr>
              <a:tr h="1198880">
                <a:tc>
                  <a:txBody>
                    <a:bodyPr/>
                    <a:lstStyle/>
                    <a:p>
                      <a:pPr>
                        <a:lnSpc>
                          <a:spcPct val="100000"/>
                        </a:lnSpc>
                        <a:spcBef>
                          <a:spcPts val="1455"/>
                        </a:spcBef>
                      </a:pPr>
                      <a:endParaRPr sz="1800">
                        <a:latin typeface="Times New Roman"/>
                        <a:cs typeface="Times New Roman"/>
                      </a:endParaRPr>
                    </a:p>
                    <a:p>
                      <a:pPr marL="91440">
                        <a:lnSpc>
                          <a:spcPct val="100000"/>
                        </a:lnSpc>
                      </a:pPr>
                      <a:r>
                        <a:rPr sz="1800" dirty="0">
                          <a:latin typeface="Calibri"/>
                          <a:cs typeface="Calibri"/>
                        </a:rPr>
                        <a:t>S.</a:t>
                      </a:r>
                      <a:r>
                        <a:rPr sz="1800" spc="-30" dirty="0">
                          <a:latin typeface="Calibri"/>
                          <a:cs typeface="Calibri"/>
                        </a:rPr>
                        <a:t> </a:t>
                      </a:r>
                      <a:r>
                        <a:rPr sz="1800" dirty="0">
                          <a:latin typeface="Calibri"/>
                          <a:cs typeface="Calibri"/>
                        </a:rPr>
                        <a:t>Ramesh</a:t>
                      </a:r>
                      <a:r>
                        <a:rPr sz="1800" spc="-35" dirty="0">
                          <a:latin typeface="Calibri"/>
                          <a:cs typeface="Calibri"/>
                        </a:rPr>
                        <a:t> </a:t>
                      </a:r>
                      <a:r>
                        <a:rPr sz="1800" dirty="0">
                          <a:latin typeface="Calibri"/>
                          <a:cs typeface="Calibri"/>
                        </a:rPr>
                        <a:t>et</a:t>
                      </a:r>
                      <a:r>
                        <a:rPr sz="1800" spc="-15" dirty="0">
                          <a:latin typeface="Calibri"/>
                          <a:cs typeface="Calibri"/>
                        </a:rPr>
                        <a:t> </a:t>
                      </a:r>
                      <a:r>
                        <a:rPr sz="1800" dirty="0">
                          <a:latin typeface="Calibri"/>
                          <a:cs typeface="Calibri"/>
                        </a:rPr>
                        <a:t>al.</a:t>
                      </a:r>
                      <a:r>
                        <a:rPr sz="1800" spc="-30" dirty="0">
                          <a:latin typeface="Calibri"/>
                          <a:cs typeface="Calibri"/>
                        </a:rPr>
                        <a:t> </a:t>
                      </a:r>
                      <a:r>
                        <a:rPr sz="1800" spc="-10" dirty="0">
                          <a:latin typeface="Calibri"/>
                          <a:cs typeface="Calibri"/>
                        </a:rPr>
                        <a:t>(2019)</a:t>
                      </a:r>
                      <a:endParaRPr sz="1800">
                        <a:latin typeface="Calibri"/>
                        <a:cs typeface="Calibri"/>
                      </a:endParaRPr>
                    </a:p>
                  </a:txBody>
                  <a:tcPr marL="0" marR="0" marT="18478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1F1F1"/>
                    </a:solidFill>
                  </a:tcPr>
                </a:tc>
                <a:tc>
                  <a:txBody>
                    <a:bodyPr/>
                    <a:lstStyle/>
                    <a:p>
                      <a:pPr>
                        <a:lnSpc>
                          <a:spcPct val="100000"/>
                        </a:lnSpc>
                        <a:spcBef>
                          <a:spcPts val="375"/>
                        </a:spcBef>
                      </a:pPr>
                      <a:endParaRPr sz="1800">
                        <a:latin typeface="Times New Roman"/>
                        <a:cs typeface="Times New Roman"/>
                      </a:endParaRPr>
                    </a:p>
                    <a:p>
                      <a:pPr marL="91440" marR="673100">
                        <a:lnSpc>
                          <a:spcPct val="100000"/>
                        </a:lnSpc>
                      </a:pPr>
                      <a:r>
                        <a:rPr sz="1800" spc="-10" dirty="0">
                          <a:latin typeface="Calibri"/>
                          <a:cs typeface="Calibri"/>
                        </a:rPr>
                        <a:t>Fingerprint-</a:t>
                      </a:r>
                      <a:r>
                        <a:rPr sz="1800" dirty="0">
                          <a:latin typeface="Calibri"/>
                          <a:cs typeface="Calibri"/>
                        </a:rPr>
                        <a:t>based</a:t>
                      </a:r>
                      <a:r>
                        <a:rPr sz="1800" spc="-50" dirty="0">
                          <a:latin typeface="Calibri"/>
                          <a:cs typeface="Calibri"/>
                        </a:rPr>
                        <a:t> </a:t>
                      </a:r>
                      <a:r>
                        <a:rPr sz="1800" spc="-20" dirty="0">
                          <a:latin typeface="Calibri"/>
                          <a:cs typeface="Calibri"/>
                        </a:rPr>
                        <a:t>door </a:t>
                      </a:r>
                      <a:r>
                        <a:rPr sz="1800" dirty="0">
                          <a:latin typeface="Calibri"/>
                          <a:cs typeface="Calibri"/>
                        </a:rPr>
                        <a:t>locking</a:t>
                      </a:r>
                      <a:r>
                        <a:rPr sz="1800" spc="-40" dirty="0">
                          <a:latin typeface="Calibri"/>
                          <a:cs typeface="Calibri"/>
                        </a:rPr>
                        <a:t> </a:t>
                      </a:r>
                      <a:r>
                        <a:rPr sz="1800" spc="-10" dirty="0">
                          <a:latin typeface="Calibri"/>
                          <a:cs typeface="Calibri"/>
                        </a:rPr>
                        <a:t>system</a:t>
                      </a:r>
                      <a:endParaRPr sz="1800">
                        <a:latin typeface="Calibri"/>
                        <a:cs typeface="Calibri"/>
                      </a:endParaRPr>
                    </a:p>
                  </a:txBody>
                  <a:tcPr marL="0" marR="0" marT="4762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1F1F1"/>
                    </a:solidFill>
                  </a:tcPr>
                </a:tc>
                <a:tc>
                  <a:txBody>
                    <a:bodyPr/>
                    <a:lstStyle/>
                    <a:p>
                      <a:pPr>
                        <a:lnSpc>
                          <a:spcPct val="100000"/>
                        </a:lnSpc>
                        <a:spcBef>
                          <a:spcPts val="375"/>
                        </a:spcBef>
                      </a:pPr>
                      <a:endParaRPr sz="1800">
                        <a:latin typeface="Times New Roman"/>
                        <a:cs typeface="Times New Roman"/>
                      </a:endParaRPr>
                    </a:p>
                    <a:p>
                      <a:pPr marL="92075" marR="564515">
                        <a:lnSpc>
                          <a:spcPct val="100000"/>
                        </a:lnSpc>
                      </a:pPr>
                      <a:r>
                        <a:rPr sz="1800" dirty="0">
                          <a:latin typeface="Calibri"/>
                          <a:cs typeface="Calibri"/>
                        </a:rPr>
                        <a:t>Arduino</a:t>
                      </a:r>
                      <a:r>
                        <a:rPr sz="1800" spc="-60" dirty="0">
                          <a:latin typeface="Calibri"/>
                          <a:cs typeface="Calibri"/>
                        </a:rPr>
                        <a:t> </a:t>
                      </a:r>
                      <a:r>
                        <a:rPr sz="1800" dirty="0">
                          <a:latin typeface="Calibri"/>
                          <a:cs typeface="Calibri"/>
                        </a:rPr>
                        <a:t>with</a:t>
                      </a:r>
                      <a:r>
                        <a:rPr sz="1800" spc="-55" dirty="0">
                          <a:latin typeface="Calibri"/>
                          <a:cs typeface="Calibri"/>
                        </a:rPr>
                        <a:t> </a:t>
                      </a:r>
                      <a:r>
                        <a:rPr sz="1800" spc="-10" dirty="0">
                          <a:latin typeface="Calibri"/>
                          <a:cs typeface="Calibri"/>
                        </a:rPr>
                        <a:t>fingerprint </a:t>
                      </a:r>
                      <a:r>
                        <a:rPr sz="1800" dirty="0">
                          <a:latin typeface="Calibri"/>
                          <a:cs typeface="Calibri"/>
                        </a:rPr>
                        <a:t>sensor</a:t>
                      </a:r>
                      <a:r>
                        <a:rPr sz="1800" spc="-50" dirty="0">
                          <a:latin typeface="Calibri"/>
                          <a:cs typeface="Calibri"/>
                        </a:rPr>
                        <a:t> </a:t>
                      </a:r>
                      <a:r>
                        <a:rPr sz="1800" spc="-10" dirty="0">
                          <a:latin typeface="Calibri"/>
                          <a:cs typeface="Calibri"/>
                        </a:rPr>
                        <a:t>(R307)</a:t>
                      </a:r>
                      <a:endParaRPr sz="1800">
                        <a:latin typeface="Calibri"/>
                        <a:cs typeface="Calibri"/>
                      </a:endParaRPr>
                    </a:p>
                  </a:txBody>
                  <a:tcPr marL="0" marR="0" marT="4762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1F1F1"/>
                    </a:solidFill>
                  </a:tcPr>
                </a:tc>
                <a:tc>
                  <a:txBody>
                    <a:bodyPr/>
                    <a:lstStyle/>
                    <a:p>
                      <a:pPr marL="92075" marR="244475">
                        <a:lnSpc>
                          <a:spcPct val="100000"/>
                        </a:lnSpc>
                        <a:spcBef>
                          <a:spcPts val="285"/>
                        </a:spcBef>
                      </a:pPr>
                      <a:r>
                        <a:rPr sz="1800" spc="-10" dirty="0">
                          <a:latin typeface="Calibri"/>
                          <a:cs typeface="Calibri"/>
                        </a:rPr>
                        <a:t>Improved</a:t>
                      </a:r>
                      <a:r>
                        <a:rPr sz="1800" spc="-80" dirty="0">
                          <a:latin typeface="Calibri"/>
                          <a:cs typeface="Calibri"/>
                        </a:rPr>
                        <a:t> </a:t>
                      </a:r>
                      <a:r>
                        <a:rPr sz="1800" dirty="0">
                          <a:latin typeface="Calibri"/>
                          <a:cs typeface="Calibri"/>
                        </a:rPr>
                        <a:t>personal</a:t>
                      </a:r>
                      <a:r>
                        <a:rPr sz="1800" spc="-65" dirty="0">
                          <a:latin typeface="Calibri"/>
                          <a:cs typeface="Calibri"/>
                        </a:rPr>
                        <a:t> </a:t>
                      </a:r>
                      <a:r>
                        <a:rPr sz="1800" spc="-10" dirty="0">
                          <a:latin typeface="Calibri"/>
                          <a:cs typeface="Calibri"/>
                        </a:rPr>
                        <a:t>security, </a:t>
                      </a:r>
                      <a:r>
                        <a:rPr sz="1800" dirty="0">
                          <a:latin typeface="Calibri"/>
                          <a:cs typeface="Calibri"/>
                        </a:rPr>
                        <a:t>but</a:t>
                      </a:r>
                      <a:r>
                        <a:rPr sz="1800" spc="-60" dirty="0">
                          <a:latin typeface="Calibri"/>
                          <a:cs typeface="Calibri"/>
                        </a:rPr>
                        <a:t> </a:t>
                      </a:r>
                      <a:r>
                        <a:rPr sz="1800" dirty="0">
                          <a:latin typeface="Calibri"/>
                          <a:cs typeface="Calibri"/>
                        </a:rPr>
                        <a:t>lacked</a:t>
                      </a:r>
                      <a:r>
                        <a:rPr sz="1800" spc="-45" dirty="0">
                          <a:latin typeface="Calibri"/>
                          <a:cs typeface="Calibri"/>
                        </a:rPr>
                        <a:t> </a:t>
                      </a:r>
                      <a:r>
                        <a:rPr sz="1800" spc="-10" dirty="0">
                          <a:latin typeface="Calibri"/>
                          <a:cs typeface="Calibri"/>
                        </a:rPr>
                        <a:t>remote </a:t>
                      </a:r>
                      <a:r>
                        <a:rPr sz="1800" dirty="0">
                          <a:latin typeface="Calibri"/>
                          <a:cs typeface="Calibri"/>
                        </a:rPr>
                        <a:t>monitoring</a:t>
                      </a:r>
                      <a:r>
                        <a:rPr sz="1800" spc="-50" dirty="0">
                          <a:latin typeface="Calibri"/>
                          <a:cs typeface="Calibri"/>
                        </a:rPr>
                        <a:t> </a:t>
                      </a:r>
                      <a:r>
                        <a:rPr sz="1800" dirty="0">
                          <a:latin typeface="Calibri"/>
                          <a:cs typeface="Calibri"/>
                        </a:rPr>
                        <a:t>and</a:t>
                      </a:r>
                      <a:r>
                        <a:rPr sz="1800" spc="-50" dirty="0">
                          <a:latin typeface="Calibri"/>
                          <a:cs typeface="Calibri"/>
                        </a:rPr>
                        <a:t> </a:t>
                      </a:r>
                      <a:r>
                        <a:rPr sz="1800" spc="-25" dirty="0">
                          <a:latin typeface="Calibri"/>
                          <a:cs typeface="Calibri"/>
                        </a:rPr>
                        <a:t>IoT </a:t>
                      </a:r>
                      <a:r>
                        <a:rPr sz="1800" spc="-10" dirty="0">
                          <a:latin typeface="Calibri"/>
                          <a:cs typeface="Calibri"/>
                        </a:rPr>
                        <a:t>connectivity</a:t>
                      </a:r>
                      <a:endParaRPr sz="1800">
                        <a:latin typeface="Calibri"/>
                        <a:cs typeface="Calibri"/>
                      </a:endParaRPr>
                    </a:p>
                  </a:txBody>
                  <a:tcPr marL="0" marR="0" marT="3619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1F1F1"/>
                    </a:solidFill>
                  </a:tcPr>
                </a:tc>
                <a:extLst>
                  <a:ext uri="{0D108BD9-81ED-4DB2-BD59-A6C34878D82A}">
                    <a16:rowId xmlns:a16="http://schemas.microsoft.com/office/drawing/2014/main" val="10001"/>
                  </a:ext>
                </a:extLst>
              </a:tr>
              <a:tr h="1255395">
                <a:tc>
                  <a:txBody>
                    <a:bodyPr/>
                    <a:lstStyle/>
                    <a:p>
                      <a:pPr>
                        <a:lnSpc>
                          <a:spcPct val="100000"/>
                        </a:lnSpc>
                        <a:spcBef>
                          <a:spcPts val="1675"/>
                        </a:spcBef>
                      </a:pPr>
                      <a:endParaRPr sz="1800">
                        <a:latin typeface="Times New Roman"/>
                        <a:cs typeface="Times New Roman"/>
                      </a:endParaRPr>
                    </a:p>
                    <a:p>
                      <a:pPr marL="91440">
                        <a:lnSpc>
                          <a:spcPct val="100000"/>
                        </a:lnSpc>
                        <a:spcBef>
                          <a:spcPts val="5"/>
                        </a:spcBef>
                      </a:pPr>
                      <a:r>
                        <a:rPr sz="1800" dirty="0">
                          <a:latin typeface="Calibri"/>
                          <a:cs typeface="Calibri"/>
                        </a:rPr>
                        <a:t>A.</a:t>
                      </a:r>
                      <a:r>
                        <a:rPr sz="1800" spc="-35" dirty="0">
                          <a:latin typeface="Calibri"/>
                          <a:cs typeface="Calibri"/>
                        </a:rPr>
                        <a:t> </a:t>
                      </a:r>
                      <a:r>
                        <a:rPr sz="1800" dirty="0">
                          <a:latin typeface="Calibri"/>
                          <a:cs typeface="Calibri"/>
                        </a:rPr>
                        <a:t>Kumar</a:t>
                      </a:r>
                      <a:r>
                        <a:rPr sz="1800" spc="-10" dirty="0">
                          <a:latin typeface="Calibri"/>
                          <a:cs typeface="Calibri"/>
                        </a:rPr>
                        <a:t> </a:t>
                      </a:r>
                      <a:r>
                        <a:rPr sz="1800" dirty="0">
                          <a:latin typeface="Calibri"/>
                          <a:cs typeface="Calibri"/>
                        </a:rPr>
                        <a:t>&amp;</a:t>
                      </a:r>
                      <a:r>
                        <a:rPr sz="1800" spc="-10" dirty="0">
                          <a:latin typeface="Calibri"/>
                          <a:cs typeface="Calibri"/>
                        </a:rPr>
                        <a:t> </a:t>
                      </a:r>
                      <a:r>
                        <a:rPr sz="1800" spc="-125" dirty="0">
                          <a:latin typeface="Calibri"/>
                          <a:cs typeface="Calibri"/>
                        </a:rPr>
                        <a:t>P.</a:t>
                      </a:r>
                      <a:r>
                        <a:rPr sz="1800" spc="-5" dirty="0">
                          <a:latin typeface="Calibri"/>
                          <a:cs typeface="Calibri"/>
                        </a:rPr>
                        <a:t> </a:t>
                      </a:r>
                      <a:r>
                        <a:rPr sz="1800" dirty="0">
                          <a:latin typeface="Calibri"/>
                          <a:cs typeface="Calibri"/>
                        </a:rPr>
                        <a:t>Sharma</a:t>
                      </a:r>
                      <a:r>
                        <a:rPr sz="1800" spc="-15" dirty="0">
                          <a:latin typeface="Calibri"/>
                          <a:cs typeface="Calibri"/>
                        </a:rPr>
                        <a:t> </a:t>
                      </a:r>
                      <a:r>
                        <a:rPr sz="1800" spc="-10" dirty="0">
                          <a:latin typeface="Calibri"/>
                          <a:cs typeface="Calibri"/>
                        </a:rPr>
                        <a:t>(2020)</a:t>
                      </a:r>
                      <a:endParaRPr sz="1800">
                        <a:latin typeface="Calibri"/>
                        <a:cs typeface="Calibri"/>
                      </a:endParaRPr>
                    </a:p>
                  </a:txBody>
                  <a:tcPr marL="0" marR="0" marT="2127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1F1F1"/>
                    </a:solidFill>
                  </a:tcPr>
                </a:tc>
                <a:tc>
                  <a:txBody>
                    <a:bodyPr/>
                    <a:lstStyle/>
                    <a:p>
                      <a:pPr marL="91440" marR="608330">
                        <a:lnSpc>
                          <a:spcPct val="100000"/>
                        </a:lnSpc>
                        <a:spcBef>
                          <a:spcPts val="1590"/>
                        </a:spcBef>
                      </a:pPr>
                      <a:r>
                        <a:rPr sz="1800" dirty="0">
                          <a:latin typeface="Calibri"/>
                          <a:cs typeface="Calibri"/>
                        </a:rPr>
                        <a:t>Biometric</a:t>
                      </a:r>
                      <a:r>
                        <a:rPr sz="1800" spc="-90" dirty="0">
                          <a:latin typeface="Calibri"/>
                          <a:cs typeface="Calibri"/>
                        </a:rPr>
                        <a:t> </a:t>
                      </a:r>
                      <a:r>
                        <a:rPr sz="1800" dirty="0">
                          <a:latin typeface="Calibri"/>
                          <a:cs typeface="Calibri"/>
                        </a:rPr>
                        <a:t>locker</a:t>
                      </a:r>
                      <a:r>
                        <a:rPr sz="1800" spc="-80" dirty="0">
                          <a:latin typeface="Calibri"/>
                          <a:cs typeface="Calibri"/>
                        </a:rPr>
                        <a:t> </a:t>
                      </a:r>
                      <a:r>
                        <a:rPr sz="1800" spc="-10" dirty="0">
                          <a:latin typeface="Calibri"/>
                          <a:cs typeface="Calibri"/>
                        </a:rPr>
                        <a:t>system </a:t>
                      </a:r>
                      <a:r>
                        <a:rPr sz="1800" dirty="0">
                          <a:latin typeface="Calibri"/>
                          <a:cs typeface="Calibri"/>
                        </a:rPr>
                        <a:t>using</a:t>
                      </a:r>
                      <a:r>
                        <a:rPr sz="1800" spc="-35" dirty="0">
                          <a:latin typeface="Calibri"/>
                          <a:cs typeface="Calibri"/>
                        </a:rPr>
                        <a:t> </a:t>
                      </a:r>
                      <a:r>
                        <a:rPr sz="1800" spc="-10" dirty="0">
                          <a:latin typeface="Calibri"/>
                          <a:cs typeface="Calibri"/>
                        </a:rPr>
                        <a:t>fingerprint authentication</a:t>
                      </a:r>
                      <a:endParaRPr sz="1800">
                        <a:latin typeface="Calibri"/>
                        <a:cs typeface="Calibri"/>
                      </a:endParaRPr>
                    </a:p>
                  </a:txBody>
                  <a:tcPr marL="0" marR="0" marT="2019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1F1F1"/>
                    </a:solidFill>
                  </a:tcPr>
                </a:tc>
                <a:tc>
                  <a:txBody>
                    <a:bodyPr/>
                    <a:lstStyle/>
                    <a:p>
                      <a:pPr marL="92075" marR="87630">
                        <a:lnSpc>
                          <a:spcPct val="100000"/>
                        </a:lnSpc>
                        <a:spcBef>
                          <a:spcPts val="1590"/>
                        </a:spcBef>
                      </a:pPr>
                      <a:r>
                        <a:rPr sz="1800" spc="-20" dirty="0">
                          <a:latin typeface="Calibri"/>
                          <a:cs typeface="Calibri"/>
                        </a:rPr>
                        <a:t>Microcontroller-</a:t>
                      </a:r>
                      <a:r>
                        <a:rPr sz="1800" dirty="0">
                          <a:latin typeface="Calibri"/>
                          <a:cs typeface="Calibri"/>
                        </a:rPr>
                        <a:t>based</a:t>
                      </a:r>
                      <a:r>
                        <a:rPr sz="1800" spc="80" dirty="0">
                          <a:latin typeface="Calibri"/>
                          <a:cs typeface="Calibri"/>
                        </a:rPr>
                        <a:t> </a:t>
                      </a:r>
                      <a:r>
                        <a:rPr sz="1800" spc="-10" dirty="0">
                          <a:latin typeface="Calibri"/>
                          <a:cs typeface="Calibri"/>
                        </a:rPr>
                        <a:t>design </a:t>
                      </a:r>
                      <a:r>
                        <a:rPr sz="1800" dirty="0">
                          <a:latin typeface="Calibri"/>
                          <a:cs typeface="Calibri"/>
                        </a:rPr>
                        <a:t>with</a:t>
                      </a:r>
                      <a:r>
                        <a:rPr sz="1800" spc="-40" dirty="0">
                          <a:latin typeface="Calibri"/>
                          <a:cs typeface="Calibri"/>
                        </a:rPr>
                        <a:t> </a:t>
                      </a:r>
                      <a:r>
                        <a:rPr sz="1800" dirty="0">
                          <a:latin typeface="Calibri"/>
                          <a:cs typeface="Calibri"/>
                        </a:rPr>
                        <a:t>LCD</a:t>
                      </a:r>
                      <a:r>
                        <a:rPr sz="1800" spc="-30" dirty="0">
                          <a:latin typeface="Calibri"/>
                          <a:cs typeface="Calibri"/>
                        </a:rPr>
                        <a:t> </a:t>
                      </a:r>
                      <a:r>
                        <a:rPr sz="1800" dirty="0">
                          <a:latin typeface="Calibri"/>
                          <a:cs typeface="Calibri"/>
                        </a:rPr>
                        <a:t>and</a:t>
                      </a:r>
                      <a:r>
                        <a:rPr sz="1800" spc="-30" dirty="0">
                          <a:latin typeface="Calibri"/>
                          <a:cs typeface="Calibri"/>
                        </a:rPr>
                        <a:t> </a:t>
                      </a:r>
                      <a:r>
                        <a:rPr sz="1800" spc="-10" dirty="0">
                          <a:latin typeface="Calibri"/>
                          <a:cs typeface="Calibri"/>
                        </a:rPr>
                        <a:t>fingerprint sensor</a:t>
                      </a:r>
                      <a:endParaRPr sz="1800" dirty="0">
                        <a:latin typeface="Calibri"/>
                        <a:cs typeface="Calibri"/>
                      </a:endParaRPr>
                    </a:p>
                  </a:txBody>
                  <a:tcPr marL="0" marR="0" marT="2019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1F1F1"/>
                    </a:solidFill>
                  </a:tcPr>
                </a:tc>
                <a:tc>
                  <a:txBody>
                    <a:bodyPr/>
                    <a:lstStyle/>
                    <a:p>
                      <a:pPr marL="92075" marR="329565">
                        <a:lnSpc>
                          <a:spcPct val="100000"/>
                        </a:lnSpc>
                        <a:spcBef>
                          <a:spcPts val="1590"/>
                        </a:spcBef>
                      </a:pPr>
                      <a:r>
                        <a:rPr sz="1800" spc="-10" dirty="0">
                          <a:latin typeface="Calibri"/>
                          <a:cs typeface="Calibri"/>
                        </a:rPr>
                        <a:t>Accurate</a:t>
                      </a:r>
                      <a:r>
                        <a:rPr sz="1800" spc="-35" dirty="0">
                          <a:latin typeface="Calibri"/>
                          <a:cs typeface="Calibri"/>
                        </a:rPr>
                        <a:t> </a:t>
                      </a:r>
                      <a:r>
                        <a:rPr sz="1800" spc="-10" dirty="0">
                          <a:latin typeface="Calibri"/>
                          <a:cs typeface="Calibri"/>
                        </a:rPr>
                        <a:t>biometric </a:t>
                      </a:r>
                      <a:r>
                        <a:rPr sz="1800" dirty="0">
                          <a:latin typeface="Calibri"/>
                          <a:cs typeface="Calibri"/>
                        </a:rPr>
                        <a:t>detection;</a:t>
                      </a:r>
                      <a:r>
                        <a:rPr sz="1800" spc="-20" dirty="0">
                          <a:latin typeface="Calibri"/>
                          <a:cs typeface="Calibri"/>
                        </a:rPr>
                        <a:t> </a:t>
                      </a:r>
                      <a:r>
                        <a:rPr sz="1800" dirty="0">
                          <a:latin typeface="Calibri"/>
                          <a:cs typeface="Calibri"/>
                        </a:rPr>
                        <a:t>no</a:t>
                      </a:r>
                      <a:r>
                        <a:rPr sz="1800" spc="-35" dirty="0">
                          <a:latin typeface="Calibri"/>
                          <a:cs typeface="Calibri"/>
                        </a:rPr>
                        <a:t> </a:t>
                      </a:r>
                      <a:r>
                        <a:rPr sz="1800" dirty="0">
                          <a:latin typeface="Calibri"/>
                          <a:cs typeface="Calibri"/>
                        </a:rPr>
                        <a:t>OTP</a:t>
                      </a:r>
                      <a:r>
                        <a:rPr sz="1800" spc="-60" dirty="0">
                          <a:latin typeface="Calibri"/>
                          <a:cs typeface="Calibri"/>
                        </a:rPr>
                        <a:t> </a:t>
                      </a:r>
                      <a:r>
                        <a:rPr sz="1800" dirty="0">
                          <a:latin typeface="Calibri"/>
                          <a:cs typeface="Calibri"/>
                        </a:rPr>
                        <a:t>or</a:t>
                      </a:r>
                      <a:r>
                        <a:rPr sz="1800" spc="-40" dirty="0">
                          <a:latin typeface="Calibri"/>
                          <a:cs typeface="Calibri"/>
                        </a:rPr>
                        <a:t> </a:t>
                      </a:r>
                      <a:r>
                        <a:rPr sz="1800" spc="-20" dirty="0">
                          <a:latin typeface="Calibri"/>
                          <a:cs typeface="Calibri"/>
                        </a:rPr>
                        <a:t>cloud </a:t>
                      </a:r>
                      <a:r>
                        <a:rPr sz="1800" spc="-10" dirty="0">
                          <a:latin typeface="Calibri"/>
                          <a:cs typeface="Calibri"/>
                        </a:rPr>
                        <a:t>integration</a:t>
                      </a:r>
                      <a:endParaRPr sz="1800">
                        <a:latin typeface="Calibri"/>
                        <a:cs typeface="Calibri"/>
                      </a:endParaRPr>
                    </a:p>
                  </a:txBody>
                  <a:tcPr marL="0" marR="0" marT="2019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1F1F1"/>
                    </a:solidFill>
                  </a:tcPr>
                </a:tc>
                <a:extLst>
                  <a:ext uri="{0D108BD9-81ED-4DB2-BD59-A6C34878D82A}">
                    <a16:rowId xmlns:a16="http://schemas.microsoft.com/office/drawing/2014/main" val="10002"/>
                  </a:ext>
                </a:extLst>
              </a:tr>
              <a:tr h="1199515">
                <a:tc>
                  <a:txBody>
                    <a:bodyPr/>
                    <a:lstStyle/>
                    <a:p>
                      <a:pPr>
                        <a:lnSpc>
                          <a:spcPct val="100000"/>
                        </a:lnSpc>
                        <a:spcBef>
                          <a:spcPts val="1460"/>
                        </a:spcBef>
                      </a:pPr>
                      <a:endParaRPr sz="1800">
                        <a:latin typeface="Times New Roman"/>
                        <a:cs typeface="Times New Roman"/>
                      </a:endParaRPr>
                    </a:p>
                    <a:p>
                      <a:pPr marL="91440">
                        <a:lnSpc>
                          <a:spcPct val="100000"/>
                        </a:lnSpc>
                      </a:pPr>
                      <a:r>
                        <a:rPr sz="1800" dirty="0">
                          <a:latin typeface="Calibri"/>
                          <a:cs typeface="Calibri"/>
                        </a:rPr>
                        <a:t>R.</a:t>
                      </a:r>
                      <a:r>
                        <a:rPr sz="1800" spc="-25" dirty="0">
                          <a:latin typeface="Calibri"/>
                          <a:cs typeface="Calibri"/>
                        </a:rPr>
                        <a:t> </a:t>
                      </a:r>
                      <a:r>
                        <a:rPr sz="1800" spc="-10" dirty="0">
                          <a:latin typeface="Calibri"/>
                          <a:cs typeface="Calibri"/>
                        </a:rPr>
                        <a:t>Patel</a:t>
                      </a:r>
                      <a:r>
                        <a:rPr sz="1800" spc="-25" dirty="0">
                          <a:latin typeface="Calibri"/>
                          <a:cs typeface="Calibri"/>
                        </a:rPr>
                        <a:t> </a:t>
                      </a:r>
                      <a:r>
                        <a:rPr sz="1800" dirty="0">
                          <a:latin typeface="Calibri"/>
                          <a:cs typeface="Calibri"/>
                        </a:rPr>
                        <a:t>et</a:t>
                      </a:r>
                      <a:r>
                        <a:rPr sz="1800" spc="-15" dirty="0">
                          <a:latin typeface="Calibri"/>
                          <a:cs typeface="Calibri"/>
                        </a:rPr>
                        <a:t> </a:t>
                      </a:r>
                      <a:r>
                        <a:rPr sz="1800" dirty="0">
                          <a:latin typeface="Calibri"/>
                          <a:cs typeface="Calibri"/>
                        </a:rPr>
                        <a:t>al.</a:t>
                      </a:r>
                      <a:r>
                        <a:rPr sz="1800" spc="-25" dirty="0">
                          <a:latin typeface="Calibri"/>
                          <a:cs typeface="Calibri"/>
                        </a:rPr>
                        <a:t> </a:t>
                      </a:r>
                      <a:r>
                        <a:rPr sz="1800" spc="-10" dirty="0">
                          <a:latin typeface="Calibri"/>
                          <a:cs typeface="Calibri"/>
                        </a:rPr>
                        <a:t>(2022)</a:t>
                      </a:r>
                      <a:endParaRPr sz="1800">
                        <a:latin typeface="Calibri"/>
                        <a:cs typeface="Calibri"/>
                      </a:endParaRPr>
                    </a:p>
                  </a:txBody>
                  <a:tcPr marL="0" marR="0" marT="1854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1F1F1"/>
                    </a:solidFill>
                  </a:tcPr>
                </a:tc>
                <a:tc>
                  <a:txBody>
                    <a:bodyPr/>
                    <a:lstStyle/>
                    <a:p>
                      <a:pPr>
                        <a:lnSpc>
                          <a:spcPct val="100000"/>
                        </a:lnSpc>
                        <a:spcBef>
                          <a:spcPts val="380"/>
                        </a:spcBef>
                      </a:pPr>
                      <a:endParaRPr sz="1800">
                        <a:latin typeface="Times New Roman"/>
                        <a:cs typeface="Times New Roman"/>
                      </a:endParaRPr>
                    </a:p>
                    <a:p>
                      <a:pPr marL="91440" marR="551815">
                        <a:lnSpc>
                          <a:spcPct val="100000"/>
                        </a:lnSpc>
                      </a:pPr>
                      <a:r>
                        <a:rPr sz="1800" dirty="0">
                          <a:latin typeface="Calibri"/>
                          <a:cs typeface="Calibri"/>
                        </a:rPr>
                        <a:t>OTP</a:t>
                      </a:r>
                      <a:r>
                        <a:rPr sz="1800" spc="-45" dirty="0">
                          <a:latin typeface="Calibri"/>
                          <a:cs typeface="Calibri"/>
                        </a:rPr>
                        <a:t> </a:t>
                      </a:r>
                      <a:r>
                        <a:rPr sz="1800" dirty="0">
                          <a:latin typeface="Calibri"/>
                          <a:cs typeface="Calibri"/>
                        </a:rPr>
                        <a:t>and</a:t>
                      </a:r>
                      <a:r>
                        <a:rPr sz="1800" spc="-25" dirty="0">
                          <a:latin typeface="Calibri"/>
                          <a:cs typeface="Calibri"/>
                        </a:rPr>
                        <a:t> </a:t>
                      </a:r>
                      <a:r>
                        <a:rPr sz="1800" dirty="0">
                          <a:latin typeface="Calibri"/>
                          <a:cs typeface="Calibri"/>
                        </a:rPr>
                        <a:t>RFID</a:t>
                      </a:r>
                      <a:r>
                        <a:rPr sz="1800" spc="-40" dirty="0">
                          <a:latin typeface="Calibri"/>
                          <a:cs typeface="Calibri"/>
                        </a:rPr>
                        <a:t> </a:t>
                      </a:r>
                      <a:r>
                        <a:rPr sz="1800" spc="-20" dirty="0">
                          <a:latin typeface="Calibri"/>
                          <a:cs typeface="Calibri"/>
                        </a:rPr>
                        <a:t>integrated </a:t>
                      </a:r>
                      <a:r>
                        <a:rPr sz="1800" dirty="0">
                          <a:latin typeface="Calibri"/>
                          <a:cs typeface="Calibri"/>
                        </a:rPr>
                        <a:t>entry</a:t>
                      </a:r>
                      <a:r>
                        <a:rPr sz="1800" spc="-30" dirty="0">
                          <a:latin typeface="Calibri"/>
                          <a:cs typeface="Calibri"/>
                        </a:rPr>
                        <a:t> </a:t>
                      </a:r>
                      <a:r>
                        <a:rPr sz="1800" spc="-10" dirty="0">
                          <a:latin typeface="Calibri"/>
                          <a:cs typeface="Calibri"/>
                        </a:rPr>
                        <a:t>system</a:t>
                      </a:r>
                      <a:endParaRPr sz="1800">
                        <a:latin typeface="Calibri"/>
                        <a:cs typeface="Calibri"/>
                      </a:endParaRPr>
                    </a:p>
                  </a:txBody>
                  <a:tcPr marL="0" marR="0" marT="482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1F1F1"/>
                    </a:solidFill>
                  </a:tcPr>
                </a:tc>
                <a:tc>
                  <a:txBody>
                    <a:bodyPr/>
                    <a:lstStyle/>
                    <a:p>
                      <a:pPr>
                        <a:lnSpc>
                          <a:spcPct val="100000"/>
                        </a:lnSpc>
                        <a:spcBef>
                          <a:spcPts val="380"/>
                        </a:spcBef>
                      </a:pPr>
                      <a:endParaRPr sz="1800">
                        <a:latin typeface="Times New Roman"/>
                        <a:cs typeface="Times New Roman"/>
                      </a:endParaRPr>
                    </a:p>
                    <a:p>
                      <a:pPr marL="92075" marR="133985">
                        <a:lnSpc>
                          <a:spcPct val="100000"/>
                        </a:lnSpc>
                      </a:pPr>
                      <a:r>
                        <a:rPr sz="1800" dirty="0">
                          <a:latin typeface="Calibri"/>
                          <a:cs typeface="Calibri"/>
                        </a:rPr>
                        <a:t>RFID</a:t>
                      </a:r>
                      <a:r>
                        <a:rPr sz="1800" spc="-40" dirty="0">
                          <a:latin typeface="Calibri"/>
                          <a:cs typeface="Calibri"/>
                        </a:rPr>
                        <a:t> </a:t>
                      </a:r>
                      <a:r>
                        <a:rPr sz="1800" dirty="0">
                          <a:latin typeface="Calibri"/>
                          <a:cs typeface="Calibri"/>
                        </a:rPr>
                        <a:t>reader</a:t>
                      </a:r>
                      <a:r>
                        <a:rPr sz="1800" spc="-45" dirty="0">
                          <a:latin typeface="Calibri"/>
                          <a:cs typeface="Calibri"/>
                        </a:rPr>
                        <a:t> </a:t>
                      </a:r>
                      <a:r>
                        <a:rPr sz="1800" dirty="0">
                          <a:latin typeface="Calibri"/>
                          <a:cs typeface="Calibri"/>
                        </a:rPr>
                        <a:t>with</a:t>
                      </a:r>
                      <a:r>
                        <a:rPr sz="1800" spc="-35" dirty="0">
                          <a:latin typeface="Calibri"/>
                          <a:cs typeface="Calibri"/>
                        </a:rPr>
                        <a:t> </a:t>
                      </a:r>
                      <a:r>
                        <a:rPr sz="1800" dirty="0">
                          <a:latin typeface="Calibri"/>
                          <a:cs typeface="Calibri"/>
                        </a:rPr>
                        <a:t>GSM-</a:t>
                      </a:r>
                      <a:r>
                        <a:rPr sz="1800" spc="-20" dirty="0">
                          <a:latin typeface="Calibri"/>
                          <a:cs typeface="Calibri"/>
                        </a:rPr>
                        <a:t>based </a:t>
                      </a:r>
                      <a:r>
                        <a:rPr sz="1800" dirty="0">
                          <a:latin typeface="Calibri"/>
                          <a:cs typeface="Calibri"/>
                        </a:rPr>
                        <a:t>OTP</a:t>
                      </a:r>
                      <a:r>
                        <a:rPr sz="1800" spc="-65" dirty="0">
                          <a:latin typeface="Calibri"/>
                          <a:cs typeface="Calibri"/>
                        </a:rPr>
                        <a:t> </a:t>
                      </a:r>
                      <a:r>
                        <a:rPr sz="1800" spc="-10" dirty="0">
                          <a:latin typeface="Calibri"/>
                          <a:cs typeface="Calibri"/>
                        </a:rPr>
                        <a:t>verification</a:t>
                      </a:r>
                      <a:endParaRPr sz="1800">
                        <a:latin typeface="Calibri"/>
                        <a:cs typeface="Calibri"/>
                      </a:endParaRPr>
                    </a:p>
                  </a:txBody>
                  <a:tcPr marL="0" marR="0" marT="482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1F1F1"/>
                    </a:solidFill>
                  </a:tcPr>
                </a:tc>
                <a:tc>
                  <a:txBody>
                    <a:bodyPr/>
                    <a:lstStyle/>
                    <a:p>
                      <a:pPr>
                        <a:lnSpc>
                          <a:spcPct val="100000"/>
                        </a:lnSpc>
                        <a:spcBef>
                          <a:spcPts val="380"/>
                        </a:spcBef>
                      </a:pPr>
                      <a:endParaRPr sz="1800">
                        <a:latin typeface="Times New Roman"/>
                        <a:cs typeface="Times New Roman"/>
                      </a:endParaRPr>
                    </a:p>
                    <a:p>
                      <a:pPr marL="92075" marR="329565">
                        <a:lnSpc>
                          <a:spcPct val="100000"/>
                        </a:lnSpc>
                      </a:pPr>
                      <a:r>
                        <a:rPr sz="1800" spc="-10" dirty="0">
                          <a:latin typeface="Calibri"/>
                          <a:cs typeface="Calibri"/>
                        </a:rPr>
                        <a:t>Provided</a:t>
                      </a:r>
                      <a:r>
                        <a:rPr sz="1800" spc="-40" dirty="0">
                          <a:latin typeface="Calibri"/>
                          <a:cs typeface="Calibri"/>
                        </a:rPr>
                        <a:t> </a:t>
                      </a:r>
                      <a:r>
                        <a:rPr sz="1800" spc="-10" dirty="0">
                          <a:latin typeface="Calibri"/>
                          <a:cs typeface="Calibri"/>
                        </a:rPr>
                        <a:t>two-</a:t>
                      </a:r>
                      <a:r>
                        <a:rPr sz="1800" dirty="0">
                          <a:latin typeface="Calibri"/>
                          <a:cs typeface="Calibri"/>
                        </a:rPr>
                        <a:t>step</a:t>
                      </a:r>
                      <a:r>
                        <a:rPr sz="1800" spc="-35" dirty="0">
                          <a:latin typeface="Calibri"/>
                          <a:cs typeface="Calibri"/>
                        </a:rPr>
                        <a:t> </a:t>
                      </a:r>
                      <a:r>
                        <a:rPr sz="1800" spc="-10" dirty="0">
                          <a:latin typeface="Calibri"/>
                          <a:cs typeface="Calibri"/>
                        </a:rPr>
                        <a:t>security </a:t>
                      </a:r>
                      <a:r>
                        <a:rPr sz="1800" dirty="0">
                          <a:latin typeface="Calibri"/>
                          <a:cs typeface="Calibri"/>
                        </a:rPr>
                        <a:t>but</a:t>
                      </a:r>
                      <a:r>
                        <a:rPr sz="1800" spc="-40" dirty="0">
                          <a:latin typeface="Calibri"/>
                          <a:cs typeface="Calibri"/>
                        </a:rPr>
                        <a:t> </a:t>
                      </a:r>
                      <a:r>
                        <a:rPr sz="1800" dirty="0">
                          <a:latin typeface="Calibri"/>
                          <a:cs typeface="Calibri"/>
                        </a:rPr>
                        <a:t>lacked</a:t>
                      </a:r>
                      <a:r>
                        <a:rPr sz="1800" spc="-30" dirty="0">
                          <a:latin typeface="Calibri"/>
                          <a:cs typeface="Calibri"/>
                        </a:rPr>
                        <a:t> </a:t>
                      </a:r>
                      <a:r>
                        <a:rPr sz="1800" dirty="0">
                          <a:latin typeface="Calibri"/>
                          <a:cs typeface="Calibri"/>
                        </a:rPr>
                        <a:t>IoT</a:t>
                      </a:r>
                      <a:r>
                        <a:rPr sz="1800" spc="-50" dirty="0">
                          <a:latin typeface="Calibri"/>
                          <a:cs typeface="Calibri"/>
                        </a:rPr>
                        <a:t> </a:t>
                      </a:r>
                      <a:r>
                        <a:rPr sz="1800" spc="-10" dirty="0">
                          <a:latin typeface="Calibri"/>
                          <a:cs typeface="Calibri"/>
                        </a:rPr>
                        <a:t>connectivity</a:t>
                      </a:r>
                      <a:endParaRPr sz="1800">
                        <a:latin typeface="Calibri"/>
                        <a:cs typeface="Calibri"/>
                      </a:endParaRPr>
                    </a:p>
                  </a:txBody>
                  <a:tcPr marL="0" marR="0" marT="482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1F1F1"/>
                    </a:solidFill>
                  </a:tcPr>
                </a:tc>
                <a:extLst>
                  <a:ext uri="{0D108BD9-81ED-4DB2-BD59-A6C34878D82A}">
                    <a16:rowId xmlns:a16="http://schemas.microsoft.com/office/drawing/2014/main" val="10003"/>
                  </a:ext>
                </a:extLst>
              </a:tr>
              <a:tr h="1255395">
                <a:tc>
                  <a:txBody>
                    <a:bodyPr/>
                    <a:lstStyle/>
                    <a:p>
                      <a:pPr marL="91440">
                        <a:lnSpc>
                          <a:spcPct val="100000"/>
                        </a:lnSpc>
                        <a:spcBef>
                          <a:spcPts val="245"/>
                        </a:spcBef>
                      </a:pPr>
                      <a:r>
                        <a:rPr sz="1800" dirty="0">
                          <a:latin typeface="Calibri"/>
                          <a:cs typeface="Calibri"/>
                        </a:rPr>
                        <a:t>M.</a:t>
                      </a:r>
                      <a:r>
                        <a:rPr sz="1800" spc="-25" dirty="0">
                          <a:latin typeface="Calibri"/>
                          <a:cs typeface="Calibri"/>
                        </a:rPr>
                        <a:t> </a:t>
                      </a:r>
                      <a:r>
                        <a:rPr sz="1800" spc="-20" dirty="0">
                          <a:latin typeface="Calibri"/>
                          <a:cs typeface="Calibri"/>
                        </a:rPr>
                        <a:t>Verma </a:t>
                      </a:r>
                      <a:r>
                        <a:rPr sz="1800" dirty="0">
                          <a:latin typeface="Calibri"/>
                          <a:cs typeface="Calibri"/>
                        </a:rPr>
                        <a:t>et</a:t>
                      </a:r>
                      <a:r>
                        <a:rPr sz="1800" spc="-20" dirty="0">
                          <a:latin typeface="Calibri"/>
                          <a:cs typeface="Calibri"/>
                        </a:rPr>
                        <a:t> </a:t>
                      </a:r>
                      <a:r>
                        <a:rPr sz="1800" dirty="0">
                          <a:latin typeface="Calibri"/>
                          <a:cs typeface="Calibri"/>
                        </a:rPr>
                        <a:t>al.</a:t>
                      </a:r>
                      <a:r>
                        <a:rPr sz="1800" spc="-20" dirty="0">
                          <a:latin typeface="Calibri"/>
                          <a:cs typeface="Calibri"/>
                        </a:rPr>
                        <a:t> </a:t>
                      </a:r>
                      <a:r>
                        <a:rPr sz="1800" spc="-10" dirty="0">
                          <a:latin typeface="Calibri"/>
                          <a:cs typeface="Calibri"/>
                        </a:rPr>
                        <a:t>(2022)</a:t>
                      </a:r>
                      <a:endParaRPr sz="1800" dirty="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1F1F1"/>
                    </a:solidFill>
                  </a:tcPr>
                </a:tc>
                <a:tc>
                  <a:txBody>
                    <a:bodyPr/>
                    <a:lstStyle/>
                    <a:p>
                      <a:pPr marL="91440">
                        <a:lnSpc>
                          <a:spcPct val="100000"/>
                        </a:lnSpc>
                        <a:spcBef>
                          <a:spcPts val="245"/>
                        </a:spcBef>
                      </a:pPr>
                      <a:r>
                        <a:rPr sz="1800" spc="-10" dirty="0">
                          <a:latin typeface="Calibri"/>
                          <a:cs typeface="Calibri"/>
                        </a:rPr>
                        <a:t>IoT-</a:t>
                      </a:r>
                      <a:r>
                        <a:rPr sz="1800" dirty="0">
                          <a:latin typeface="Calibri"/>
                          <a:cs typeface="Calibri"/>
                        </a:rPr>
                        <a:t>based</a:t>
                      </a:r>
                      <a:r>
                        <a:rPr sz="1800" spc="-50" dirty="0">
                          <a:latin typeface="Calibri"/>
                          <a:cs typeface="Calibri"/>
                        </a:rPr>
                        <a:t> </a:t>
                      </a:r>
                      <a:r>
                        <a:rPr sz="1800" dirty="0">
                          <a:latin typeface="Calibri"/>
                          <a:cs typeface="Calibri"/>
                        </a:rPr>
                        <a:t>vault</a:t>
                      </a:r>
                      <a:r>
                        <a:rPr sz="1800" spc="-35" dirty="0">
                          <a:latin typeface="Calibri"/>
                          <a:cs typeface="Calibri"/>
                        </a:rPr>
                        <a:t> </a:t>
                      </a:r>
                      <a:r>
                        <a:rPr sz="1800" spc="-10" dirty="0">
                          <a:latin typeface="Calibri"/>
                          <a:cs typeface="Calibri"/>
                        </a:rPr>
                        <a:t>monitoring</a:t>
                      </a:r>
                      <a:endParaRPr sz="1800">
                        <a:latin typeface="Calibri"/>
                        <a:cs typeface="Calibri"/>
                      </a:endParaRPr>
                    </a:p>
                    <a:p>
                      <a:pPr marL="91440">
                        <a:lnSpc>
                          <a:spcPct val="100000"/>
                        </a:lnSpc>
                      </a:pPr>
                      <a:r>
                        <a:rPr sz="1800" spc="-10" dirty="0">
                          <a:latin typeface="Calibri"/>
                          <a:cs typeface="Calibri"/>
                        </a:rPr>
                        <a:t>system</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1F1F1"/>
                    </a:solidFill>
                  </a:tcPr>
                </a:tc>
                <a:tc>
                  <a:txBody>
                    <a:bodyPr/>
                    <a:lstStyle/>
                    <a:p>
                      <a:pPr marL="92075">
                        <a:lnSpc>
                          <a:spcPct val="100000"/>
                        </a:lnSpc>
                        <a:spcBef>
                          <a:spcPts val="245"/>
                        </a:spcBef>
                      </a:pPr>
                      <a:r>
                        <a:rPr sz="1800" dirty="0">
                          <a:latin typeface="Calibri"/>
                          <a:cs typeface="Calibri"/>
                        </a:rPr>
                        <a:t>NodeMCU</a:t>
                      </a:r>
                      <a:r>
                        <a:rPr sz="1800" spc="-50" dirty="0">
                          <a:latin typeface="Calibri"/>
                          <a:cs typeface="Calibri"/>
                        </a:rPr>
                        <a:t> </a:t>
                      </a:r>
                      <a:r>
                        <a:rPr sz="1800" dirty="0">
                          <a:latin typeface="Calibri"/>
                          <a:cs typeface="Calibri"/>
                        </a:rPr>
                        <a:t>with</a:t>
                      </a:r>
                      <a:r>
                        <a:rPr sz="1800" spc="-40" dirty="0">
                          <a:latin typeface="Calibri"/>
                          <a:cs typeface="Calibri"/>
                        </a:rPr>
                        <a:t> </a:t>
                      </a:r>
                      <a:r>
                        <a:rPr sz="1800" dirty="0">
                          <a:latin typeface="Calibri"/>
                          <a:cs typeface="Calibri"/>
                        </a:rPr>
                        <a:t>sensors</a:t>
                      </a:r>
                      <a:r>
                        <a:rPr sz="1800" spc="-60" dirty="0">
                          <a:latin typeface="Calibri"/>
                          <a:cs typeface="Calibri"/>
                        </a:rPr>
                        <a:t> </a:t>
                      </a:r>
                      <a:r>
                        <a:rPr sz="1800" spc="-25" dirty="0">
                          <a:latin typeface="Calibri"/>
                          <a:cs typeface="Calibri"/>
                        </a:rPr>
                        <a:t>and</a:t>
                      </a:r>
                      <a:endParaRPr sz="1800">
                        <a:latin typeface="Calibri"/>
                        <a:cs typeface="Calibri"/>
                      </a:endParaRPr>
                    </a:p>
                    <a:p>
                      <a:pPr marL="92075">
                        <a:lnSpc>
                          <a:spcPct val="100000"/>
                        </a:lnSpc>
                      </a:pPr>
                      <a:r>
                        <a:rPr sz="1800" dirty="0">
                          <a:latin typeface="Calibri"/>
                          <a:cs typeface="Calibri"/>
                        </a:rPr>
                        <a:t>cloud</a:t>
                      </a:r>
                      <a:r>
                        <a:rPr sz="1800" spc="-50" dirty="0">
                          <a:latin typeface="Calibri"/>
                          <a:cs typeface="Calibri"/>
                        </a:rPr>
                        <a:t> </a:t>
                      </a:r>
                      <a:r>
                        <a:rPr sz="1800" spc="-10" dirty="0">
                          <a:latin typeface="Calibri"/>
                          <a:cs typeface="Calibri"/>
                        </a:rPr>
                        <a:t>dashboard</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1F1F1"/>
                    </a:solidFill>
                  </a:tcPr>
                </a:tc>
                <a:tc>
                  <a:txBody>
                    <a:bodyPr/>
                    <a:lstStyle/>
                    <a:p>
                      <a:pPr marL="92075" marR="551180">
                        <a:lnSpc>
                          <a:spcPct val="100000"/>
                        </a:lnSpc>
                        <a:spcBef>
                          <a:spcPts val="245"/>
                        </a:spcBef>
                      </a:pPr>
                      <a:r>
                        <a:rPr sz="1800" spc="-20" dirty="0">
                          <a:latin typeface="Calibri"/>
                          <a:cs typeface="Calibri"/>
                        </a:rPr>
                        <a:t>Real-</a:t>
                      </a:r>
                      <a:r>
                        <a:rPr sz="1800" dirty="0">
                          <a:latin typeface="Calibri"/>
                          <a:cs typeface="Calibri"/>
                        </a:rPr>
                        <a:t>time</a:t>
                      </a:r>
                      <a:r>
                        <a:rPr sz="1800" spc="-15" dirty="0">
                          <a:latin typeface="Calibri"/>
                          <a:cs typeface="Calibri"/>
                        </a:rPr>
                        <a:t> </a:t>
                      </a:r>
                      <a:r>
                        <a:rPr sz="1800" dirty="0">
                          <a:latin typeface="Calibri"/>
                          <a:cs typeface="Calibri"/>
                        </a:rPr>
                        <a:t>vault</a:t>
                      </a:r>
                      <a:r>
                        <a:rPr sz="1800" spc="-25" dirty="0">
                          <a:latin typeface="Calibri"/>
                          <a:cs typeface="Calibri"/>
                        </a:rPr>
                        <a:t> </a:t>
                      </a:r>
                      <a:r>
                        <a:rPr sz="1800" spc="-10" dirty="0">
                          <a:latin typeface="Calibri"/>
                          <a:cs typeface="Calibri"/>
                        </a:rPr>
                        <a:t>updates; </a:t>
                      </a:r>
                      <a:r>
                        <a:rPr sz="1800" dirty="0">
                          <a:latin typeface="Calibri"/>
                          <a:cs typeface="Calibri"/>
                        </a:rPr>
                        <a:t>used</a:t>
                      </a:r>
                      <a:r>
                        <a:rPr sz="1800" spc="-20" dirty="0">
                          <a:latin typeface="Calibri"/>
                          <a:cs typeface="Calibri"/>
                        </a:rPr>
                        <a:t> </a:t>
                      </a:r>
                      <a:r>
                        <a:rPr sz="1800" dirty="0">
                          <a:latin typeface="Calibri"/>
                          <a:cs typeface="Calibri"/>
                        </a:rPr>
                        <a:t>only</a:t>
                      </a:r>
                      <a:r>
                        <a:rPr sz="1800" spc="-10" dirty="0">
                          <a:latin typeface="Calibri"/>
                          <a:cs typeface="Calibri"/>
                        </a:rPr>
                        <a:t> password authentication</a:t>
                      </a:r>
                      <a:endParaRPr sz="1800" dirty="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1F1F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41705" y="609676"/>
            <a:ext cx="10707650" cy="690574"/>
          </a:xfrm>
          <a:prstGeom prst="rect">
            <a:avLst/>
          </a:prstGeom>
        </p:spPr>
        <p:txBody>
          <a:bodyPr vert="horz" wrap="square" lIns="0" tIns="13335" rIns="0" bIns="0" rtlCol="0">
            <a:spAutoFit/>
          </a:bodyPr>
          <a:lstStyle/>
          <a:p>
            <a:pPr marL="12700">
              <a:lnSpc>
                <a:spcPct val="100000"/>
              </a:lnSpc>
              <a:spcBef>
                <a:spcPts val="105"/>
              </a:spcBef>
            </a:pPr>
            <a:r>
              <a:rPr spc="-105" dirty="0">
                <a:latin typeface="Times New Roman" panose="02020603050405020304" pitchFamily="18" charset="0"/>
                <a:cs typeface="Times New Roman" panose="02020603050405020304" pitchFamily="18" charset="0"/>
              </a:rPr>
              <a:t>DISADVANTAGES</a:t>
            </a:r>
            <a:r>
              <a:rPr spc="-114"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OF</a:t>
            </a:r>
            <a:r>
              <a:rPr spc="-85" dirty="0">
                <a:latin typeface="Times New Roman" panose="02020603050405020304" pitchFamily="18" charset="0"/>
                <a:cs typeface="Times New Roman" panose="02020603050405020304" pitchFamily="18" charset="0"/>
              </a:rPr>
              <a:t> </a:t>
            </a:r>
            <a:r>
              <a:rPr spc="-35" dirty="0">
                <a:latin typeface="Times New Roman" panose="02020603050405020304" pitchFamily="18" charset="0"/>
                <a:cs typeface="Times New Roman" panose="02020603050405020304" pitchFamily="18" charset="0"/>
              </a:rPr>
              <a:t>EXISTING</a:t>
            </a:r>
            <a:r>
              <a:rPr spc="-135"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SYSTEM</a:t>
            </a:r>
          </a:p>
        </p:txBody>
      </p:sp>
      <p:sp>
        <p:nvSpPr>
          <p:cNvPr id="3" name="object 3"/>
          <p:cNvSpPr txBox="1"/>
          <p:nvPr/>
        </p:nvSpPr>
        <p:spPr>
          <a:xfrm>
            <a:off x="990600" y="1447800"/>
            <a:ext cx="10358755" cy="4694042"/>
          </a:xfrm>
          <a:prstGeom prst="rect">
            <a:avLst/>
          </a:prstGeom>
        </p:spPr>
        <p:txBody>
          <a:bodyPr vert="horz" wrap="square" lIns="0" tIns="97790" rIns="0" bIns="0" rtlCol="0">
            <a:spAutoFit/>
          </a:bodyPr>
          <a:lstStyle/>
          <a:p>
            <a:pPr marL="241300" marR="5715" indent="-233679" algn="just">
              <a:lnSpc>
                <a:spcPct val="150000"/>
              </a:lnSpc>
              <a:spcBef>
                <a:spcPts val="770"/>
              </a:spcBef>
              <a:buSzPct val="96428"/>
              <a:buFont typeface="Wingdings"/>
              <a:buChar char=""/>
              <a:tabLst>
                <a:tab pos="241300" algn="l"/>
                <a:tab pos="293370" algn="l"/>
              </a:tabLst>
            </a:pPr>
            <a:r>
              <a:rPr sz="2800" b="1" dirty="0">
                <a:latin typeface="Calibri"/>
                <a:cs typeface="Calibri"/>
              </a:rPr>
              <a:t>	</a:t>
            </a:r>
            <a:r>
              <a:rPr lang="en-US" sz="2800" b="1" dirty="0">
                <a:latin typeface="Calibri"/>
                <a:cs typeface="Calibri"/>
              </a:rPr>
              <a:t> </a:t>
            </a:r>
            <a:r>
              <a:rPr sz="2400" dirty="0">
                <a:latin typeface="Times New Roman" panose="02020603050405020304" pitchFamily="18" charset="0"/>
                <a:cs typeface="Times New Roman" panose="02020603050405020304" pitchFamily="18" charset="0"/>
              </a:rPr>
              <a:t>Lack of Advanced Security:Traditional vaults depend on mechanical keys  or  simple  PIN  locks,  which  are  vulnerable  to  duplication, password  guessing,  or  physical  tampering.  This  single-layer protection can easily be bypassed by unauthorized users, leading to theft or data loss.</a:t>
            </a:r>
          </a:p>
          <a:p>
            <a:pPr marL="241300" marR="5080" indent="-233679" algn="just">
              <a:lnSpc>
                <a:spcPct val="150000"/>
              </a:lnSpc>
              <a:spcBef>
                <a:spcPts val="1005"/>
              </a:spcBef>
              <a:buSzPct val="96428"/>
              <a:buFont typeface="Wingdings"/>
              <a:buChar char=""/>
              <a:tabLst>
                <a:tab pos="241300" algn="l"/>
                <a:tab pos="293370" algn="l"/>
              </a:tabLst>
            </a:pPr>
            <a:r>
              <a:rPr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Manual and Non-Automated Operation:Conventional vaults require manual control for locking and unlocking. They are not integrated with IoT or automation technologies, making them inconvenient and unsuitable for modern smart security needs where remote access and automatic control are essential.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7820" y="387857"/>
            <a:ext cx="6291580" cy="690574"/>
          </a:xfrm>
          <a:prstGeom prst="rect">
            <a:avLst/>
          </a:prstGeom>
        </p:spPr>
        <p:txBody>
          <a:bodyPr vert="horz" wrap="square" lIns="0" tIns="13335" rIns="0" bIns="0" rtlCol="0">
            <a:spAutoFit/>
          </a:bodyPr>
          <a:lstStyle/>
          <a:p>
            <a:pPr marL="12700">
              <a:lnSpc>
                <a:spcPct val="100000"/>
              </a:lnSpc>
              <a:spcBef>
                <a:spcPts val="105"/>
              </a:spcBef>
            </a:pPr>
            <a:r>
              <a:rPr spc="-45" dirty="0">
                <a:latin typeface="Times New Roman" panose="02020603050405020304" pitchFamily="18" charset="0"/>
                <a:cs typeface="Times New Roman" panose="02020603050405020304" pitchFamily="18" charset="0"/>
              </a:rPr>
              <a:t>PROPOSED</a:t>
            </a:r>
            <a:r>
              <a:rPr spc="-180"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SYSTEM</a:t>
            </a:r>
          </a:p>
        </p:txBody>
      </p:sp>
      <p:pic>
        <p:nvPicPr>
          <p:cNvPr id="3" name="object 3"/>
          <p:cNvPicPr/>
          <p:nvPr/>
        </p:nvPicPr>
        <p:blipFill>
          <a:blip r:embed="rId2" cstate="print"/>
          <a:stretch>
            <a:fillRect/>
          </a:stretch>
        </p:blipFill>
        <p:spPr>
          <a:xfrm>
            <a:off x="335279" y="1078431"/>
            <a:ext cx="11521440" cy="537271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09599" y="728853"/>
            <a:ext cx="10886033" cy="5780044"/>
          </a:xfrm>
          <a:prstGeom prst="rect">
            <a:avLst/>
          </a:prstGeom>
        </p:spPr>
        <p:txBody>
          <a:bodyPr vert="horz" wrap="square" lIns="0" tIns="12700" rIns="0" bIns="0" rtlCol="0">
            <a:spAutoFit/>
          </a:bodyPr>
          <a:lstStyle/>
          <a:p>
            <a:pPr marL="2540" algn="just">
              <a:lnSpc>
                <a:spcPct val="150000"/>
              </a:lnSpc>
              <a:spcBef>
                <a:spcPts val="100"/>
              </a:spcBef>
              <a:buSzPct val="94444"/>
              <a:tabLst>
                <a:tab pos="91440" algn="l"/>
              </a:tabLst>
            </a:pPr>
            <a:r>
              <a:rPr lang="en-US" sz="1800" b="1" dirty="0">
                <a:latin typeface="Times New Roman" panose="02020603050405020304" pitchFamily="18" charset="0"/>
                <a:cs typeface="Times New Roman" panose="02020603050405020304" pitchFamily="18" charset="0"/>
              </a:rPr>
              <a:t>1. </a:t>
            </a:r>
            <a:r>
              <a:rPr sz="1800" b="1" dirty="0">
                <a:latin typeface="Times New Roman" panose="02020603050405020304" pitchFamily="18" charset="0"/>
                <a:cs typeface="Times New Roman" panose="02020603050405020304" pitchFamily="18" charset="0"/>
              </a:rPr>
              <a:t>System</a:t>
            </a:r>
            <a:r>
              <a:rPr sz="1800" b="1" spc="-25" dirty="0">
                <a:latin typeface="Times New Roman" panose="02020603050405020304" pitchFamily="18" charset="0"/>
                <a:cs typeface="Times New Roman" panose="02020603050405020304" pitchFamily="18" charset="0"/>
              </a:rPr>
              <a:t> </a:t>
            </a:r>
            <a:r>
              <a:rPr sz="1800" b="1" spc="-10" dirty="0">
                <a:latin typeface="Times New Roman" panose="02020603050405020304" pitchFamily="18" charset="0"/>
                <a:cs typeface="Times New Roman" panose="02020603050405020304" pitchFamily="18" charset="0"/>
              </a:rPr>
              <a:t>Initialization:</a:t>
            </a:r>
            <a:endParaRPr sz="1800" dirty="0">
              <a:latin typeface="Times New Roman" panose="02020603050405020304" pitchFamily="18" charset="0"/>
              <a:cs typeface="Times New Roman" panose="02020603050405020304" pitchFamily="18" charset="0"/>
            </a:endParaRPr>
          </a:p>
          <a:p>
            <a:pPr marL="12700" marR="412750" algn="just">
              <a:lnSpc>
                <a:spcPct val="150000"/>
              </a:lnSpc>
            </a:pPr>
            <a:r>
              <a:rPr lang="en-US" sz="180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When</a:t>
            </a:r>
            <a:r>
              <a:rPr sz="1800" spc="-5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powered</a:t>
            </a:r>
            <a:r>
              <a:rPr sz="1800" spc="1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ON,</a:t>
            </a:r>
            <a:r>
              <a:rPr sz="1800" spc="-4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the</a:t>
            </a:r>
            <a:r>
              <a:rPr sz="1800" spc="-4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microcontroller</a:t>
            </a:r>
            <a:r>
              <a:rPr sz="1800" spc="-2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(Arduino/NodeMCU)</a:t>
            </a:r>
            <a:r>
              <a:rPr sz="1800" spc="-1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initializes</a:t>
            </a:r>
            <a:r>
              <a:rPr sz="1800" spc="-2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all</a:t>
            </a:r>
            <a:r>
              <a:rPr sz="1800" spc="-3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connected</a:t>
            </a:r>
            <a:r>
              <a:rPr sz="1800" spc="-3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modules</a:t>
            </a:r>
            <a:r>
              <a:rPr sz="1800" spc="-1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t>
            </a:r>
            <a:r>
              <a:rPr sz="1800" spc="-50"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fingerprint sensor,</a:t>
            </a:r>
            <a:r>
              <a:rPr sz="1800" spc="-4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GSM</a:t>
            </a:r>
            <a:r>
              <a:rPr sz="1800" spc="-3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module,</a:t>
            </a:r>
            <a:r>
              <a:rPr sz="1800" spc="-2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servo</a:t>
            </a:r>
            <a:r>
              <a:rPr sz="1800" spc="-30"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motor,</a:t>
            </a:r>
            <a:r>
              <a:rPr sz="1800" spc="-3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and</a:t>
            </a:r>
            <a:r>
              <a:rPr sz="1800" spc="-3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LCD</a:t>
            </a:r>
            <a:r>
              <a:rPr sz="1800" spc="-35"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display.</a:t>
            </a:r>
            <a:endParaRPr sz="1800" dirty="0">
              <a:latin typeface="Times New Roman" panose="02020603050405020304" pitchFamily="18" charset="0"/>
              <a:cs typeface="Times New Roman" panose="02020603050405020304" pitchFamily="18" charset="0"/>
            </a:endParaRPr>
          </a:p>
          <a:p>
            <a:pPr marL="2540" algn="just">
              <a:lnSpc>
                <a:spcPct val="150000"/>
              </a:lnSpc>
              <a:buSzPct val="94444"/>
              <a:tabLst>
                <a:tab pos="91440" algn="l"/>
              </a:tabLst>
            </a:pPr>
            <a:r>
              <a:rPr lang="en-US" sz="1800" b="1" spc="-10" dirty="0">
                <a:latin typeface="Times New Roman" panose="02020603050405020304" pitchFamily="18" charset="0"/>
                <a:cs typeface="Times New Roman" panose="02020603050405020304" pitchFamily="18" charset="0"/>
              </a:rPr>
              <a:t>2. </a:t>
            </a:r>
            <a:r>
              <a:rPr sz="1800" b="1" spc="-10" dirty="0">
                <a:latin typeface="Times New Roman" panose="02020603050405020304" pitchFamily="18" charset="0"/>
                <a:cs typeface="Times New Roman" panose="02020603050405020304" pitchFamily="18" charset="0"/>
              </a:rPr>
              <a:t>Fingerprint</a:t>
            </a:r>
            <a:r>
              <a:rPr sz="1800" b="1" spc="-50" dirty="0">
                <a:latin typeface="Times New Roman" panose="02020603050405020304" pitchFamily="18" charset="0"/>
                <a:cs typeface="Times New Roman" panose="02020603050405020304" pitchFamily="18" charset="0"/>
              </a:rPr>
              <a:t> </a:t>
            </a:r>
            <a:r>
              <a:rPr sz="1800" b="1" spc="-10" dirty="0">
                <a:latin typeface="Times New Roman" panose="02020603050405020304" pitchFamily="18" charset="0"/>
                <a:cs typeface="Times New Roman" panose="02020603050405020304" pitchFamily="18" charset="0"/>
              </a:rPr>
              <a:t>Authentication:</a:t>
            </a:r>
            <a:endParaRPr sz="1800" dirty="0">
              <a:latin typeface="Times New Roman" panose="02020603050405020304" pitchFamily="18" charset="0"/>
              <a:cs typeface="Times New Roman" panose="02020603050405020304" pitchFamily="18" charset="0"/>
            </a:endParaRPr>
          </a:p>
          <a:p>
            <a:pPr marL="12700" algn="just">
              <a:lnSpc>
                <a:spcPct val="150000"/>
              </a:lnSpc>
            </a:pPr>
            <a:r>
              <a:rPr lang="en-US" sz="180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The</a:t>
            </a:r>
            <a:r>
              <a:rPr sz="1800" spc="-4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user</a:t>
            </a:r>
            <a:r>
              <a:rPr sz="1800" spc="-2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places</a:t>
            </a:r>
            <a:r>
              <a:rPr sz="1800" spc="-2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their</a:t>
            </a:r>
            <a:r>
              <a:rPr sz="1800" spc="-1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finger</a:t>
            </a:r>
            <a:r>
              <a:rPr sz="1800" spc="-2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on</a:t>
            </a:r>
            <a:r>
              <a:rPr sz="1800" spc="-2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the</a:t>
            </a:r>
            <a:r>
              <a:rPr sz="1800" spc="-3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fingerprint</a:t>
            </a:r>
            <a:r>
              <a:rPr sz="1800" spc="-15"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sensor.</a:t>
            </a:r>
            <a:endParaRPr sz="1800" dirty="0">
              <a:latin typeface="Times New Roman" panose="02020603050405020304" pitchFamily="18" charset="0"/>
              <a:cs typeface="Times New Roman" panose="02020603050405020304" pitchFamily="18" charset="0"/>
            </a:endParaRPr>
          </a:p>
          <a:p>
            <a:pPr marL="2540" lvl="1" algn="just">
              <a:lnSpc>
                <a:spcPct val="150000"/>
              </a:lnSpc>
              <a:buSzPct val="94444"/>
              <a:tabLst>
                <a:tab pos="91440" algn="l"/>
              </a:tabLst>
            </a:pPr>
            <a:r>
              <a:rPr lang="en-US" dirty="0">
                <a:latin typeface="Times New Roman" panose="02020603050405020304" pitchFamily="18" charset="0"/>
                <a:cs typeface="Times New Roman" panose="02020603050405020304" pitchFamily="18" charset="0"/>
              </a:rPr>
              <a:t>			1. </a:t>
            </a:r>
            <a:r>
              <a:rPr dirty="0">
                <a:latin typeface="Times New Roman" panose="02020603050405020304" pitchFamily="18" charset="0"/>
                <a:cs typeface="Times New Roman" panose="02020603050405020304" pitchFamily="18" charset="0"/>
              </a:rPr>
              <a:t>If</a:t>
            </a:r>
            <a:r>
              <a:rPr spc="-3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the</a:t>
            </a:r>
            <a:r>
              <a:rPr spc="-3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fingerprint </a:t>
            </a:r>
            <a:r>
              <a:rPr b="1" dirty="0">
                <a:latin typeface="Times New Roman" panose="02020603050405020304" pitchFamily="18" charset="0"/>
                <a:cs typeface="Times New Roman" panose="02020603050405020304" pitchFamily="18" charset="0"/>
              </a:rPr>
              <a:t>matches</a:t>
            </a:r>
            <a:r>
              <a:rPr b="1" spc="-25" dirty="0">
                <a:latin typeface="Times New Roman" panose="02020603050405020304" pitchFamily="18" charset="0"/>
                <a:cs typeface="Times New Roman" panose="02020603050405020304" pitchFamily="18" charset="0"/>
              </a:rPr>
              <a:t> </a:t>
            </a:r>
            <a:r>
              <a:rPr b="1" dirty="0">
                <a:latin typeface="Times New Roman" panose="02020603050405020304" pitchFamily="18" charset="0"/>
                <a:cs typeface="Times New Roman" panose="02020603050405020304" pitchFamily="18" charset="0"/>
              </a:rPr>
              <a:t>the</a:t>
            </a:r>
            <a:r>
              <a:rPr b="1" spc="-25" dirty="0">
                <a:latin typeface="Times New Roman" panose="02020603050405020304" pitchFamily="18" charset="0"/>
                <a:cs typeface="Times New Roman" panose="02020603050405020304" pitchFamily="18" charset="0"/>
              </a:rPr>
              <a:t> </a:t>
            </a:r>
            <a:r>
              <a:rPr b="1" dirty="0">
                <a:latin typeface="Times New Roman" panose="02020603050405020304" pitchFamily="18" charset="0"/>
                <a:cs typeface="Times New Roman" panose="02020603050405020304" pitchFamily="18" charset="0"/>
              </a:rPr>
              <a:t>stored</a:t>
            </a:r>
            <a:r>
              <a:rPr b="1" spc="-25" dirty="0">
                <a:latin typeface="Times New Roman" panose="02020603050405020304" pitchFamily="18" charset="0"/>
                <a:cs typeface="Times New Roman" panose="02020603050405020304" pitchFamily="18" charset="0"/>
              </a:rPr>
              <a:t> </a:t>
            </a:r>
            <a:r>
              <a:rPr b="1" dirty="0">
                <a:latin typeface="Times New Roman" panose="02020603050405020304" pitchFamily="18" charset="0"/>
                <a:cs typeface="Times New Roman" panose="02020603050405020304" pitchFamily="18" charset="0"/>
              </a:rPr>
              <a:t>data</a:t>
            </a:r>
            <a:r>
              <a:rPr dirty="0">
                <a:latin typeface="Times New Roman" panose="02020603050405020304" pitchFamily="18" charset="0"/>
                <a:cs typeface="Times New Roman" panose="02020603050405020304" pitchFamily="18" charset="0"/>
              </a:rPr>
              <a:t>,</a:t>
            </a:r>
            <a:r>
              <a:rPr spc="-3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the</a:t>
            </a:r>
            <a:r>
              <a:rPr spc="-3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system</a:t>
            </a:r>
            <a:r>
              <a:rPr spc="-2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proceeds</a:t>
            </a:r>
            <a:r>
              <a:rPr spc="-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to</a:t>
            </a:r>
            <a:r>
              <a:rPr spc="-4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the</a:t>
            </a:r>
            <a:r>
              <a:rPr spc="-35"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next</a:t>
            </a:r>
            <a:r>
              <a:rPr spc="-10" dirty="0">
                <a:latin typeface="Times New Roman" panose="02020603050405020304" pitchFamily="18" charset="0"/>
                <a:cs typeface="Times New Roman" panose="02020603050405020304" pitchFamily="18" charset="0"/>
              </a:rPr>
              <a:t> step.</a:t>
            </a:r>
            <a:endParaRPr lang="en-IN" spc="-10" dirty="0">
              <a:latin typeface="Times New Roman" panose="02020603050405020304" pitchFamily="18" charset="0"/>
              <a:cs typeface="Times New Roman" panose="02020603050405020304" pitchFamily="18" charset="0"/>
            </a:endParaRPr>
          </a:p>
          <a:p>
            <a:pPr marL="2540" lvl="1" algn="just">
              <a:lnSpc>
                <a:spcPct val="150000"/>
              </a:lnSpc>
              <a:buSzPct val="94444"/>
              <a:tabLst>
                <a:tab pos="91440" algn="l"/>
              </a:tabLst>
            </a:pPr>
            <a:r>
              <a:rPr lang="en-US" sz="1800" dirty="0">
                <a:latin typeface="Times New Roman" panose="02020603050405020304" pitchFamily="18" charset="0"/>
                <a:cs typeface="Times New Roman" panose="02020603050405020304" pitchFamily="18" charset="0"/>
              </a:rPr>
              <a:t>			2. </a:t>
            </a:r>
            <a:r>
              <a:rPr sz="1800" dirty="0">
                <a:latin typeface="Times New Roman" panose="02020603050405020304" pitchFamily="18" charset="0"/>
                <a:cs typeface="Times New Roman" panose="02020603050405020304" pitchFamily="18" charset="0"/>
              </a:rPr>
              <a:t>If</a:t>
            </a:r>
            <a:r>
              <a:rPr sz="1800" spc="-3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it</a:t>
            </a:r>
            <a:r>
              <a:rPr sz="1800" spc="-1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does</a:t>
            </a:r>
            <a:r>
              <a:rPr sz="1800" b="1" spc="-35"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not</a:t>
            </a:r>
            <a:r>
              <a:rPr sz="1800" b="1" spc="-25"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match</a:t>
            </a:r>
            <a:r>
              <a:rPr sz="1800" dirty="0">
                <a:latin typeface="Times New Roman" panose="02020603050405020304" pitchFamily="18" charset="0"/>
                <a:cs typeface="Times New Roman" panose="02020603050405020304" pitchFamily="18" charset="0"/>
              </a:rPr>
              <a:t>,</a:t>
            </a:r>
            <a:r>
              <a:rPr sz="1800" spc="-1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an</a:t>
            </a:r>
            <a:r>
              <a:rPr sz="1800" spc="-1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alert</a:t>
            </a:r>
            <a:r>
              <a:rPr sz="1800" spc="-1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is</a:t>
            </a:r>
            <a:r>
              <a:rPr sz="1800" spc="-1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triggered</a:t>
            </a:r>
            <a:r>
              <a:rPr sz="1800" spc="-1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through</a:t>
            </a:r>
            <a:r>
              <a:rPr sz="1800" spc="-1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the</a:t>
            </a:r>
            <a:r>
              <a:rPr sz="1800" spc="-2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buzzer</a:t>
            </a:r>
            <a:r>
              <a:rPr sz="1800" spc="-1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or</a:t>
            </a:r>
            <a:r>
              <a:rPr sz="1800" spc="-1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message, and</a:t>
            </a:r>
            <a:r>
              <a:rPr sz="1800" spc="-1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access</a:t>
            </a:r>
            <a:r>
              <a:rPr sz="1800" spc="-1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is</a:t>
            </a:r>
            <a:r>
              <a:rPr sz="1800" spc="-15"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denied.</a:t>
            </a:r>
            <a:endParaRPr sz="1800" dirty="0">
              <a:latin typeface="Times New Roman" panose="02020603050405020304" pitchFamily="18" charset="0"/>
              <a:cs typeface="Times New Roman" panose="02020603050405020304" pitchFamily="18" charset="0"/>
            </a:endParaRPr>
          </a:p>
          <a:p>
            <a:pPr marL="2540" algn="just">
              <a:lnSpc>
                <a:spcPct val="150000"/>
              </a:lnSpc>
              <a:buSzPct val="94444"/>
              <a:tabLst>
                <a:tab pos="91440" algn="l"/>
              </a:tabLst>
            </a:pPr>
            <a:r>
              <a:rPr lang="en-US" sz="1800" b="1" dirty="0">
                <a:latin typeface="Times New Roman" panose="02020603050405020304" pitchFamily="18" charset="0"/>
                <a:cs typeface="Times New Roman" panose="02020603050405020304" pitchFamily="18" charset="0"/>
              </a:rPr>
              <a:t>3. </a:t>
            </a:r>
            <a:r>
              <a:rPr sz="1800" b="1" dirty="0">
                <a:latin typeface="Times New Roman" panose="02020603050405020304" pitchFamily="18" charset="0"/>
                <a:cs typeface="Times New Roman" panose="02020603050405020304" pitchFamily="18" charset="0"/>
              </a:rPr>
              <a:t>OTP</a:t>
            </a:r>
            <a:r>
              <a:rPr sz="1800" b="1" spc="-75"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Generation</a:t>
            </a:r>
            <a:r>
              <a:rPr sz="1800" b="1" spc="-35"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and</a:t>
            </a:r>
            <a:r>
              <a:rPr sz="1800" b="1" spc="-35" dirty="0">
                <a:latin typeface="Times New Roman" panose="02020603050405020304" pitchFamily="18" charset="0"/>
                <a:cs typeface="Times New Roman" panose="02020603050405020304" pitchFamily="18" charset="0"/>
              </a:rPr>
              <a:t> </a:t>
            </a:r>
            <a:r>
              <a:rPr sz="1800" b="1" spc="-10" dirty="0">
                <a:latin typeface="Times New Roman" panose="02020603050405020304" pitchFamily="18" charset="0"/>
                <a:cs typeface="Times New Roman" panose="02020603050405020304" pitchFamily="18" charset="0"/>
              </a:rPr>
              <a:t>Verification:</a:t>
            </a:r>
            <a:endParaRPr sz="1800" dirty="0">
              <a:latin typeface="Times New Roman" panose="02020603050405020304" pitchFamily="18" charset="0"/>
              <a:cs typeface="Times New Roman" panose="02020603050405020304" pitchFamily="18" charset="0"/>
            </a:endParaRPr>
          </a:p>
          <a:p>
            <a:pPr marL="12700" algn="just">
              <a:lnSpc>
                <a:spcPct val="150000"/>
              </a:lnSpc>
            </a:pPr>
            <a:r>
              <a:rPr lang="en-US" sz="180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Once</a:t>
            </a:r>
            <a:r>
              <a:rPr sz="1800" spc="-3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the</a:t>
            </a:r>
            <a:r>
              <a:rPr sz="1800" spc="-3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fingerprint</a:t>
            </a:r>
            <a:r>
              <a:rPr sz="1800" spc="-1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is</a:t>
            </a:r>
            <a:r>
              <a:rPr sz="1800" spc="-2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verified,</a:t>
            </a:r>
            <a:r>
              <a:rPr sz="1800" spc="-1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the</a:t>
            </a:r>
            <a:r>
              <a:rPr sz="1800" spc="-3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system</a:t>
            </a:r>
            <a:r>
              <a:rPr sz="1800" spc="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generates</a:t>
            </a:r>
            <a:r>
              <a:rPr sz="1800" spc="-1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a:t>
            </a:r>
            <a:r>
              <a:rPr sz="1800" spc="-10" dirty="0">
                <a:latin typeface="Times New Roman" panose="02020603050405020304" pitchFamily="18" charset="0"/>
                <a:cs typeface="Times New Roman" panose="02020603050405020304" pitchFamily="18" charset="0"/>
              </a:rPr>
              <a:t> </a:t>
            </a:r>
            <a:r>
              <a:rPr sz="1800" b="1" spc="-10" dirty="0">
                <a:latin typeface="Times New Roman" panose="02020603050405020304" pitchFamily="18" charset="0"/>
                <a:cs typeface="Times New Roman" panose="02020603050405020304" pitchFamily="18" charset="0"/>
              </a:rPr>
              <a:t>One-</a:t>
            </a:r>
            <a:r>
              <a:rPr sz="1800" b="1" dirty="0">
                <a:latin typeface="Times New Roman" panose="02020603050405020304" pitchFamily="18" charset="0"/>
                <a:cs typeface="Times New Roman" panose="02020603050405020304" pitchFamily="18" charset="0"/>
              </a:rPr>
              <a:t>Time</a:t>
            </a:r>
            <a:r>
              <a:rPr sz="1800" b="1" spc="-3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Password</a:t>
            </a:r>
            <a:r>
              <a:rPr sz="1800" b="1" spc="-5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(OTP)</a:t>
            </a:r>
            <a:r>
              <a:rPr sz="1800" b="1" spc="-2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and</a:t>
            </a:r>
            <a:r>
              <a:rPr sz="1800" spc="-2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sends</a:t>
            </a:r>
            <a:r>
              <a:rPr sz="1800" spc="-1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it</a:t>
            </a:r>
            <a:r>
              <a:rPr sz="1800" spc="-2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to</a:t>
            </a:r>
            <a:r>
              <a:rPr sz="1800" spc="-35" dirty="0">
                <a:latin typeface="Times New Roman" panose="02020603050405020304" pitchFamily="18" charset="0"/>
                <a:cs typeface="Times New Roman" panose="02020603050405020304" pitchFamily="18" charset="0"/>
              </a:rPr>
              <a:t> </a:t>
            </a:r>
            <a:r>
              <a:rPr sz="1800" spc="-25" dirty="0">
                <a:latin typeface="Times New Roman" panose="02020603050405020304" pitchFamily="18" charset="0"/>
                <a:cs typeface="Times New Roman" panose="02020603050405020304" pitchFamily="18" charset="0"/>
              </a:rPr>
              <a:t>the</a:t>
            </a:r>
            <a:endParaRPr sz="1800" dirty="0">
              <a:latin typeface="Times New Roman" panose="02020603050405020304" pitchFamily="18" charset="0"/>
              <a:cs typeface="Times New Roman" panose="02020603050405020304" pitchFamily="18" charset="0"/>
            </a:endParaRPr>
          </a:p>
          <a:p>
            <a:pPr marL="12700" algn="just">
              <a:lnSpc>
                <a:spcPct val="150000"/>
              </a:lnSpc>
            </a:pPr>
            <a:r>
              <a:rPr sz="1800" b="1" dirty="0">
                <a:latin typeface="Times New Roman" panose="02020603050405020304" pitchFamily="18" charset="0"/>
                <a:cs typeface="Times New Roman" panose="02020603050405020304" pitchFamily="18" charset="0"/>
              </a:rPr>
              <a:t>registered</a:t>
            </a:r>
            <a:r>
              <a:rPr sz="1800" b="1" spc="-1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mobile</a:t>
            </a:r>
            <a:r>
              <a:rPr sz="1800" b="1" spc="-3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number</a:t>
            </a:r>
            <a:r>
              <a:rPr sz="1800" b="1" spc="-2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via</a:t>
            </a:r>
            <a:r>
              <a:rPr sz="1800" spc="-1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the</a:t>
            </a:r>
            <a:r>
              <a:rPr sz="1800" spc="-3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GSM</a:t>
            </a:r>
            <a:r>
              <a:rPr sz="1800" spc="-30"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module. The</a:t>
            </a:r>
            <a:r>
              <a:rPr sz="1800" spc="-4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user</a:t>
            </a:r>
            <a:r>
              <a:rPr sz="1800" spc="-1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must</a:t>
            </a:r>
            <a:r>
              <a:rPr sz="1800" spc="-1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enter</a:t>
            </a:r>
            <a:r>
              <a:rPr sz="1800" spc="-2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the</a:t>
            </a:r>
            <a:r>
              <a:rPr sz="1800" spc="-2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received OTP</a:t>
            </a:r>
            <a:r>
              <a:rPr sz="1800" spc="-7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to</a:t>
            </a:r>
            <a:r>
              <a:rPr sz="1800" spc="-1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confirm</a:t>
            </a:r>
            <a:r>
              <a:rPr sz="1800" spc="-20"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identity.</a:t>
            </a:r>
            <a:endParaRPr sz="1800" dirty="0">
              <a:latin typeface="Times New Roman" panose="02020603050405020304" pitchFamily="18" charset="0"/>
              <a:cs typeface="Times New Roman" panose="02020603050405020304" pitchFamily="18" charset="0"/>
            </a:endParaRPr>
          </a:p>
          <a:p>
            <a:pPr marL="2540" algn="just">
              <a:lnSpc>
                <a:spcPct val="150000"/>
              </a:lnSpc>
              <a:buSzPct val="94444"/>
              <a:tabLst>
                <a:tab pos="91440" algn="l"/>
              </a:tabLst>
            </a:pPr>
            <a:r>
              <a:rPr lang="en-US" sz="1800" b="1" dirty="0">
                <a:latin typeface="Times New Roman" panose="02020603050405020304" pitchFamily="18" charset="0"/>
                <a:cs typeface="Times New Roman" panose="02020603050405020304" pitchFamily="18" charset="0"/>
              </a:rPr>
              <a:t>4. </a:t>
            </a:r>
            <a:r>
              <a:rPr sz="1800" b="1" dirty="0">
                <a:latin typeface="Times New Roman" panose="02020603050405020304" pitchFamily="18" charset="0"/>
                <a:cs typeface="Times New Roman" panose="02020603050405020304" pitchFamily="18" charset="0"/>
              </a:rPr>
              <a:t>Vault</a:t>
            </a:r>
            <a:r>
              <a:rPr sz="1800" b="1" spc="-120" dirty="0">
                <a:latin typeface="Times New Roman" panose="02020603050405020304" pitchFamily="18" charset="0"/>
                <a:cs typeface="Times New Roman" panose="02020603050405020304" pitchFamily="18" charset="0"/>
              </a:rPr>
              <a:t> </a:t>
            </a:r>
            <a:r>
              <a:rPr sz="1800" b="1" spc="-10" dirty="0">
                <a:latin typeface="Times New Roman" panose="02020603050405020304" pitchFamily="18" charset="0"/>
                <a:cs typeface="Times New Roman" panose="02020603050405020304" pitchFamily="18" charset="0"/>
              </a:rPr>
              <a:t>Unlocking:</a:t>
            </a:r>
            <a:endParaRPr sz="1800" dirty="0">
              <a:latin typeface="Times New Roman" panose="02020603050405020304" pitchFamily="18" charset="0"/>
              <a:cs typeface="Times New Roman" panose="02020603050405020304" pitchFamily="18" charset="0"/>
            </a:endParaRPr>
          </a:p>
          <a:p>
            <a:pPr marL="12700" algn="just">
              <a:lnSpc>
                <a:spcPct val="150000"/>
              </a:lnSpc>
              <a:spcBef>
                <a:spcPts val="5"/>
              </a:spcBef>
            </a:pPr>
            <a:r>
              <a:rPr lang="en-US" sz="180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If</a:t>
            </a:r>
            <a:r>
              <a:rPr sz="1800" spc="-3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the</a:t>
            </a:r>
            <a:r>
              <a:rPr sz="1800" spc="-3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entered</a:t>
            </a:r>
            <a:r>
              <a:rPr sz="1800" spc="-2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OTP</a:t>
            </a:r>
            <a:r>
              <a:rPr sz="1800" spc="-8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is</a:t>
            </a:r>
            <a:r>
              <a:rPr sz="1800" spc="-3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correct,</a:t>
            </a:r>
            <a:r>
              <a:rPr sz="1800" spc="-2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the</a:t>
            </a:r>
            <a:r>
              <a:rPr sz="1800" spc="-2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servo</a:t>
            </a:r>
            <a:r>
              <a:rPr sz="1800" b="1" spc="2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motor</a:t>
            </a:r>
            <a:r>
              <a:rPr sz="1800" b="1" spc="-3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activates</a:t>
            </a:r>
            <a:r>
              <a:rPr sz="1800" spc="-1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to</a:t>
            </a:r>
            <a:r>
              <a:rPr sz="1800" spc="-3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unlock</a:t>
            </a:r>
            <a:r>
              <a:rPr sz="1800" b="1" spc="-45"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the</a:t>
            </a:r>
            <a:r>
              <a:rPr sz="1800" b="1" spc="-25"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vault</a:t>
            </a:r>
            <a:r>
              <a:rPr sz="1800" b="1" spc="1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door</a:t>
            </a:r>
            <a:r>
              <a:rPr sz="1800" b="1" spc="-25"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automatically.</a:t>
            </a:r>
            <a:endParaRPr sz="1800" dirty="0">
              <a:latin typeface="Times New Roman" panose="02020603050405020304" pitchFamily="18" charset="0"/>
              <a:cs typeface="Times New Roman" panose="02020603050405020304" pitchFamily="18" charset="0"/>
            </a:endParaRPr>
          </a:p>
          <a:p>
            <a:pPr marL="12700" algn="just">
              <a:lnSpc>
                <a:spcPct val="150000"/>
              </a:lnSpc>
            </a:pPr>
            <a:r>
              <a:rPr sz="1800" dirty="0">
                <a:latin typeface="Times New Roman" panose="02020603050405020304" pitchFamily="18" charset="0"/>
                <a:cs typeface="Times New Roman" panose="02020603050405020304" pitchFamily="18" charset="0"/>
              </a:rPr>
              <a:t>The</a:t>
            </a:r>
            <a:r>
              <a:rPr sz="1800" spc="-4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LCD</a:t>
            </a:r>
            <a:r>
              <a:rPr sz="1800" spc="-2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displays</a:t>
            </a:r>
            <a:r>
              <a:rPr sz="1800" spc="1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“Access</a:t>
            </a:r>
            <a:r>
              <a:rPr sz="1800" spc="-25"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Granted.”</a:t>
            </a:r>
            <a:endParaRPr sz="1800" dirty="0">
              <a:latin typeface="Times New Roman" panose="02020603050405020304" pitchFamily="18" charset="0"/>
              <a:cs typeface="Times New Roman" panose="02020603050405020304" pitchFamily="18" charset="0"/>
            </a:endParaRPr>
          </a:p>
        </p:txBody>
      </p:sp>
      <p:sp>
        <p:nvSpPr>
          <p:cNvPr id="3" name="object 3"/>
          <p:cNvSpPr txBox="1">
            <a:spLocks noGrp="1"/>
          </p:cNvSpPr>
          <p:nvPr>
            <p:ph type="title"/>
          </p:nvPr>
        </p:nvSpPr>
        <p:spPr>
          <a:xfrm>
            <a:off x="609600" y="154813"/>
            <a:ext cx="6781800" cy="566822"/>
          </a:xfrm>
          <a:prstGeom prst="rect">
            <a:avLst/>
          </a:prstGeom>
        </p:spPr>
        <p:txBody>
          <a:bodyPr vert="horz" wrap="square" lIns="0" tIns="12700" rIns="0" bIns="0" rtlCol="0">
            <a:spAutoFit/>
          </a:bodyPr>
          <a:lstStyle/>
          <a:p>
            <a:pPr marL="12700">
              <a:lnSpc>
                <a:spcPct val="100000"/>
              </a:lnSpc>
              <a:spcBef>
                <a:spcPts val="100"/>
              </a:spcBef>
            </a:pPr>
            <a:r>
              <a:rPr sz="3600" dirty="0">
                <a:latin typeface="Times New Roman" panose="02020603050405020304" pitchFamily="18" charset="0"/>
                <a:cs typeface="Times New Roman" panose="02020603050405020304" pitchFamily="18" charset="0"/>
              </a:rPr>
              <a:t>WORKING</a:t>
            </a:r>
            <a:r>
              <a:rPr sz="3600" spc="-150" dirty="0">
                <a:latin typeface="Times New Roman" panose="02020603050405020304" pitchFamily="18" charset="0"/>
                <a:cs typeface="Times New Roman" panose="02020603050405020304" pitchFamily="18" charset="0"/>
              </a:rPr>
              <a:t> </a:t>
            </a:r>
            <a:r>
              <a:rPr sz="3600" spc="-20" dirty="0">
                <a:latin typeface="Times New Roman" panose="02020603050405020304" pitchFamily="18" charset="0"/>
                <a:cs typeface="Times New Roman" panose="02020603050405020304" pitchFamily="18" charset="0"/>
              </a:rPr>
              <a:t>EXPLANATION</a:t>
            </a:r>
            <a:endParaRPr sz="3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018E1CA-3314-0BD5-238F-B40D91BC0ACF}"/>
              </a:ext>
            </a:extLst>
          </p:cNvPr>
          <p:cNvSpPr txBox="1"/>
          <p:nvPr/>
        </p:nvSpPr>
        <p:spPr>
          <a:xfrm>
            <a:off x="533400" y="533400"/>
            <a:ext cx="11277600" cy="4197559"/>
          </a:xfrm>
          <a:prstGeom prst="rect">
            <a:avLst/>
          </a:prstGeom>
          <a:noFill/>
        </p:spPr>
        <p:txBody>
          <a:bodyPr wrap="square">
            <a:spAutoFit/>
          </a:bodyPr>
          <a:lstStyle/>
          <a:p>
            <a:pPr marL="2540" algn="just">
              <a:lnSpc>
                <a:spcPct val="150000"/>
              </a:lnSpc>
              <a:buSzPct val="94444"/>
              <a:tabLst>
                <a:tab pos="91440" algn="l"/>
              </a:tabLst>
            </a:pPr>
            <a:r>
              <a:rPr lang="en-US" sz="1800" b="1" dirty="0">
                <a:latin typeface="Times New Roman" panose="02020603050405020304" pitchFamily="18" charset="0"/>
                <a:cs typeface="Times New Roman" panose="02020603050405020304" pitchFamily="18" charset="0"/>
              </a:rPr>
              <a:t>5. Security</a:t>
            </a:r>
            <a:r>
              <a:rPr lang="en-US" sz="1800" b="1" spc="-5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and</a:t>
            </a:r>
            <a:r>
              <a:rPr lang="en-US" sz="1800" b="1" spc="-1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Alert</a:t>
            </a:r>
            <a:r>
              <a:rPr lang="en-US" sz="1800" b="1" spc="5" dirty="0">
                <a:latin typeface="Times New Roman" panose="02020603050405020304" pitchFamily="18" charset="0"/>
                <a:cs typeface="Times New Roman" panose="02020603050405020304" pitchFamily="18" charset="0"/>
              </a:rPr>
              <a:t> </a:t>
            </a:r>
            <a:r>
              <a:rPr lang="en-US" sz="1800" b="1" spc="-10" dirty="0">
                <a:latin typeface="Times New Roman" panose="02020603050405020304" pitchFamily="18" charset="0"/>
                <a:cs typeface="Times New Roman" panose="02020603050405020304" pitchFamily="18" charset="0"/>
              </a:rPr>
              <a:t>System:</a:t>
            </a:r>
            <a:endParaRPr lang="en-US" sz="1800" dirty="0">
              <a:latin typeface="Times New Roman" panose="02020603050405020304" pitchFamily="18" charset="0"/>
              <a:cs typeface="Times New Roman" panose="02020603050405020304" pitchFamily="18" charset="0"/>
            </a:endParaRPr>
          </a:p>
          <a:p>
            <a:pPr marL="12700" algn="just">
              <a:lnSpc>
                <a:spcPct val="150000"/>
              </a:lnSpc>
            </a:pPr>
            <a:r>
              <a:rPr lang="en-US" sz="1800" dirty="0">
                <a:latin typeface="Times New Roman" panose="02020603050405020304" pitchFamily="18" charset="0"/>
                <a:cs typeface="Times New Roman" panose="02020603050405020304" pitchFamily="18" charset="0"/>
              </a:rPr>
              <a:t>		If</a:t>
            </a:r>
            <a:r>
              <a:rPr lang="en-US" sz="1800" spc="-2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an</a:t>
            </a:r>
            <a:r>
              <a:rPr lang="en-US" sz="1800" spc="-2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incorrect</a:t>
            </a:r>
            <a:r>
              <a:rPr lang="en-US" sz="1800" b="1" spc="-5"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fingerprint</a:t>
            </a:r>
            <a:r>
              <a:rPr lang="en-US" sz="1800" b="1" spc="-35"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or</a:t>
            </a:r>
            <a:r>
              <a:rPr lang="en-US" sz="1800" b="1" spc="-15"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OTP</a:t>
            </a:r>
            <a:r>
              <a:rPr lang="en-US" sz="1800" b="1" spc="-5"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is</a:t>
            </a:r>
            <a:r>
              <a:rPr lang="en-US" sz="1800" spc="-15"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entered</a:t>
            </a:r>
            <a:r>
              <a:rPr lang="en-US" sz="1800" spc="-1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multiple</a:t>
            </a:r>
            <a:r>
              <a:rPr lang="en-US" sz="1800" spc="-1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times,</a:t>
            </a:r>
            <a:r>
              <a:rPr lang="en-US" sz="1800" spc="-15"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the</a:t>
            </a:r>
            <a:r>
              <a:rPr lang="en-US" sz="1800" spc="-2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buzzer</a:t>
            </a:r>
            <a:r>
              <a:rPr lang="en-US" sz="1800" b="1" spc="-2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sounds and</a:t>
            </a:r>
            <a:r>
              <a:rPr lang="en-US" sz="1800" spc="-2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a</a:t>
            </a:r>
            <a:r>
              <a:rPr lang="en-US" sz="1800" spc="-35"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warning</a:t>
            </a:r>
            <a:r>
              <a:rPr lang="en-US" sz="1800" b="1" spc="-55"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SMS</a:t>
            </a:r>
            <a:r>
              <a:rPr lang="en-US" sz="1800" b="1" spc="-5"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is</a:t>
            </a:r>
            <a:r>
              <a:rPr lang="en-US" sz="1800" spc="-1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sent</a:t>
            </a:r>
            <a:r>
              <a:rPr lang="en-US" sz="1800" spc="-10" dirty="0">
                <a:latin typeface="Times New Roman" panose="02020603050405020304" pitchFamily="18" charset="0"/>
                <a:cs typeface="Times New Roman" panose="02020603050405020304" pitchFamily="18" charset="0"/>
              </a:rPr>
              <a:t> </a:t>
            </a:r>
            <a:r>
              <a:rPr lang="en-US" sz="1800" spc="-25" dirty="0">
                <a:latin typeface="Times New Roman" panose="02020603050405020304" pitchFamily="18" charset="0"/>
                <a:cs typeface="Times New Roman" panose="02020603050405020304" pitchFamily="18" charset="0"/>
              </a:rPr>
              <a:t>to</a:t>
            </a:r>
            <a:endParaRPr lang="en-US" sz="1800" dirty="0">
              <a:latin typeface="Times New Roman" panose="02020603050405020304" pitchFamily="18" charset="0"/>
              <a:cs typeface="Times New Roman" panose="02020603050405020304" pitchFamily="18" charset="0"/>
            </a:endParaRPr>
          </a:p>
          <a:p>
            <a:pPr marL="12700" algn="just">
              <a:lnSpc>
                <a:spcPct val="150000"/>
              </a:lnSpc>
            </a:pPr>
            <a:r>
              <a:rPr lang="en-US" sz="1800" dirty="0">
                <a:latin typeface="Times New Roman" panose="02020603050405020304" pitchFamily="18" charset="0"/>
                <a:cs typeface="Times New Roman" panose="02020603050405020304" pitchFamily="18" charset="0"/>
              </a:rPr>
              <a:t>the</a:t>
            </a:r>
            <a:r>
              <a:rPr lang="en-US" sz="1800" spc="-5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owner’s</a:t>
            </a:r>
            <a:r>
              <a:rPr lang="en-US" sz="1800" spc="25"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phone</a:t>
            </a:r>
            <a:r>
              <a:rPr lang="en-US" sz="1800" spc="-1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for</a:t>
            </a:r>
            <a:r>
              <a:rPr lang="en-US" sz="1800" spc="-35"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immediate</a:t>
            </a:r>
            <a:r>
              <a:rPr lang="en-US" sz="1800" spc="-10" dirty="0">
                <a:latin typeface="Times New Roman" panose="02020603050405020304" pitchFamily="18" charset="0"/>
                <a:cs typeface="Times New Roman" panose="02020603050405020304" pitchFamily="18" charset="0"/>
              </a:rPr>
              <a:t> attention.</a:t>
            </a:r>
            <a:endParaRPr lang="en-US" sz="1800" dirty="0">
              <a:latin typeface="Times New Roman" panose="02020603050405020304" pitchFamily="18" charset="0"/>
              <a:cs typeface="Times New Roman" panose="02020603050405020304" pitchFamily="18" charset="0"/>
            </a:endParaRPr>
          </a:p>
          <a:p>
            <a:pPr marL="2540" algn="just">
              <a:lnSpc>
                <a:spcPct val="150000"/>
              </a:lnSpc>
              <a:buSzPct val="94444"/>
              <a:tabLst>
                <a:tab pos="91440" algn="l"/>
              </a:tabLst>
            </a:pPr>
            <a:r>
              <a:rPr lang="en-US" sz="1800" b="1" dirty="0">
                <a:latin typeface="Times New Roman" panose="02020603050405020304" pitchFamily="18" charset="0"/>
                <a:cs typeface="Times New Roman" panose="02020603050405020304" pitchFamily="18" charset="0"/>
              </a:rPr>
              <a:t>6. IoT</a:t>
            </a:r>
            <a:r>
              <a:rPr lang="en-US" sz="1800" b="1" spc="-55"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Monitoring</a:t>
            </a:r>
            <a:r>
              <a:rPr lang="en-US" sz="1800" b="1" spc="-80" dirty="0">
                <a:latin typeface="Times New Roman" panose="02020603050405020304" pitchFamily="18" charset="0"/>
                <a:cs typeface="Times New Roman" panose="02020603050405020304" pitchFamily="18" charset="0"/>
              </a:rPr>
              <a:t> </a:t>
            </a:r>
            <a:r>
              <a:rPr lang="en-US" sz="1800" b="1" spc="-10" dirty="0">
                <a:latin typeface="Times New Roman" panose="02020603050405020304" pitchFamily="18" charset="0"/>
                <a:cs typeface="Times New Roman" panose="02020603050405020304" pitchFamily="18" charset="0"/>
              </a:rPr>
              <a:t>(Optional):</a:t>
            </a:r>
            <a:endParaRPr lang="en-US" sz="1800" dirty="0">
              <a:latin typeface="Times New Roman" panose="02020603050405020304" pitchFamily="18" charset="0"/>
              <a:cs typeface="Times New Roman" panose="02020603050405020304" pitchFamily="18" charset="0"/>
            </a:endParaRPr>
          </a:p>
          <a:p>
            <a:pPr marL="12700" marR="107950" algn="just">
              <a:lnSpc>
                <a:spcPct val="150000"/>
              </a:lnSpc>
            </a:pPr>
            <a:r>
              <a:rPr lang="en-US" sz="1800" dirty="0">
                <a:latin typeface="Times New Roman" panose="02020603050405020304" pitchFamily="18" charset="0"/>
                <a:cs typeface="Times New Roman" panose="02020603050405020304" pitchFamily="18" charset="0"/>
              </a:rPr>
              <a:t>		The</a:t>
            </a:r>
            <a:r>
              <a:rPr lang="en-US" sz="1800" spc="-35"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system</a:t>
            </a:r>
            <a:r>
              <a:rPr lang="en-US" sz="1800" spc="1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can</a:t>
            </a:r>
            <a:r>
              <a:rPr lang="en-US" sz="1800" spc="-25"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send</a:t>
            </a:r>
            <a:r>
              <a:rPr lang="en-US" sz="1800" spc="-1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status</a:t>
            </a:r>
            <a:r>
              <a:rPr lang="en-US" sz="1800" spc="-3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updates</a:t>
            </a:r>
            <a:r>
              <a:rPr lang="en-US" sz="1800" spc="-5"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(locked/unlocked,</a:t>
            </a:r>
            <a:r>
              <a:rPr lang="en-US" sz="1800" spc="2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alert)</a:t>
            </a:r>
            <a:r>
              <a:rPr lang="en-US" sz="1800" spc="-15"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to</a:t>
            </a:r>
            <a:r>
              <a:rPr lang="en-US" sz="1800" spc="-15"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a</a:t>
            </a:r>
            <a:r>
              <a:rPr lang="en-US" sz="1800" spc="-5"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cloud</a:t>
            </a:r>
            <a:r>
              <a:rPr lang="en-US" sz="1800" b="1" spc="-3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platform</a:t>
            </a:r>
            <a:r>
              <a:rPr lang="en-US" sz="1800" b="1" spc="-25"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or</a:t>
            </a:r>
            <a:r>
              <a:rPr lang="en-US" sz="1800" b="1" spc="-15"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mobile</a:t>
            </a:r>
            <a:r>
              <a:rPr lang="en-US" sz="1800" b="1" spc="-25"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app</a:t>
            </a:r>
            <a:r>
              <a:rPr lang="en-US" sz="1800" b="1" spc="-1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for</a:t>
            </a:r>
            <a:r>
              <a:rPr lang="en-US" sz="1800" spc="-15" dirty="0">
                <a:latin typeface="Times New Roman" panose="02020603050405020304" pitchFamily="18" charset="0"/>
                <a:cs typeface="Times New Roman" panose="02020603050405020304" pitchFamily="18" charset="0"/>
              </a:rPr>
              <a:t> </a:t>
            </a:r>
            <a:r>
              <a:rPr lang="en-US" sz="1800" spc="-10" dirty="0">
                <a:latin typeface="Times New Roman" panose="02020603050405020304" pitchFamily="18" charset="0"/>
                <a:cs typeface="Times New Roman" panose="02020603050405020304" pitchFamily="18" charset="0"/>
              </a:rPr>
              <a:t>real-</a:t>
            </a:r>
            <a:r>
              <a:rPr lang="en-US" sz="1800" spc="-20" dirty="0">
                <a:latin typeface="Times New Roman" panose="02020603050405020304" pitchFamily="18" charset="0"/>
                <a:cs typeface="Times New Roman" panose="02020603050405020304" pitchFamily="18" charset="0"/>
              </a:rPr>
              <a:t>time </a:t>
            </a:r>
            <a:r>
              <a:rPr lang="en-US" sz="1800" spc="-10" dirty="0">
                <a:latin typeface="Times New Roman" panose="02020603050405020304" pitchFamily="18" charset="0"/>
                <a:cs typeface="Times New Roman" panose="02020603050405020304" pitchFamily="18" charset="0"/>
              </a:rPr>
              <a:t>monitoring.</a:t>
            </a:r>
            <a:endParaRPr lang="en-US" sz="1800" dirty="0">
              <a:latin typeface="Times New Roman" panose="02020603050405020304" pitchFamily="18" charset="0"/>
              <a:cs typeface="Times New Roman" panose="02020603050405020304" pitchFamily="18" charset="0"/>
            </a:endParaRPr>
          </a:p>
          <a:p>
            <a:pPr marL="2540" algn="just">
              <a:lnSpc>
                <a:spcPct val="150000"/>
              </a:lnSpc>
              <a:buSzPct val="94444"/>
              <a:tabLst>
                <a:tab pos="91440" algn="l"/>
              </a:tabLst>
            </a:pPr>
            <a:r>
              <a:rPr lang="en-US" sz="1800" b="1" dirty="0">
                <a:latin typeface="Times New Roman" panose="02020603050405020304" pitchFamily="18" charset="0"/>
                <a:cs typeface="Times New Roman" panose="02020603050405020304" pitchFamily="18" charset="0"/>
              </a:rPr>
              <a:t>7. Auto Lock</a:t>
            </a:r>
            <a:r>
              <a:rPr lang="en-US" sz="1800" b="1" spc="-45"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and</a:t>
            </a:r>
            <a:r>
              <a:rPr lang="en-US" sz="1800" b="1" spc="-45" dirty="0">
                <a:latin typeface="Times New Roman" panose="02020603050405020304" pitchFamily="18" charset="0"/>
                <a:cs typeface="Times New Roman" panose="02020603050405020304" pitchFamily="18" charset="0"/>
              </a:rPr>
              <a:t> </a:t>
            </a:r>
            <a:r>
              <a:rPr lang="en-US" sz="1800" b="1" spc="-10" dirty="0">
                <a:latin typeface="Times New Roman" panose="02020603050405020304" pitchFamily="18" charset="0"/>
                <a:cs typeface="Times New Roman" panose="02020603050405020304" pitchFamily="18" charset="0"/>
              </a:rPr>
              <a:t>Reset:</a:t>
            </a:r>
            <a:endParaRPr lang="en-US" sz="1800" dirty="0">
              <a:latin typeface="Times New Roman" panose="02020603050405020304" pitchFamily="18" charset="0"/>
              <a:cs typeface="Times New Roman" panose="02020603050405020304" pitchFamily="18" charset="0"/>
            </a:endParaRPr>
          </a:p>
          <a:p>
            <a:pPr marL="12700" algn="just">
              <a:lnSpc>
                <a:spcPct val="150000"/>
              </a:lnSpc>
            </a:pPr>
            <a:r>
              <a:rPr lang="en-US" sz="1800" dirty="0">
                <a:latin typeface="Times New Roman" panose="02020603050405020304" pitchFamily="18" charset="0"/>
                <a:cs typeface="Times New Roman" panose="02020603050405020304" pitchFamily="18" charset="0"/>
              </a:rPr>
              <a:t>		After</a:t>
            </a:r>
            <a:r>
              <a:rPr lang="en-US" sz="1800" spc="-35"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a</a:t>
            </a:r>
            <a:r>
              <a:rPr lang="en-US" sz="1800" spc="-25"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preset</a:t>
            </a:r>
            <a:r>
              <a:rPr lang="en-US" sz="1800" spc="-5"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time,</a:t>
            </a:r>
            <a:r>
              <a:rPr lang="en-US" sz="1800" spc="-3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the</a:t>
            </a:r>
            <a:r>
              <a:rPr lang="en-US" sz="1800" spc="-3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system</a:t>
            </a:r>
            <a:r>
              <a:rPr lang="en-US" sz="1800" spc="5"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automatically </a:t>
            </a:r>
            <a:r>
              <a:rPr lang="en-US" sz="1800" b="1" dirty="0">
                <a:latin typeface="Times New Roman" panose="02020603050405020304" pitchFamily="18" charset="0"/>
                <a:cs typeface="Times New Roman" panose="02020603050405020304" pitchFamily="18" charset="0"/>
              </a:rPr>
              <a:t>locks</a:t>
            </a:r>
            <a:r>
              <a:rPr lang="en-US" sz="1800" b="1" spc="-2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the</a:t>
            </a:r>
            <a:r>
              <a:rPr lang="en-US" sz="1800" b="1" spc="-3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vault</a:t>
            </a:r>
            <a:r>
              <a:rPr lang="en-US" sz="1800" b="1" spc="25"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again</a:t>
            </a:r>
            <a:r>
              <a:rPr lang="en-US" sz="1800" spc="-15"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and</a:t>
            </a:r>
            <a:r>
              <a:rPr lang="en-US" sz="1800" spc="-2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resets</a:t>
            </a:r>
            <a:r>
              <a:rPr lang="en-US" sz="1800" spc="-15"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itself</a:t>
            </a:r>
            <a:r>
              <a:rPr lang="en-US" sz="1800" spc="-15"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for</a:t>
            </a:r>
            <a:r>
              <a:rPr lang="en-US" sz="1800" spc="-2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the</a:t>
            </a:r>
            <a:r>
              <a:rPr lang="en-US" sz="1800" spc="-3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next</a:t>
            </a:r>
            <a:r>
              <a:rPr lang="en-US" sz="1800" spc="-5" dirty="0">
                <a:latin typeface="Times New Roman" panose="02020603050405020304" pitchFamily="18" charset="0"/>
                <a:cs typeface="Times New Roman" panose="02020603050405020304" pitchFamily="18" charset="0"/>
              </a:rPr>
              <a:t> </a:t>
            </a:r>
            <a:r>
              <a:rPr lang="en-US" sz="1800" spc="-10" dirty="0">
                <a:latin typeface="Times New Roman" panose="02020603050405020304" pitchFamily="18" charset="0"/>
                <a:cs typeface="Times New Roman" panose="02020603050405020304" pitchFamily="18" charset="0"/>
              </a:rPr>
              <a:t>operation.</a:t>
            </a: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16145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605790" rIns="0" bIns="0" rtlCol="0">
            <a:spAutoFit/>
          </a:bodyPr>
          <a:lstStyle/>
          <a:p>
            <a:pPr marL="190500">
              <a:lnSpc>
                <a:spcPct val="100000"/>
              </a:lnSpc>
              <a:spcBef>
                <a:spcPts val="95"/>
              </a:spcBef>
            </a:pPr>
            <a:r>
              <a:rPr sz="4000" spc="-60" dirty="0">
                <a:latin typeface="Times New Roman" panose="02020603050405020304" pitchFamily="18" charset="0"/>
                <a:cs typeface="Times New Roman" panose="02020603050405020304" pitchFamily="18" charset="0"/>
              </a:rPr>
              <a:t>METHODOLOGY</a:t>
            </a:r>
            <a:r>
              <a:rPr sz="4000" spc="-130"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a:t>
            </a:r>
            <a:r>
              <a:rPr sz="4000" spc="-80" dirty="0">
                <a:latin typeface="Times New Roman" panose="02020603050405020304" pitchFamily="18" charset="0"/>
                <a:cs typeface="Times New Roman" panose="02020603050405020304" pitchFamily="18" charset="0"/>
              </a:rPr>
              <a:t> </a:t>
            </a:r>
            <a:r>
              <a:rPr sz="4000" spc="-35" dirty="0">
                <a:latin typeface="Times New Roman" panose="02020603050405020304" pitchFamily="18" charset="0"/>
                <a:cs typeface="Times New Roman" panose="02020603050405020304" pitchFamily="18" charset="0"/>
              </a:rPr>
              <a:t>SYSTEM</a:t>
            </a:r>
            <a:r>
              <a:rPr sz="4000" spc="-155" dirty="0">
                <a:latin typeface="Times New Roman" panose="02020603050405020304" pitchFamily="18" charset="0"/>
                <a:cs typeface="Times New Roman" panose="02020603050405020304" pitchFamily="18" charset="0"/>
              </a:rPr>
              <a:t> </a:t>
            </a:r>
            <a:r>
              <a:rPr sz="4000" spc="-10" dirty="0">
                <a:latin typeface="Times New Roman" panose="02020603050405020304" pitchFamily="18" charset="0"/>
                <a:cs typeface="Times New Roman" panose="02020603050405020304" pitchFamily="18" charset="0"/>
              </a:rPr>
              <a:t>DESIGN</a:t>
            </a:r>
            <a:endParaRPr sz="4000" dirty="0">
              <a:latin typeface="Times New Roman" panose="02020603050405020304" pitchFamily="18" charset="0"/>
              <a:cs typeface="Times New Roman" panose="02020603050405020304" pitchFamily="18" charset="0"/>
            </a:endParaRPr>
          </a:p>
        </p:txBody>
      </p:sp>
      <p:graphicFrame>
        <p:nvGraphicFramePr>
          <p:cNvPr id="3" name="object 3"/>
          <p:cNvGraphicFramePr>
            <a:graphicFrameLocks noGrp="1"/>
          </p:cNvGraphicFramePr>
          <p:nvPr/>
        </p:nvGraphicFramePr>
        <p:xfrm>
          <a:off x="520941" y="1371091"/>
          <a:ext cx="11116310" cy="5163185"/>
        </p:xfrm>
        <a:graphic>
          <a:graphicData uri="http://schemas.openxmlformats.org/drawingml/2006/table">
            <a:tbl>
              <a:tblPr firstRow="1" bandRow="1">
                <a:tableStyleId>{2D5ABB26-0587-4C30-8999-92F81FD0307C}</a:tableStyleId>
              </a:tblPr>
              <a:tblGrid>
                <a:gridCol w="5558155">
                  <a:extLst>
                    <a:ext uri="{9D8B030D-6E8A-4147-A177-3AD203B41FA5}">
                      <a16:colId xmlns:a16="http://schemas.microsoft.com/office/drawing/2014/main" val="20000"/>
                    </a:ext>
                  </a:extLst>
                </a:gridCol>
                <a:gridCol w="5558155">
                  <a:extLst>
                    <a:ext uri="{9D8B030D-6E8A-4147-A177-3AD203B41FA5}">
                      <a16:colId xmlns:a16="http://schemas.microsoft.com/office/drawing/2014/main" val="20001"/>
                    </a:ext>
                  </a:extLst>
                </a:gridCol>
              </a:tblGrid>
              <a:tr h="339725">
                <a:tc>
                  <a:txBody>
                    <a:bodyPr/>
                    <a:lstStyle/>
                    <a:p>
                      <a:pPr marL="58419">
                        <a:lnSpc>
                          <a:spcPct val="100000"/>
                        </a:lnSpc>
                        <a:spcBef>
                          <a:spcPts val="280"/>
                        </a:spcBef>
                      </a:pPr>
                      <a:r>
                        <a:rPr sz="1600" b="1" spc="-10" dirty="0">
                          <a:solidFill>
                            <a:srgbClr val="FFFFFF"/>
                          </a:solidFill>
                          <a:latin typeface="Calibri"/>
                          <a:cs typeface="Calibri"/>
                        </a:rPr>
                        <a:t>Stage</a:t>
                      </a:r>
                      <a:endParaRPr sz="1600">
                        <a:latin typeface="Calibri"/>
                        <a:cs typeface="Calibri"/>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59055">
                        <a:lnSpc>
                          <a:spcPct val="100000"/>
                        </a:lnSpc>
                        <a:spcBef>
                          <a:spcPts val="280"/>
                        </a:spcBef>
                      </a:pPr>
                      <a:r>
                        <a:rPr sz="1600" b="1" dirty="0">
                          <a:solidFill>
                            <a:srgbClr val="FFFFFF"/>
                          </a:solidFill>
                          <a:latin typeface="Calibri"/>
                          <a:cs typeface="Calibri"/>
                        </a:rPr>
                        <a:t>Process</a:t>
                      </a:r>
                      <a:r>
                        <a:rPr sz="1600" b="1" spc="-65" dirty="0">
                          <a:solidFill>
                            <a:srgbClr val="FFFFFF"/>
                          </a:solidFill>
                          <a:latin typeface="Calibri"/>
                          <a:cs typeface="Calibri"/>
                        </a:rPr>
                        <a:t> </a:t>
                      </a:r>
                      <a:r>
                        <a:rPr sz="1600" b="1" spc="-10" dirty="0">
                          <a:solidFill>
                            <a:srgbClr val="FFFFFF"/>
                          </a:solidFill>
                          <a:latin typeface="Calibri"/>
                          <a:cs typeface="Calibri"/>
                        </a:rPr>
                        <a:t>Description</a:t>
                      </a:r>
                      <a:endParaRPr sz="1600">
                        <a:latin typeface="Calibri"/>
                        <a:cs typeface="Calibri"/>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extLst>
                  <a:ext uri="{0D108BD9-81ED-4DB2-BD59-A6C34878D82A}">
                    <a16:rowId xmlns:a16="http://schemas.microsoft.com/office/drawing/2014/main" val="10000"/>
                  </a:ext>
                </a:extLst>
              </a:tr>
              <a:tr h="597535">
                <a:tc>
                  <a:txBody>
                    <a:bodyPr/>
                    <a:lstStyle/>
                    <a:p>
                      <a:pPr marL="58419">
                        <a:lnSpc>
                          <a:spcPct val="100000"/>
                        </a:lnSpc>
                        <a:spcBef>
                          <a:spcPts val="1295"/>
                        </a:spcBef>
                      </a:pPr>
                      <a:r>
                        <a:rPr sz="1600" b="1" dirty="0">
                          <a:latin typeface="Calibri"/>
                          <a:cs typeface="Calibri"/>
                        </a:rPr>
                        <a:t>1.</a:t>
                      </a:r>
                      <a:r>
                        <a:rPr sz="1600" b="1" spc="-30" dirty="0">
                          <a:latin typeface="Calibri"/>
                          <a:cs typeface="Calibri"/>
                        </a:rPr>
                        <a:t> </a:t>
                      </a:r>
                      <a:r>
                        <a:rPr sz="1600" b="1" dirty="0">
                          <a:latin typeface="Calibri"/>
                          <a:cs typeface="Calibri"/>
                        </a:rPr>
                        <a:t>User</a:t>
                      </a:r>
                      <a:r>
                        <a:rPr sz="1600" b="1" spc="-15" dirty="0">
                          <a:latin typeface="Calibri"/>
                          <a:cs typeface="Calibri"/>
                        </a:rPr>
                        <a:t> </a:t>
                      </a:r>
                      <a:r>
                        <a:rPr sz="1600" b="1" spc="-10" dirty="0">
                          <a:latin typeface="Calibri"/>
                          <a:cs typeface="Calibri"/>
                        </a:rPr>
                        <a:t>Identification</a:t>
                      </a:r>
                      <a:endParaRPr sz="1600">
                        <a:latin typeface="Calibri"/>
                        <a:cs typeface="Calibri"/>
                      </a:endParaRPr>
                    </a:p>
                  </a:txBody>
                  <a:tcPr marL="0" marR="0" marT="16446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59055">
                        <a:lnSpc>
                          <a:spcPct val="100000"/>
                        </a:lnSpc>
                        <a:spcBef>
                          <a:spcPts val="330"/>
                        </a:spcBef>
                      </a:pPr>
                      <a:r>
                        <a:rPr sz="1600" dirty="0">
                          <a:latin typeface="Calibri"/>
                          <a:cs typeface="Calibri"/>
                        </a:rPr>
                        <a:t>The</a:t>
                      </a:r>
                      <a:r>
                        <a:rPr sz="1600" spc="-25" dirty="0">
                          <a:latin typeface="Calibri"/>
                          <a:cs typeface="Calibri"/>
                        </a:rPr>
                        <a:t> </a:t>
                      </a:r>
                      <a:r>
                        <a:rPr sz="1600" spc="-10" dirty="0">
                          <a:latin typeface="Calibri"/>
                          <a:cs typeface="Calibri"/>
                        </a:rPr>
                        <a:t>system</a:t>
                      </a:r>
                      <a:r>
                        <a:rPr sz="1600" spc="-30" dirty="0">
                          <a:latin typeface="Calibri"/>
                          <a:cs typeface="Calibri"/>
                        </a:rPr>
                        <a:t> </a:t>
                      </a:r>
                      <a:r>
                        <a:rPr sz="1600" dirty="0">
                          <a:latin typeface="Calibri"/>
                          <a:cs typeface="Calibri"/>
                        </a:rPr>
                        <a:t>scans</a:t>
                      </a:r>
                      <a:r>
                        <a:rPr sz="1600" spc="-25" dirty="0">
                          <a:latin typeface="Calibri"/>
                          <a:cs typeface="Calibri"/>
                        </a:rPr>
                        <a:t> </a:t>
                      </a:r>
                      <a:r>
                        <a:rPr sz="1600" dirty="0">
                          <a:latin typeface="Calibri"/>
                          <a:cs typeface="Calibri"/>
                        </a:rPr>
                        <a:t>the</a:t>
                      </a:r>
                      <a:r>
                        <a:rPr sz="1600" spc="-25" dirty="0">
                          <a:latin typeface="Calibri"/>
                          <a:cs typeface="Calibri"/>
                        </a:rPr>
                        <a:t> </a:t>
                      </a:r>
                      <a:r>
                        <a:rPr sz="1600" spc="-10" dirty="0">
                          <a:latin typeface="Calibri"/>
                          <a:cs typeface="Calibri"/>
                        </a:rPr>
                        <a:t>fingerprint</a:t>
                      </a:r>
                      <a:r>
                        <a:rPr sz="1600" spc="-30" dirty="0">
                          <a:latin typeface="Calibri"/>
                          <a:cs typeface="Calibri"/>
                        </a:rPr>
                        <a:t> </a:t>
                      </a:r>
                      <a:r>
                        <a:rPr sz="1600" dirty="0">
                          <a:latin typeface="Calibri"/>
                          <a:cs typeface="Calibri"/>
                        </a:rPr>
                        <a:t>of</a:t>
                      </a:r>
                      <a:r>
                        <a:rPr sz="1600" spc="-15" dirty="0">
                          <a:latin typeface="Calibri"/>
                          <a:cs typeface="Calibri"/>
                        </a:rPr>
                        <a:t> </a:t>
                      </a:r>
                      <a:r>
                        <a:rPr sz="1600" dirty="0">
                          <a:latin typeface="Calibri"/>
                          <a:cs typeface="Calibri"/>
                        </a:rPr>
                        <a:t>the</a:t>
                      </a:r>
                      <a:r>
                        <a:rPr sz="1600" spc="-15" dirty="0">
                          <a:latin typeface="Calibri"/>
                          <a:cs typeface="Calibri"/>
                        </a:rPr>
                        <a:t> </a:t>
                      </a:r>
                      <a:r>
                        <a:rPr sz="1600" dirty="0">
                          <a:latin typeface="Calibri"/>
                          <a:cs typeface="Calibri"/>
                        </a:rPr>
                        <a:t>user</a:t>
                      </a:r>
                      <a:r>
                        <a:rPr sz="1600" spc="-25" dirty="0">
                          <a:latin typeface="Calibri"/>
                          <a:cs typeface="Calibri"/>
                        </a:rPr>
                        <a:t> </a:t>
                      </a:r>
                      <a:r>
                        <a:rPr sz="1600" dirty="0">
                          <a:latin typeface="Calibri"/>
                          <a:cs typeface="Calibri"/>
                        </a:rPr>
                        <a:t>through</a:t>
                      </a:r>
                      <a:r>
                        <a:rPr sz="1600" spc="-15" dirty="0">
                          <a:latin typeface="Calibri"/>
                          <a:cs typeface="Calibri"/>
                        </a:rPr>
                        <a:t> </a:t>
                      </a:r>
                      <a:r>
                        <a:rPr sz="1600" dirty="0">
                          <a:latin typeface="Calibri"/>
                          <a:cs typeface="Calibri"/>
                        </a:rPr>
                        <a:t>a</a:t>
                      </a:r>
                      <a:r>
                        <a:rPr sz="1600" spc="-15" dirty="0">
                          <a:latin typeface="Calibri"/>
                          <a:cs typeface="Calibri"/>
                        </a:rPr>
                        <a:t> </a:t>
                      </a:r>
                      <a:r>
                        <a:rPr sz="1600" b="1" spc="-10" dirty="0">
                          <a:latin typeface="Calibri"/>
                          <a:cs typeface="Calibri"/>
                        </a:rPr>
                        <a:t>biometric</a:t>
                      </a:r>
                      <a:endParaRPr sz="1600">
                        <a:latin typeface="Calibri"/>
                        <a:cs typeface="Calibri"/>
                      </a:endParaRPr>
                    </a:p>
                    <a:p>
                      <a:pPr marL="59055">
                        <a:lnSpc>
                          <a:spcPct val="100000"/>
                        </a:lnSpc>
                        <a:spcBef>
                          <a:spcPts val="5"/>
                        </a:spcBef>
                      </a:pPr>
                      <a:r>
                        <a:rPr sz="1600" b="1" dirty="0">
                          <a:latin typeface="Calibri"/>
                          <a:cs typeface="Calibri"/>
                        </a:rPr>
                        <a:t>sensor</a:t>
                      </a:r>
                      <a:r>
                        <a:rPr sz="1600" b="1" spc="-35" dirty="0">
                          <a:latin typeface="Calibri"/>
                          <a:cs typeface="Calibri"/>
                        </a:rPr>
                        <a:t> </a:t>
                      </a:r>
                      <a:r>
                        <a:rPr sz="1600" spc="-10" dirty="0">
                          <a:latin typeface="Calibri"/>
                          <a:cs typeface="Calibri"/>
                        </a:rPr>
                        <a:t>(R307/AS608).</a:t>
                      </a:r>
                      <a:endParaRPr sz="1600">
                        <a:latin typeface="Calibri"/>
                        <a:cs typeface="Calibri"/>
                      </a:endParaRPr>
                    </a:p>
                  </a:txBody>
                  <a:tcPr marL="0" marR="0" marT="4191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1"/>
                  </a:ext>
                </a:extLst>
              </a:tr>
              <a:tr h="854710">
                <a:tc>
                  <a:txBody>
                    <a:bodyPr/>
                    <a:lstStyle/>
                    <a:p>
                      <a:pPr>
                        <a:lnSpc>
                          <a:spcPct val="100000"/>
                        </a:lnSpc>
                        <a:spcBef>
                          <a:spcPts val="470"/>
                        </a:spcBef>
                      </a:pPr>
                      <a:endParaRPr sz="1600">
                        <a:latin typeface="Times New Roman"/>
                        <a:cs typeface="Times New Roman"/>
                      </a:endParaRPr>
                    </a:p>
                    <a:p>
                      <a:pPr marL="58419">
                        <a:lnSpc>
                          <a:spcPct val="100000"/>
                        </a:lnSpc>
                      </a:pPr>
                      <a:r>
                        <a:rPr sz="1600" b="1" dirty="0">
                          <a:latin typeface="Calibri"/>
                          <a:cs typeface="Calibri"/>
                        </a:rPr>
                        <a:t>2.</a:t>
                      </a:r>
                      <a:r>
                        <a:rPr sz="1600" b="1" spc="5" dirty="0">
                          <a:latin typeface="Calibri"/>
                          <a:cs typeface="Calibri"/>
                        </a:rPr>
                        <a:t> </a:t>
                      </a:r>
                      <a:r>
                        <a:rPr sz="1600" b="1" spc="-10" dirty="0">
                          <a:latin typeface="Calibri"/>
                          <a:cs typeface="Calibri"/>
                        </a:rPr>
                        <a:t>Authentication</a:t>
                      </a:r>
                      <a:r>
                        <a:rPr sz="1600" b="1" spc="5" dirty="0">
                          <a:latin typeface="Calibri"/>
                          <a:cs typeface="Calibri"/>
                        </a:rPr>
                        <a:t> </a:t>
                      </a:r>
                      <a:r>
                        <a:rPr sz="1600" b="1" spc="-10" dirty="0">
                          <a:latin typeface="Calibri"/>
                          <a:cs typeface="Calibri"/>
                        </a:rPr>
                        <a:t>Process</a:t>
                      </a:r>
                      <a:endParaRPr sz="1600">
                        <a:latin typeface="Calibri"/>
                        <a:cs typeface="Calibri"/>
                      </a:endParaRPr>
                    </a:p>
                  </a:txBody>
                  <a:tcPr marL="0" marR="0" marT="596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59055" marR="193040">
                        <a:lnSpc>
                          <a:spcPct val="100000"/>
                        </a:lnSpc>
                        <a:spcBef>
                          <a:spcPts val="390"/>
                        </a:spcBef>
                      </a:pPr>
                      <a:r>
                        <a:rPr sz="1600" dirty="0">
                          <a:latin typeface="Calibri"/>
                          <a:cs typeface="Calibri"/>
                        </a:rPr>
                        <a:t>If</a:t>
                      </a:r>
                      <a:r>
                        <a:rPr sz="1600" spc="-50" dirty="0">
                          <a:latin typeface="Calibri"/>
                          <a:cs typeface="Calibri"/>
                        </a:rPr>
                        <a:t> </a:t>
                      </a:r>
                      <a:r>
                        <a:rPr sz="1600" dirty="0">
                          <a:latin typeface="Calibri"/>
                          <a:cs typeface="Calibri"/>
                        </a:rPr>
                        <a:t>the</a:t>
                      </a:r>
                      <a:r>
                        <a:rPr sz="1600" spc="-30" dirty="0">
                          <a:latin typeface="Calibri"/>
                          <a:cs typeface="Calibri"/>
                        </a:rPr>
                        <a:t> </a:t>
                      </a:r>
                      <a:r>
                        <a:rPr sz="1600" spc="-10" dirty="0">
                          <a:latin typeface="Calibri"/>
                          <a:cs typeface="Calibri"/>
                        </a:rPr>
                        <a:t>fingerprint</a:t>
                      </a:r>
                      <a:r>
                        <a:rPr sz="1600" spc="-50" dirty="0">
                          <a:latin typeface="Calibri"/>
                          <a:cs typeface="Calibri"/>
                        </a:rPr>
                        <a:t> </a:t>
                      </a:r>
                      <a:r>
                        <a:rPr sz="1600" dirty="0">
                          <a:latin typeface="Calibri"/>
                          <a:cs typeface="Calibri"/>
                        </a:rPr>
                        <a:t>matches</a:t>
                      </a:r>
                      <a:r>
                        <a:rPr sz="1600" spc="-40" dirty="0">
                          <a:latin typeface="Calibri"/>
                          <a:cs typeface="Calibri"/>
                        </a:rPr>
                        <a:t> </a:t>
                      </a:r>
                      <a:r>
                        <a:rPr sz="1600" dirty="0">
                          <a:latin typeface="Calibri"/>
                          <a:cs typeface="Calibri"/>
                        </a:rPr>
                        <a:t>the</a:t>
                      </a:r>
                      <a:r>
                        <a:rPr sz="1600" spc="-30" dirty="0">
                          <a:latin typeface="Calibri"/>
                          <a:cs typeface="Calibri"/>
                        </a:rPr>
                        <a:t> </a:t>
                      </a:r>
                      <a:r>
                        <a:rPr sz="1600" spc="-10" dirty="0">
                          <a:latin typeface="Calibri"/>
                          <a:cs typeface="Calibri"/>
                        </a:rPr>
                        <a:t>stored</a:t>
                      </a:r>
                      <a:r>
                        <a:rPr sz="1600" spc="-30" dirty="0">
                          <a:latin typeface="Calibri"/>
                          <a:cs typeface="Calibri"/>
                        </a:rPr>
                        <a:t> </a:t>
                      </a:r>
                      <a:r>
                        <a:rPr sz="1600" dirty="0">
                          <a:latin typeface="Calibri"/>
                          <a:cs typeface="Calibri"/>
                        </a:rPr>
                        <a:t>template,</a:t>
                      </a:r>
                      <a:r>
                        <a:rPr sz="1600" spc="-45" dirty="0">
                          <a:latin typeface="Calibri"/>
                          <a:cs typeface="Calibri"/>
                        </a:rPr>
                        <a:t> </a:t>
                      </a:r>
                      <a:r>
                        <a:rPr sz="1600" dirty="0">
                          <a:latin typeface="Calibri"/>
                          <a:cs typeface="Calibri"/>
                        </a:rPr>
                        <a:t>the</a:t>
                      </a:r>
                      <a:r>
                        <a:rPr sz="1600" spc="-40" dirty="0">
                          <a:latin typeface="Calibri"/>
                          <a:cs typeface="Calibri"/>
                        </a:rPr>
                        <a:t> </a:t>
                      </a:r>
                      <a:r>
                        <a:rPr sz="1600" spc="-10" dirty="0">
                          <a:latin typeface="Calibri"/>
                          <a:cs typeface="Calibri"/>
                        </a:rPr>
                        <a:t>system generates</a:t>
                      </a:r>
                      <a:r>
                        <a:rPr sz="1600" spc="-25" dirty="0">
                          <a:latin typeface="Calibri"/>
                          <a:cs typeface="Calibri"/>
                        </a:rPr>
                        <a:t> </a:t>
                      </a:r>
                      <a:r>
                        <a:rPr sz="1600" dirty="0">
                          <a:latin typeface="Calibri"/>
                          <a:cs typeface="Calibri"/>
                        </a:rPr>
                        <a:t>a</a:t>
                      </a:r>
                      <a:r>
                        <a:rPr sz="1600" spc="-25" dirty="0">
                          <a:latin typeface="Calibri"/>
                          <a:cs typeface="Calibri"/>
                        </a:rPr>
                        <a:t> </a:t>
                      </a:r>
                      <a:r>
                        <a:rPr sz="1600" b="1" spc="-20" dirty="0">
                          <a:latin typeface="Calibri"/>
                          <a:cs typeface="Calibri"/>
                        </a:rPr>
                        <a:t>One-</a:t>
                      </a:r>
                      <a:r>
                        <a:rPr sz="1600" b="1" dirty="0">
                          <a:latin typeface="Calibri"/>
                          <a:cs typeface="Calibri"/>
                        </a:rPr>
                        <a:t>Time</a:t>
                      </a:r>
                      <a:r>
                        <a:rPr sz="1600" b="1" spc="-30" dirty="0">
                          <a:latin typeface="Calibri"/>
                          <a:cs typeface="Calibri"/>
                        </a:rPr>
                        <a:t> </a:t>
                      </a:r>
                      <a:r>
                        <a:rPr sz="1600" b="1" spc="-10" dirty="0">
                          <a:latin typeface="Calibri"/>
                          <a:cs typeface="Calibri"/>
                        </a:rPr>
                        <a:t>Password </a:t>
                      </a:r>
                      <a:r>
                        <a:rPr sz="1600" b="1" dirty="0">
                          <a:latin typeface="Calibri"/>
                          <a:cs typeface="Calibri"/>
                        </a:rPr>
                        <a:t>(OTP)</a:t>
                      </a:r>
                      <a:r>
                        <a:rPr sz="1600" b="1" spc="-5" dirty="0">
                          <a:latin typeface="Calibri"/>
                          <a:cs typeface="Calibri"/>
                        </a:rPr>
                        <a:t> </a:t>
                      </a:r>
                      <a:r>
                        <a:rPr sz="1600" dirty="0">
                          <a:latin typeface="Calibri"/>
                          <a:cs typeface="Calibri"/>
                        </a:rPr>
                        <a:t>and</a:t>
                      </a:r>
                      <a:r>
                        <a:rPr sz="1600" spc="-40" dirty="0">
                          <a:latin typeface="Calibri"/>
                          <a:cs typeface="Calibri"/>
                        </a:rPr>
                        <a:t> </a:t>
                      </a:r>
                      <a:r>
                        <a:rPr sz="1600" dirty="0">
                          <a:latin typeface="Calibri"/>
                          <a:cs typeface="Calibri"/>
                        </a:rPr>
                        <a:t>sends</a:t>
                      </a:r>
                      <a:r>
                        <a:rPr sz="1600" spc="-15" dirty="0">
                          <a:latin typeface="Calibri"/>
                          <a:cs typeface="Calibri"/>
                        </a:rPr>
                        <a:t> </a:t>
                      </a:r>
                      <a:r>
                        <a:rPr sz="1600" dirty="0">
                          <a:latin typeface="Calibri"/>
                          <a:cs typeface="Calibri"/>
                        </a:rPr>
                        <a:t>it</a:t>
                      </a:r>
                      <a:r>
                        <a:rPr sz="1600" spc="-40" dirty="0">
                          <a:latin typeface="Calibri"/>
                          <a:cs typeface="Calibri"/>
                        </a:rPr>
                        <a:t> </a:t>
                      </a:r>
                      <a:r>
                        <a:rPr sz="1600" dirty="0">
                          <a:latin typeface="Calibri"/>
                          <a:cs typeface="Calibri"/>
                        </a:rPr>
                        <a:t>to</a:t>
                      </a:r>
                      <a:r>
                        <a:rPr sz="1600" spc="-20" dirty="0">
                          <a:latin typeface="Calibri"/>
                          <a:cs typeface="Calibri"/>
                        </a:rPr>
                        <a:t> </a:t>
                      </a:r>
                      <a:r>
                        <a:rPr sz="1600" dirty="0">
                          <a:latin typeface="Calibri"/>
                          <a:cs typeface="Calibri"/>
                        </a:rPr>
                        <a:t>the</a:t>
                      </a:r>
                      <a:r>
                        <a:rPr sz="1600" spc="-35" dirty="0">
                          <a:latin typeface="Calibri"/>
                          <a:cs typeface="Calibri"/>
                        </a:rPr>
                        <a:t> </a:t>
                      </a:r>
                      <a:r>
                        <a:rPr sz="1600" spc="-10" dirty="0">
                          <a:latin typeface="Calibri"/>
                          <a:cs typeface="Calibri"/>
                        </a:rPr>
                        <a:t>user’s registered</a:t>
                      </a:r>
                      <a:r>
                        <a:rPr sz="1600" spc="-20" dirty="0">
                          <a:latin typeface="Calibri"/>
                          <a:cs typeface="Calibri"/>
                        </a:rPr>
                        <a:t> </a:t>
                      </a:r>
                      <a:r>
                        <a:rPr sz="1600" dirty="0">
                          <a:latin typeface="Calibri"/>
                          <a:cs typeface="Calibri"/>
                        </a:rPr>
                        <a:t>mobile</a:t>
                      </a:r>
                      <a:r>
                        <a:rPr sz="1600" spc="-35" dirty="0">
                          <a:latin typeface="Calibri"/>
                          <a:cs typeface="Calibri"/>
                        </a:rPr>
                        <a:t> </a:t>
                      </a:r>
                      <a:r>
                        <a:rPr sz="1600" dirty="0">
                          <a:latin typeface="Calibri"/>
                          <a:cs typeface="Calibri"/>
                        </a:rPr>
                        <a:t>via</a:t>
                      </a:r>
                      <a:r>
                        <a:rPr sz="1600" spc="-35" dirty="0">
                          <a:latin typeface="Calibri"/>
                          <a:cs typeface="Calibri"/>
                        </a:rPr>
                        <a:t> </a:t>
                      </a:r>
                      <a:r>
                        <a:rPr sz="1600" b="1" dirty="0">
                          <a:latin typeface="Calibri"/>
                          <a:cs typeface="Calibri"/>
                        </a:rPr>
                        <a:t>GSM</a:t>
                      </a:r>
                      <a:r>
                        <a:rPr sz="1600" b="1" spc="-15" dirty="0">
                          <a:latin typeface="Calibri"/>
                          <a:cs typeface="Calibri"/>
                        </a:rPr>
                        <a:t> </a:t>
                      </a:r>
                      <a:r>
                        <a:rPr sz="1600" b="1" dirty="0">
                          <a:latin typeface="Calibri"/>
                          <a:cs typeface="Calibri"/>
                        </a:rPr>
                        <a:t>module</a:t>
                      </a:r>
                      <a:r>
                        <a:rPr sz="1600" b="1" spc="-20" dirty="0">
                          <a:latin typeface="Calibri"/>
                          <a:cs typeface="Calibri"/>
                        </a:rPr>
                        <a:t> </a:t>
                      </a:r>
                      <a:r>
                        <a:rPr sz="1600" b="1" spc="-10" dirty="0">
                          <a:latin typeface="Calibri"/>
                          <a:cs typeface="Calibri"/>
                        </a:rPr>
                        <a:t>(SIM900/SIM800L)</a:t>
                      </a:r>
                      <a:r>
                        <a:rPr sz="1600" spc="-10" dirty="0">
                          <a:latin typeface="Calibri"/>
                          <a:cs typeface="Calibri"/>
                        </a:rPr>
                        <a:t>.</a:t>
                      </a:r>
                      <a:endParaRPr sz="1600">
                        <a:latin typeface="Calibri"/>
                        <a:cs typeface="Calibri"/>
                      </a:endParaRPr>
                    </a:p>
                  </a:txBody>
                  <a:tcPr marL="0" marR="0" marT="495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2"/>
                  </a:ext>
                </a:extLst>
              </a:tr>
              <a:tr h="596900">
                <a:tc>
                  <a:txBody>
                    <a:bodyPr/>
                    <a:lstStyle/>
                    <a:p>
                      <a:pPr marL="58419">
                        <a:lnSpc>
                          <a:spcPct val="100000"/>
                        </a:lnSpc>
                        <a:spcBef>
                          <a:spcPts val="1295"/>
                        </a:spcBef>
                      </a:pPr>
                      <a:r>
                        <a:rPr sz="1600" b="1" dirty="0">
                          <a:latin typeface="Calibri"/>
                          <a:cs typeface="Calibri"/>
                        </a:rPr>
                        <a:t>3.</a:t>
                      </a:r>
                      <a:r>
                        <a:rPr sz="1600" b="1" spc="-35" dirty="0">
                          <a:latin typeface="Calibri"/>
                          <a:cs typeface="Calibri"/>
                        </a:rPr>
                        <a:t> </a:t>
                      </a:r>
                      <a:r>
                        <a:rPr sz="1600" b="1" dirty="0">
                          <a:latin typeface="Calibri"/>
                          <a:cs typeface="Calibri"/>
                        </a:rPr>
                        <a:t>OTP</a:t>
                      </a:r>
                      <a:r>
                        <a:rPr sz="1600" b="1" spc="-25" dirty="0">
                          <a:latin typeface="Calibri"/>
                          <a:cs typeface="Calibri"/>
                        </a:rPr>
                        <a:t> </a:t>
                      </a:r>
                      <a:r>
                        <a:rPr sz="1600" b="1" spc="-10" dirty="0">
                          <a:latin typeface="Calibri"/>
                          <a:cs typeface="Calibri"/>
                        </a:rPr>
                        <a:t>Verification</a:t>
                      </a:r>
                      <a:endParaRPr sz="1600">
                        <a:latin typeface="Calibri"/>
                        <a:cs typeface="Calibri"/>
                      </a:endParaRPr>
                    </a:p>
                  </a:txBody>
                  <a:tcPr marL="0" marR="0" marT="1644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59055" marR="286385">
                        <a:lnSpc>
                          <a:spcPct val="100000"/>
                        </a:lnSpc>
                        <a:spcBef>
                          <a:spcPts val="335"/>
                        </a:spcBef>
                      </a:pPr>
                      <a:r>
                        <a:rPr sz="1600" dirty="0">
                          <a:latin typeface="Calibri"/>
                          <a:cs typeface="Calibri"/>
                        </a:rPr>
                        <a:t>The</a:t>
                      </a:r>
                      <a:r>
                        <a:rPr sz="1600" spc="-35" dirty="0">
                          <a:latin typeface="Calibri"/>
                          <a:cs typeface="Calibri"/>
                        </a:rPr>
                        <a:t> </a:t>
                      </a:r>
                      <a:r>
                        <a:rPr sz="1600" dirty="0">
                          <a:latin typeface="Calibri"/>
                          <a:cs typeface="Calibri"/>
                        </a:rPr>
                        <a:t>user</a:t>
                      </a:r>
                      <a:r>
                        <a:rPr sz="1600" spc="-20" dirty="0">
                          <a:latin typeface="Calibri"/>
                          <a:cs typeface="Calibri"/>
                        </a:rPr>
                        <a:t> </a:t>
                      </a:r>
                      <a:r>
                        <a:rPr sz="1600" spc="-10" dirty="0">
                          <a:latin typeface="Calibri"/>
                          <a:cs typeface="Calibri"/>
                        </a:rPr>
                        <a:t>enters</a:t>
                      </a:r>
                      <a:r>
                        <a:rPr sz="1600" spc="-20" dirty="0">
                          <a:latin typeface="Calibri"/>
                          <a:cs typeface="Calibri"/>
                        </a:rPr>
                        <a:t> </a:t>
                      </a:r>
                      <a:r>
                        <a:rPr sz="1600" dirty="0">
                          <a:latin typeface="Calibri"/>
                          <a:cs typeface="Calibri"/>
                        </a:rPr>
                        <a:t>the</a:t>
                      </a:r>
                      <a:r>
                        <a:rPr sz="1600" spc="-35" dirty="0">
                          <a:latin typeface="Calibri"/>
                          <a:cs typeface="Calibri"/>
                        </a:rPr>
                        <a:t> </a:t>
                      </a:r>
                      <a:r>
                        <a:rPr sz="1600" spc="-10" dirty="0">
                          <a:latin typeface="Calibri"/>
                          <a:cs typeface="Calibri"/>
                        </a:rPr>
                        <a:t>received</a:t>
                      </a:r>
                      <a:r>
                        <a:rPr sz="1600" dirty="0">
                          <a:latin typeface="Calibri"/>
                          <a:cs typeface="Calibri"/>
                        </a:rPr>
                        <a:t> </a:t>
                      </a:r>
                      <a:r>
                        <a:rPr sz="1600" spc="-60" dirty="0">
                          <a:latin typeface="Calibri"/>
                          <a:cs typeface="Calibri"/>
                        </a:rPr>
                        <a:t>OTP.</a:t>
                      </a:r>
                      <a:r>
                        <a:rPr sz="1600" spc="-25" dirty="0">
                          <a:latin typeface="Calibri"/>
                          <a:cs typeface="Calibri"/>
                        </a:rPr>
                        <a:t> </a:t>
                      </a:r>
                      <a:r>
                        <a:rPr sz="1600" dirty="0">
                          <a:latin typeface="Calibri"/>
                          <a:cs typeface="Calibri"/>
                        </a:rPr>
                        <a:t>If</a:t>
                      </a:r>
                      <a:r>
                        <a:rPr sz="1600" spc="-40" dirty="0">
                          <a:latin typeface="Calibri"/>
                          <a:cs typeface="Calibri"/>
                        </a:rPr>
                        <a:t> </a:t>
                      </a:r>
                      <a:r>
                        <a:rPr sz="1600" dirty="0">
                          <a:latin typeface="Calibri"/>
                          <a:cs typeface="Calibri"/>
                        </a:rPr>
                        <a:t>the</a:t>
                      </a:r>
                      <a:r>
                        <a:rPr sz="1600" spc="-25" dirty="0">
                          <a:latin typeface="Calibri"/>
                          <a:cs typeface="Calibri"/>
                        </a:rPr>
                        <a:t> </a:t>
                      </a:r>
                      <a:r>
                        <a:rPr sz="1600" dirty="0">
                          <a:latin typeface="Calibri"/>
                          <a:cs typeface="Calibri"/>
                        </a:rPr>
                        <a:t>OTP</a:t>
                      </a:r>
                      <a:r>
                        <a:rPr sz="1600" spc="-25" dirty="0">
                          <a:latin typeface="Calibri"/>
                          <a:cs typeface="Calibri"/>
                        </a:rPr>
                        <a:t> </a:t>
                      </a:r>
                      <a:r>
                        <a:rPr sz="1600" dirty="0">
                          <a:latin typeface="Calibri"/>
                          <a:cs typeface="Calibri"/>
                        </a:rPr>
                        <a:t>is</a:t>
                      </a:r>
                      <a:r>
                        <a:rPr sz="1600" spc="-35" dirty="0">
                          <a:latin typeface="Calibri"/>
                          <a:cs typeface="Calibri"/>
                        </a:rPr>
                        <a:t> </a:t>
                      </a:r>
                      <a:r>
                        <a:rPr sz="1600" dirty="0">
                          <a:latin typeface="Calibri"/>
                          <a:cs typeface="Calibri"/>
                        </a:rPr>
                        <a:t>valid,</a:t>
                      </a:r>
                      <a:r>
                        <a:rPr sz="1600" spc="-55" dirty="0">
                          <a:latin typeface="Calibri"/>
                          <a:cs typeface="Calibri"/>
                        </a:rPr>
                        <a:t> </a:t>
                      </a:r>
                      <a:r>
                        <a:rPr sz="1600" dirty="0">
                          <a:latin typeface="Calibri"/>
                          <a:cs typeface="Calibri"/>
                        </a:rPr>
                        <a:t>the</a:t>
                      </a:r>
                      <a:r>
                        <a:rPr sz="1600" spc="-20" dirty="0">
                          <a:latin typeface="Calibri"/>
                          <a:cs typeface="Calibri"/>
                        </a:rPr>
                        <a:t> </a:t>
                      </a:r>
                      <a:r>
                        <a:rPr sz="1600" spc="-10" dirty="0">
                          <a:latin typeface="Calibri"/>
                          <a:cs typeface="Calibri"/>
                        </a:rPr>
                        <a:t>system </a:t>
                      </a:r>
                      <a:r>
                        <a:rPr sz="1600" dirty="0">
                          <a:latin typeface="Calibri"/>
                          <a:cs typeface="Calibri"/>
                        </a:rPr>
                        <a:t>proceeds</a:t>
                      </a:r>
                      <a:r>
                        <a:rPr sz="1600" spc="-5" dirty="0">
                          <a:latin typeface="Calibri"/>
                          <a:cs typeface="Calibri"/>
                        </a:rPr>
                        <a:t> </a:t>
                      </a:r>
                      <a:r>
                        <a:rPr sz="1600" dirty="0">
                          <a:latin typeface="Calibri"/>
                          <a:cs typeface="Calibri"/>
                        </a:rPr>
                        <a:t>to</a:t>
                      </a:r>
                      <a:r>
                        <a:rPr sz="1600" spc="-30" dirty="0">
                          <a:latin typeface="Calibri"/>
                          <a:cs typeface="Calibri"/>
                        </a:rPr>
                        <a:t> </a:t>
                      </a:r>
                      <a:r>
                        <a:rPr sz="1600" dirty="0">
                          <a:latin typeface="Calibri"/>
                          <a:cs typeface="Calibri"/>
                        </a:rPr>
                        <a:t>unlock</a:t>
                      </a:r>
                      <a:r>
                        <a:rPr sz="1600" spc="-45" dirty="0">
                          <a:latin typeface="Calibri"/>
                          <a:cs typeface="Calibri"/>
                        </a:rPr>
                        <a:t> </a:t>
                      </a:r>
                      <a:r>
                        <a:rPr sz="1600" dirty="0">
                          <a:latin typeface="Calibri"/>
                          <a:cs typeface="Calibri"/>
                        </a:rPr>
                        <a:t>the</a:t>
                      </a:r>
                      <a:r>
                        <a:rPr sz="1600" spc="-25" dirty="0">
                          <a:latin typeface="Calibri"/>
                          <a:cs typeface="Calibri"/>
                        </a:rPr>
                        <a:t> </a:t>
                      </a:r>
                      <a:r>
                        <a:rPr sz="1600" dirty="0">
                          <a:latin typeface="Calibri"/>
                          <a:cs typeface="Calibri"/>
                        </a:rPr>
                        <a:t>vault;</a:t>
                      </a:r>
                      <a:r>
                        <a:rPr sz="1600" spc="-55" dirty="0">
                          <a:latin typeface="Calibri"/>
                          <a:cs typeface="Calibri"/>
                        </a:rPr>
                        <a:t> </a:t>
                      </a:r>
                      <a:r>
                        <a:rPr sz="1600" dirty="0">
                          <a:latin typeface="Calibri"/>
                          <a:cs typeface="Calibri"/>
                        </a:rPr>
                        <a:t>if</a:t>
                      </a:r>
                      <a:r>
                        <a:rPr sz="1600" spc="-45" dirty="0">
                          <a:latin typeface="Calibri"/>
                          <a:cs typeface="Calibri"/>
                        </a:rPr>
                        <a:t> </a:t>
                      </a:r>
                      <a:r>
                        <a:rPr sz="1600" dirty="0">
                          <a:latin typeface="Calibri"/>
                          <a:cs typeface="Calibri"/>
                        </a:rPr>
                        <a:t>invalid,</a:t>
                      </a:r>
                      <a:r>
                        <a:rPr sz="1600" spc="-60" dirty="0">
                          <a:latin typeface="Calibri"/>
                          <a:cs typeface="Calibri"/>
                        </a:rPr>
                        <a:t> </a:t>
                      </a:r>
                      <a:r>
                        <a:rPr sz="1600" dirty="0">
                          <a:latin typeface="Calibri"/>
                          <a:cs typeface="Calibri"/>
                        </a:rPr>
                        <a:t>an</a:t>
                      </a:r>
                      <a:r>
                        <a:rPr sz="1600" spc="-40" dirty="0">
                          <a:latin typeface="Calibri"/>
                          <a:cs typeface="Calibri"/>
                        </a:rPr>
                        <a:t> </a:t>
                      </a:r>
                      <a:r>
                        <a:rPr sz="1600" dirty="0">
                          <a:latin typeface="Calibri"/>
                          <a:cs typeface="Calibri"/>
                        </a:rPr>
                        <a:t>alert</a:t>
                      </a:r>
                      <a:r>
                        <a:rPr sz="1600" spc="-30" dirty="0">
                          <a:latin typeface="Calibri"/>
                          <a:cs typeface="Calibri"/>
                        </a:rPr>
                        <a:t> </a:t>
                      </a:r>
                      <a:r>
                        <a:rPr sz="1600" dirty="0">
                          <a:latin typeface="Calibri"/>
                          <a:cs typeface="Calibri"/>
                        </a:rPr>
                        <a:t>is</a:t>
                      </a:r>
                      <a:r>
                        <a:rPr sz="1600" spc="-35" dirty="0">
                          <a:latin typeface="Calibri"/>
                          <a:cs typeface="Calibri"/>
                        </a:rPr>
                        <a:t> </a:t>
                      </a:r>
                      <a:r>
                        <a:rPr sz="1600" spc="-10" dirty="0">
                          <a:latin typeface="Calibri"/>
                          <a:cs typeface="Calibri"/>
                        </a:rPr>
                        <a:t>raised.</a:t>
                      </a:r>
                      <a:endParaRPr sz="1600">
                        <a:latin typeface="Calibri"/>
                        <a:cs typeface="Calibri"/>
                      </a:endParaRPr>
                    </a:p>
                  </a:txBody>
                  <a:tcPr marL="0" marR="0" marT="4254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3"/>
                  </a:ext>
                </a:extLst>
              </a:tr>
              <a:tr h="789940">
                <a:tc>
                  <a:txBody>
                    <a:bodyPr/>
                    <a:lstStyle/>
                    <a:p>
                      <a:pPr>
                        <a:lnSpc>
                          <a:spcPct val="100000"/>
                        </a:lnSpc>
                        <a:spcBef>
                          <a:spcPts val="215"/>
                        </a:spcBef>
                      </a:pPr>
                      <a:endParaRPr sz="1600">
                        <a:latin typeface="Times New Roman"/>
                        <a:cs typeface="Times New Roman"/>
                      </a:endParaRPr>
                    </a:p>
                    <a:p>
                      <a:pPr marL="58419">
                        <a:lnSpc>
                          <a:spcPct val="100000"/>
                        </a:lnSpc>
                      </a:pPr>
                      <a:r>
                        <a:rPr sz="1600" b="1" dirty="0">
                          <a:latin typeface="Calibri"/>
                          <a:cs typeface="Calibri"/>
                        </a:rPr>
                        <a:t>4.</a:t>
                      </a:r>
                      <a:r>
                        <a:rPr sz="1600" b="1" spc="-30" dirty="0">
                          <a:latin typeface="Calibri"/>
                          <a:cs typeface="Calibri"/>
                        </a:rPr>
                        <a:t> </a:t>
                      </a:r>
                      <a:r>
                        <a:rPr sz="1600" b="1" spc="-10" dirty="0">
                          <a:latin typeface="Calibri"/>
                          <a:cs typeface="Calibri"/>
                        </a:rPr>
                        <a:t>Vault</a:t>
                      </a:r>
                      <a:r>
                        <a:rPr sz="1600" b="1" spc="-35" dirty="0">
                          <a:latin typeface="Calibri"/>
                          <a:cs typeface="Calibri"/>
                        </a:rPr>
                        <a:t> </a:t>
                      </a:r>
                      <a:r>
                        <a:rPr sz="1600" b="1" spc="-10" dirty="0">
                          <a:latin typeface="Calibri"/>
                          <a:cs typeface="Calibri"/>
                        </a:rPr>
                        <a:t>Control</a:t>
                      </a:r>
                      <a:endParaRPr sz="1600">
                        <a:latin typeface="Calibri"/>
                        <a:cs typeface="Calibri"/>
                      </a:endParaRPr>
                    </a:p>
                  </a:txBody>
                  <a:tcPr marL="0" marR="0" marT="273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59055" marR="56515">
                        <a:lnSpc>
                          <a:spcPct val="100000"/>
                        </a:lnSpc>
                        <a:spcBef>
                          <a:spcPts val="135"/>
                        </a:spcBef>
                      </a:pPr>
                      <a:r>
                        <a:rPr sz="1600" dirty="0">
                          <a:latin typeface="Calibri"/>
                          <a:cs typeface="Calibri"/>
                        </a:rPr>
                        <a:t>The</a:t>
                      </a:r>
                      <a:r>
                        <a:rPr sz="1600" spc="-35" dirty="0">
                          <a:latin typeface="Calibri"/>
                          <a:cs typeface="Calibri"/>
                        </a:rPr>
                        <a:t> </a:t>
                      </a:r>
                      <a:r>
                        <a:rPr sz="1600" b="1" dirty="0">
                          <a:latin typeface="Calibri"/>
                          <a:cs typeface="Calibri"/>
                        </a:rPr>
                        <a:t>servo</a:t>
                      </a:r>
                      <a:r>
                        <a:rPr sz="1600" b="1" spc="-20" dirty="0">
                          <a:latin typeface="Calibri"/>
                          <a:cs typeface="Calibri"/>
                        </a:rPr>
                        <a:t> </a:t>
                      </a:r>
                      <a:r>
                        <a:rPr sz="1600" b="1" dirty="0">
                          <a:latin typeface="Calibri"/>
                          <a:cs typeface="Calibri"/>
                        </a:rPr>
                        <a:t>motor</a:t>
                      </a:r>
                      <a:r>
                        <a:rPr sz="1600" b="1" spc="-20" dirty="0">
                          <a:latin typeface="Calibri"/>
                          <a:cs typeface="Calibri"/>
                        </a:rPr>
                        <a:t> </a:t>
                      </a:r>
                      <a:r>
                        <a:rPr sz="1600" dirty="0">
                          <a:latin typeface="Calibri"/>
                          <a:cs typeface="Calibri"/>
                        </a:rPr>
                        <a:t>is</a:t>
                      </a:r>
                      <a:r>
                        <a:rPr sz="1600" spc="-35" dirty="0">
                          <a:latin typeface="Calibri"/>
                          <a:cs typeface="Calibri"/>
                        </a:rPr>
                        <a:t> </a:t>
                      </a:r>
                      <a:r>
                        <a:rPr sz="1600" spc="-10" dirty="0">
                          <a:latin typeface="Calibri"/>
                          <a:cs typeface="Calibri"/>
                        </a:rPr>
                        <a:t>activated</a:t>
                      </a:r>
                      <a:r>
                        <a:rPr sz="1600" spc="-55" dirty="0">
                          <a:latin typeface="Calibri"/>
                          <a:cs typeface="Calibri"/>
                        </a:rPr>
                        <a:t> </a:t>
                      </a:r>
                      <a:r>
                        <a:rPr sz="1600" dirty="0">
                          <a:latin typeface="Calibri"/>
                          <a:cs typeface="Calibri"/>
                        </a:rPr>
                        <a:t>to</a:t>
                      </a:r>
                      <a:r>
                        <a:rPr sz="1600" spc="-25" dirty="0">
                          <a:latin typeface="Calibri"/>
                          <a:cs typeface="Calibri"/>
                        </a:rPr>
                        <a:t> </a:t>
                      </a:r>
                      <a:r>
                        <a:rPr sz="1600" dirty="0">
                          <a:latin typeface="Calibri"/>
                          <a:cs typeface="Calibri"/>
                        </a:rPr>
                        <a:t>open</a:t>
                      </a:r>
                      <a:r>
                        <a:rPr sz="1600" spc="-25" dirty="0">
                          <a:latin typeface="Calibri"/>
                          <a:cs typeface="Calibri"/>
                        </a:rPr>
                        <a:t> </a:t>
                      </a:r>
                      <a:r>
                        <a:rPr sz="1600" dirty="0">
                          <a:latin typeface="Calibri"/>
                          <a:cs typeface="Calibri"/>
                        </a:rPr>
                        <a:t>or</a:t>
                      </a:r>
                      <a:r>
                        <a:rPr sz="1600" spc="-15" dirty="0">
                          <a:latin typeface="Calibri"/>
                          <a:cs typeface="Calibri"/>
                        </a:rPr>
                        <a:t> </a:t>
                      </a:r>
                      <a:r>
                        <a:rPr sz="1600" dirty="0">
                          <a:latin typeface="Calibri"/>
                          <a:cs typeface="Calibri"/>
                        </a:rPr>
                        <a:t>close</a:t>
                      </a:r>
                      <a:r>
                        <a:rPr sz="1600" spc="-25" dirty="0">
                          <a:latin typeface="Calibri"/>
                          <a:cs typeface="Calibri"/>
                        </a:rPr>
                        <a:t> </a:t>
                      </a:r>
                      <a:r>
                        <a:rPr sz="1600" dirty="0">
                          <a:latin typeface="Calibri"/>
                          <a:cs typeface="Calibri"/>
                        </a:rPr>
                        <a:t>the</a:t>
                      </a:r>
                      <a:r>
                        <a:rPr sz="1600" spc="-20" dirty="0">
                          <a:latin typeface="Calibri"/>
                          <a:cs typeface="Calibri"/>
                        </a:rPr>
                        <a:t> </a:t>
                      </a:r>
                      <a:r>
                        <a:rPr sz="1600" spc="-10" dirty="0">
                          <a:latin typeface="Calibri"/>
                          <a:cs typeface="Calibri"/>
                        </a:rPr>
                        <a:t>vault </a:t>
                      </a:r>
                      <a:r>
                        <a:rPr sz="1600" spc="-20" dirty="0">
                          <a:latin typeface="Calibri"/>
                          <a:cs typeface="Calibri"/>
                        </a:rPr>
                        <a:t>automatically.</a:t>
                      </a:r>
                      <a:r>
                        <a:rPr sz="1600" spc="-75" dirty="0">
                          <a:latin typeface="Calibri"/>
                          <a:cs typeface="Calibri"/>
                        </a:rPr>
                        <a:t> </a:t>
                      </a:r>
                      <a:r>
                        <a:rPr sz="1600" dirty="0">
                          <a:latin typeface="Calibri"/>
                          <a:cs typeface="Calibri"/>
                        </a:rPr>
                        <a:t>The</a:t>
                      </a:r>
                      <a:r>
                        <a:rPr sz="1600" spc="-30" dirty="0">
                          <a:latin typeface="Calibri"/>
                          <a:cs typeface="Calibri"/>
                        </a:rPr>
                        <a:t> </a:t>
                      </a:r>
                      <a:r>
                        <a:rPr sz="1600" b="1" dirty="0">
                          <a:latin typeface="Calibri"/>
                          <a:cs typeface="Calibri"/>
                        </a:rPr>
                        <a:t>LCD</a:t>
                      </a:r>
                      <a:r>
                        <a:rPr sz="1600" b="1" spc="-30" dirty="0">
                          <a:latin typeface="Calibri"/>
                          <a:cs typeface="Calibri"/>
                        </a:rPr>
                        <a:t> </a:t>
                      </a:r>
                      <a:r>
                        <a:rPr sz="1600" b="1" dirty="0">
                          <a:latin typeface="Calibri"/>
                          <a:cs typeface="Calibri"/>
                        </a:rPr>
                        <a:t>display</a:t>
                      </a:r>
                      <a:r>
                        <a:rPr sz="1600" b="1" spc="-60" dirty="0">
                          <a:latin typeface="Calibri"/>
                          <a:cs typeface="Calibri"/>
                        </a:rPr>
                        <a:t> </a:t>
                      </a:r>
                      <a:r>
                        <a:rPr sz="1600" dirty="0">
                          <a:latin typeface="Calibri"/>
                          <a:cs typeface="Calibri"/>
                        </a:rPr>
                        <a:t>shows</a:t>
                      </a:r>
                      <a:r>
                        <a:rPr sz="1600" spc="-25" dirty="0">
                          <a:latin typeface="Calibri"/>
                          <a:cs typeface="Calibri"/>
                        </a:rPr>
                        <a:t> </a:t>
                      </a:r>
                      <a:r>
                        <a:rPr sz="1600" dirty="0">
                          <a:latin typeface="Calibri"/>
                          <a:cs typeface="Calibri"/>
                        </a:rPr>
                        <a:t>status</a:t>
                      </a:r>
                      <a:r>
                        <a:rPr sz="1600" spc="-60" dirty="0">
                          <a:latin typeface="Calibri"/>
                          <a:cs typeface="Calibri"/>
                        </a:rPr>
                        <a:t> </a:t>
                      </a:r>
                      <a:r>
                        <a:rPr sz="1600" dirty="0">
                          <a:latin typeface="Calibri"/>
                          <a:cs typeface="Calibri"/>
                        </a:rPr>
                        <a:t>messages</a:t>
                      </a:r>
                      <a:r>
                        <a:rPr sz="1600" spc="-35" dirty="0">
                          <a:latin typeface="Calibri"/>
                          <a:cs typeface="Calibri"/>
                        </a:rPr>
                        <a:t> </a:t>
                      </a:r>
                      <a:r>
                        <a:rPr sz="1600" dirty="0">
                          <a:latin typeface="Calibri"/>
                          <a:cs typeface="Calibri"/>
                        </a:rPr>
                        <a:t>like</a:t>
                      </a:r>
                      <a:r>
                        <a:rPr sz="1600" spc="-50" dirty="0">
                          <a:latin typeface="Calibri"/>
                          <a:cs typeface="Calibri"/>
                        </a:rPr>
                        <a:t> </a:t>
                      </a:r>
                      <a:r>
                        <a:rPr sz="1600" spc="-10" dirty="0">
                          <a:latin typeface="Calibri"/>
                          <a:cs typeface="Calibri"/>
                        </a:rPr>
                        <a:t>“Access Granted”</a:t>
                      </a:r>
                      <a:r>
                        <a:rPr sz="1600" spc="-25" dirty="0">
                          <a:latin typeface="Calibri"/>
                          <a:cs typeface="Calibri"/>
                        </a:rPr>
                        <a:t> </a:t>
                      </a:r>
                      <a:r>
                        <a:rPr sz="1600" dirty="0">
                          <a:latin typeface="Calibri"/>
                          <a:cs typeface="Calibri"/>
                        </a:rPr>
                        <a:t>or</a:t>
                      </a:r>
                      <a:r>
                        <a:rPr sz="1600" spc="-20" dirty="0">
                          <a:latin typeface="Calibri"/>
                          <a:cs typeface="Calibri"/>
                        </a:rPr>
                        <a:t> </a:t>
                      </a:r>
                      <a:r>
                        <a:rPr sz="1600" spc="-25" dirty="0">
                          <a:latin typeface="Calibri"/>
                          <a:cs typeface="Calibri"/>
                        </a:rPr>
                        <a:t>“Access </a:t>
                      </a:r>
                      <a:r>
                        <a:rPr sz="1600" spc="-10" dirty="0">
                          <a:latin typeface="Calibri"/>
                          <a:cs typeface="Calibri"/>
                        </a:rPr>
                        <a:t>Denied.”</a:t>
                      </a:r>
                      <a:endParaRPr sz="1600">
                        <a:latin typeface="Calibri"/>
                        <a:cs typeface="Calibri"/>
                      </a:endParaRPr>
                    </a:p>
                  </a:txBody>
                  <a:tcPr marL="0" marR="0" marT="1714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4"/>
                  </a:ext>
                </a:extLst>
              </a:tr>
              <a:tr h="789940">
                <a:tc>
                  <a:txBody>
                    <a:bodyPr/>
                    <a:lstStyle/>
                    <a:p>
                      <a:pPr>
                        <a:lnSpc>
                          <a:spcPct val="100000"/>
                        </a:lnSpc>
                        <a:spcBef>
                          <a:spcPts val="215"/>
                        </a:spcBef>
                      </a:pPr>
                      <a:endParaRPr sz="1600">
                        <a:latin typeface="Times New Roman"/>
                        <a:cs typeface="Times New Roman"/>
                      </a:endParaRPr>
                    </a:p>
                    <a:p>
                      <a:pPr marL="58419">
                        <a:lnSpc>
                          <a:spcPct val="100000"/>
                        </a:lnSpc>
                      </a:pPr>
                      <a:r>
                        <a:rPr sz="1600" b="1" dirty="0">
                          <a:latin typeface="Calibri"/>
                          <a:cs typeface="Calibri"/>
                        </a:rPr>
                        <a:t>5.</a:t>
                      </a:r>
                      <a:r>
                        <a:rPr sz="1600" b="1" spc="-20" dirty="0">
                          <a:latin typeface="Calibri"/>
                          <a:cs typeface="Calibri"/>
                        </a:rPr>
                        <a:t> </a:t>
                      </a:r>
                      <a:r>
                        <a:rPr sz="1600" b="1" dirty="0">
                          <a:latin typeface="Calibri"/>
                          <a:cs typeface="Calibri"/>
                        </a:rPr>
                        <a:t>IoT</a:t>
                      </a:r>
                      <a:r>
                        <a:rPr sz="1600" b="1" spc="-15" dirty="0">
                          <a:latin typeface="Calibri"/>
                          <a:cs typeface="Calibri"/>
                        </a:rPr>
                        <a:t> </a:t>
                      </a:r>
                      <a:r>
                        <a:rPr sz="1600" b="1" spc="-10" dirty="0">
                          <a:latin typeface="Calibri"/>
                          <a:cs typeface="Calibri"/>
                        </a:rPr>
                        <a:t>Integration</a:t>
                      </a:r>
                      <a:endParaRPr sz="1600">
                        <a:latin typeface="Calibri"/>
                        <a:cs typeface="Calibri"/>
                      </a:endParaRPr>
                    </a:p>
                  </a:txBody>
                  <a:tcPr marL="0" marR="0" marT="273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59055" marR="497205" algn="just">
                        <a:lnSpc>
                          <a:spcPct val="100000"/>
                        </a:lnSpc>
                        <a:spcBef>
                          <a:spcPts val="135"/>
                        </a:spcBef>
                      </a:pPr>
                      <a:r>
                        <a:rPr sz="1600" dirty="0">
                          <a:latin typeface="Calibri"/>
                          <a:cs typeface="Calibri"/>
                        </a:rPr>
                        <a:t>Through</a:t>
                      </a:r>
                      <a:r>
                        <a:rPr sz="1600" spc="-55" dirty="0">
                          <a:latin typeface="Calibri"/>
                          <a:cs typeface="Calibri"/>
                        </a:rPr>
                        <a:t> </a:t>
                      </a:r>
                      <a:r>
                        <a:rPr sz="1600" dirty="0">
                          <a:latin typeface="Calibri"/>
                          <a:cs typeface="Calibri"/>
                        </a:rPr>
                        <a:t>the</a:t>
                      </a:r>
                      <a:r>
                        <a:rPr sz="1600" spc="-45" dirty="0">
                          <a:latin typeface="Calibri"/>
                          <a:cs typeface="Calibri"/>
                        </a:rPr>
                        <a:t> </a:t>
                      </a:r>
                      <a:r>
                        <a:rPr sz="1600" dirty="0">
                          <a:latin typeface="Calibri"/>
                          <a:cs typeface="Calibri"/>
                        </a:rPr>
                        <a:t>IoT</a:t>
                      </a:r>
                      <a:r>
                        <a:rPr sz="1600" spc="-50" dirty="0">
                          <a:latin typeface="Calibri"/>
                          <a:cs typeface="Calibri"/>
                        </a:rPr>
                        <a:t> </a:t>
                      </a:r>
                      <a:r>
                        <a:rPr sz="1600" dirty="0">
                          <a:latin typeface="Calibri"/>
                          <a:cs typeface="Calibri"/>
                        </a:rPr>
                        <a:t>module</a:t>
                      </a:r>
                      <a:r>
                        <a:rPr sz="1600" spc="-55" dirty="0">
                          <a:latin typeface="Calibri"/>
                          <a:cs typeface="Calibri"/>
                        </a:rPr>
                        <a:t> </a:t>
                      </a:r>
                      <a:r>
                        <a:rPr sz="1600" dirty="0">
                          <a:latin typeface="Calibri"/>
                          <a:cs typeface="Calibri"/>
                        </a:rPr>
                        <a:t>(NodeMCU</a:t>
                      </a:r>
                      <a:r>
                        <a:rPr sz="1600" spc="-25" dirty="0">
                          <a:latin typeface="Calibri"/>
                          <a:cs typeface="Calibri"/>
                        </a:rPr>
                        <a:t> </a:t>
                      </a:r>
                      <a:r>
                        <a:rPr sz="1600" dirty="0">
                          <a:latin typeface="Calibri"/>
                          <a:cs typeface="Calibri"/>
                        </a:rPr>
                        <a:t>or</a:t>
                      </a:r>
                      <a:r>
                        <a:rPr sz="1600" spc="-35" dirty="0">
                          <a:latin typeface="Calibri"/>
                          <a:cs typeface="Calibri"/>
                        </a:rPr>
                        <a:t> </a:t>
                      </a:r>
                      <a:r>
                        <a:rPr sz="1600" dirty="0">
                          <a:latin typeface="Calibri"/>
                          <a:cs typeface="Calibri"/>
                        </a:rPr>
                        <a:t>ESP8266),</a:t>
                      </a:r>
                      <a:r>
                        <a:rPr sz="1600" spc="-15" dirty="0">
                          <a:latin typeface="Calibri"/>
                          <a:cs typeface="Calibri"/>
                        </a:rPr>
                        <a:t> </a:t>
                      </a:r>
                      <a:r>
                        <a:rPr sz="1600" dirty="0">
                          <a:latin typeface="Calibri"/>
                          <a:cs typeface="Calibri"/>
                        </a:rPr>
                        <a:t>the</a:t>
                      </a:r>
                      <a:r>
                        <a:rPr sz="1600" spc="-45" dirty="0">
                          <a:latin typeface="Calibri"/>
                          <a:cs typeface="Calibri"/>
                        </a:rPr>
                        <a:t> </a:t>
                      </a:r>
                      <a:r>
                        <a:rPr sz="1600" spc="-10" dirty="0">
                          <a:latin typeface="Calibri"/>
                          <a:cs typeface="Calibri"/>
                        </a:rPr>
                        <a:t>system </a:t>
                      </a:r>
                      <a:r>
                        <a:rPr sz="1600" dirty="0">
                          <a:latin typeface="Calibri"/>
                          <a:cs typeface="Calibri"/>
                        </a:rPr>
                        <a:t>updates</a:t>
                      </a:r>
                      <a:r>
                        <a:rPr sz="1600" spc="-55" dirty="0">
                          <a:latin typeface="Calibri"/>
                          <a:cs typeface="Calibri"/>
                        </a:rPr>
                        <a:t> </a:t>
                      </a:r>
                      <a:r>
                        <a:rPr sz="1600" dirty="0">
                          <a:latin typeface="Calibri"/>
                          <a:cs typeface="Calibri"/>
                        </a:rPr>
                        <a:t>vault</a:t>
                      </a:r>
                      <a:r>
                        <a:rPr sz="1600" spc="-45" dirty="0">
                          <a:latin typeface="Calibri"/>
                          <a:cs typeface="Calibri"/>
                        </a:rPr>
                        <a:t> </a:t>
                      </a:r>
                      <a:r>
                        <a:rPr sz="1600" dirty="0">
                          <a:latin typeface="Calibri"/>
                          <a:cs typeface="Calibri"/>
                        </a:rPr>
                        <a:t>status</a:t>
                      </a:r>
                      <a:r>
                        <a:rPr sz="1600" spc="-45" dirty="0">
                          <a:latin typeface="Calibri"/>
                          <a:cs typeface="Calibri"/>
                        </a:rPr>
                        <a:t> </a:t>
                      </a:r>
                      <a:r>
                        <a:rPr sz="1600" spc="-10" dirty="0">
                          <a:latin typeface="Calibri"/>
                          <a:cs typeface="Calibri"/>
                        </a:rPr>
                        <a:t>(locked/unlocked/alert)</a:t>
                      </a:r>
                      <a:r>
                        <a:rPr sz="1600" spc="-20" dirty="0">
                          <a:latin typeface="Calibri"/>
                          <a:cs typeface="Calibri"/>
                        </a:rPr>
                        <a:t> </a:t>
                      </a:r>
                      <a:r>
                        <a:rPr sz="1600" dirty="0">
                          <a:latin typeface="Calibri"/>
                          <a:cs typeface="Calibri"/>
                        </a:rPr>
                        <a:t>to</a:t>
                      </a:r>
                      <a:r>
                        <a:rPr sz="1600" spc="-30" dirty="0">
                          <a:latin typeface="Calibri"/>
                          <a:cs typeface="Calibri"/>
                        </a:rPr>
                        <a:t> </a:t>
                      </a:r>
                      <a:r>
                        <a:rPr sz="1600" dirty="0">
                          <a:latin typeface="Calibri"/>
                          <a:cs typeface="Calibri"/>
                        </a:rPr>
                        <a:t>the</a:t>
                      </a:r>
                      <a:r>
                        <a:rPr sz="1600" spc="-40" dirty="0">
                          <a:latin typeface="Calibri"/>
                          <a:cs typeface="Calibri"/>
                        </a:rPr>
                        <a:t> </a:t>
                      </a:r>
                      <a:r>
                        <a:rPr sz="1600" dirty="0">
                          <a:latin typeface="Calibri"/>
                          <a:cs typeface="Calibri"/>
                        </a:rPr>
                        <a:t>cloud</a:t>
                      </a:r>
                      <a:r>
                        <a:rPr sz="1600" spc="-30" dirty="0">
                          <a:latin typeface="Calibri"/>
                          <a:cs typeface="Calibri"/>
                        </a:rPr>
                        <a:t> </a:t>
                      </a:r>
                      <a:r>
                        <a:rPr sz="1600" spc="-25" dirty="0">
                          <a:latin typeface="Calibri"/>
                          <a:cs typeface="Calibri"/>
                        </a:rPr>
                        <a:t>for </a:t>
                      </a:r>
                      <a:r>
                        <a:rPr sz="1600" b="1" spc="-10" dirty="0">
                          <a:latin typeface="Calibri"/>
                          <a:cs typeface="Calibri"/>
                        </a:rPr>
                        <a:t>remote</a:t>
                      </a:r>
                      <a:r>
                        <a:rPr sz="1600" b="1" spc="-35" dirty="0">
                          <a:latin typeface="Calibri"/>
                          <a:cs typeface="Calibri"/>
                        </a:rPr>
                        <a:t> </a:t>
                      </a:r>
                      <a:r>
                        <a:rPr sz="1600" b="1" spc="-10" dirty="0">
                          <a:latin typeface="Calibri"/>
                          <a:cs typeface="Calibri"/>
                        </a:rPr>
                        <a:t>monitoring</a:t>
                      </a:r>
                      <a:r>
                        <a:rPr sz="1600" spc="-10" dirty="0">
                          <a:latin typeface="Calibri"/>
                          <a:cs typeface="Calibri"/>
                        </a:rPr>
                        <a:t>.</a:t>
                      </a:r>
                      <a:endParaRPr sz="1600">
                        <a:latin typeface="Calibri"/>
                        <a:cs typeface="Calibri"/>
                      </a:endParaRPr>
                    </a:p>
                  </a:txBody>
                  <a:tcPr marL="0" marR="0" marT="1714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5"/>
                  </a:ext>
                </a:extLst>
              </a:tr>
              <a:tr h="596900">
                <a:tc>
                  <a:txBody>
                    <a:bodyPr/>
                    <a:lstStyle/>
                    <a:p>
                      <a:pPr marL="58419">
                        <a:lnSpc>
                          <a:spcPct val="100000"/>
                        </a:lnSpc>
                        <a:spcBef>
                          <a:spcPts val="1300"/>
                        </a:spcBef>
                      </a:pPr>
                      <a:r>
                        <a:rPr sz="1600" b="1" dirty="0">
                          <a:latin typeface="Calibri"/>
                          <a:cs typeface="Calibri"/>
                        </a:rPr>
                        <a:t>6.</a:t>
                      </a:r>
                      <a:r>
                        <a:rPr sz="1600" b="1" spc="-40" dirty="0">
                          <a:latin typeface="Calibri"/>
                          <a:cs typeface="Calibri"/>
                        </a:rPr>
                        <a:t> </a:t>
                      </a:r>
                      <a:r>
                        <a:rPr sz="1600" b="1" dirty="0">
                          <a:latin typeface="Calibri"/>
                          <a:cs typeface="Calibri"/>
                        </a:rPr>
                        <a:t>Security</a:t>
                      </a:r>
                      <a:r>
                        <a:rPr sz="1600" b="1" spc="-25" dirty="0">
                          <a:latin typeface="Calibri"/>
                          <a:cs typeface="Calibri"/>
                        </a:rPr>
                        <a:t> </a:t>
                      </a:r>
                      <a:r>
                        <a:rPr sz="1600" b="1" spc="-10" dirty="0">
                          <a:latin typeface="Calibri"/>
                          <a:cs typeface="Calibri"/>
                        </a:rPr>
                        <a:t>Alert</a:t>
                      </a:r>
                      <a:endParaRPr sz="1600">
                        <a:latin typeface="Calibri"/>
                        <a:cs typeface="Calibri"/>
                      </a:endParaRPr>
                    </a:p>
                  </a:txBody>
                  <a:tcPr marL="0" marR="0" marT="165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59055">
                        <a:lnSpc>
                          <a:spcPct val="100000"/>
                        </a:lnSpc>
                        <a:spcBef>
                          <a:spcPts val="340"/>
                        </a:spcBef>
                      </a:pPr>
                      <a:r>
                        <a:rPr sz="1600" dirty="0">
                          <a:latin typeface="Calibri"/>
                          <a:cs typeface="Calibri"/>
                        </a:rPr>
                        <a:t>On</a:t>
                      </a:r>
                      <a:r>
                        <a:rPr sz="1600" spc="-20" dirty="0">
                          <a:latin typeface="Calibri"/>
                          <a:cs typeface="Calibri"/>
                        </a:rPr>
                        <a:t> </a:t>
                      </a:r>
                      <a:r>
                        <a:rPr sz="1600" dirty="0">
                          <a:latin typeface="Calibri"/>
                          <a:cs typeface="Calibri"/>
                        </a:rPr>
                        <a:t>any</a:t>
                      </a:r>
                      <a:r>
                        <a:rPr sz="1600" spc="-40" dirty="0">
                          <a:latin typeface="Calibri"/>
                          <a:cs typeface="Calibri"/>
                        </a:rPr>
                        <a:t> </a:t>
                      </a:r>
                      <a:r>
                        <a:rPr sz="1600" spc="-10" dirty="0">
                          <a:latin typeface="Calibri"/>
                          <a:cs typeface="Calibri"/>
                        </a:rPr>
                        <a:t>unauthorized</a:t>
                      </a:r>
                      <a:r>
                        <a:rPr sz="1600" spc="-30" dirty="0">
                          <a:latin typeface="Calibri"/>
                          <a:cs typeface="Calibri"/>
                        </a:rPr>
                        <a:t> </a:t>
                      </a:r>
                      <a:r>
                        <a:rPr sz="1600" spc="-10" dirty="0">
                          <a:latin typeface="Calibri"/>
                          <a:cs typeface="Calibri"/>
                        </a:rPr>
                        <a:t>attempt</a:t>
                      </a:r>
                      <a:r>
                        <a:rPr sz="1600" spc="-25" dirty="0">
                          <a:latin typeface="Calibri"/>
                          <a:cs typeface="Calibri"/>
                        </a:rPr>
                        <a:t> </a:t>
                      </a:r>
                      <a:r>
                        <a:rPr sz="1600" dirty="0">
                          <a:latin typeface="Calibri"/>
                          <a:cs typeface="Calibri"/>
                        </a:rPr>
                        <a:t>(wrong</a:t>
                      </a:r>
                      <a:r>
                        <a:rPr sz="1600" spc="-5" dirty="0">
                          <a:latin typeface="Calibri"/>
                          <a:cs typeface="Calibri"/>
                        </a:rPr>
                        <a:t> </a:t>
                      </a:r>
                      <a:r>
                        <a:rPr sz="1600" spc="-10" dirty="0">
                          <a:latin typeface="Calibri"/>
                          <a:cs typeface="Calibri"/>
                        </a:rPr>
                        <a:t>fingerprint/OTP),</a:t>
                      </a:r>
                      <a:r>
                        <a:rPr sz="1600" spc="-15" dirty="0">
                          <a:latin typeface="Calibri"/>
                          <a:cs typeface="Calibri"/>
                        </a:rPr>
                        <a:t> </a:t>
                      </a:r>
                      <a:r>
                        <a:rPr sz="1600" dirty="0">
                          <a:latin typeface="Calibri"/>
                          <a:cs typeface="Calibri"/>
                        </a:rPr>
                        <a:t>the</a:t>
                      </a:r>
                      <a:r>
                        <a:rPr sz="1600" spc="-20" dirty="0">
                          <a:latin typeface="Calibri"/>
                          <a:cs typeface="Calibri"/>
                        </a:rPr>
                        <a:t> </a:t>
                      </a:r>
                      <a:r>
                        <a:rPr sz="1600" b="1" spc="-10" dirty="0">
                          <a:latin typeface="Calibri"/>
                          <a:cs typeface="Calibri"/>
                        </a:rPr>
                        <a:t>buzzer</a:t>
                      </a:r>
                      <a:endParaRPr sz="1600">
                        <a:latin typeface="Calibri"/>
                        <a:cs typeface="Calibri"/>
                      </a:endParaRPr>
                    </a:p>
                    <a:p>
                      <a:pPr marL="59055">
                        <a:lnSpc>
                          <a:spcPct val="100000"/>
                        </a:lnSpc>
                      </a:pPr>
                      <a:r>
                        <a:rPr sz="1600" dirty="0">
                          <a:latin typeface="Calibri"/>
                          <a:cs typeface="Calibri"/>
                        </a:rPr>
                        <a:t>is</a:t>
                      </a:r>
                      <a:r>
                        <a:rPr sz="1600" spc="-50" dirty="0">
                          <a:latin typeface="Calibri"/>
                          <a:cs typeface="Calibri"/>
                        </a:rPr>
                        <a:t> </a:t>
                      </a:r>
                      <a:r>
                        <a:rPr sz="1600" dirty="0">
                          <a:latin typeface="Calibri"/>
                          <a:cs typeface="Calibri"/>
                        </a:rPr>
                        <a:t>triggered</a:t>
                      </a:r>
                      <a:r>
                        <a:rPr sz="1600" spc="-15" dirty="0">
                          <a:latin typeface="Calibri"/>
                          <a:cs typeface="Calibri"/>
                        </a:rPr>
                        <a:t> </a:t>
                      </a:r>
                      <a:r>
                        <a:rPr sz="1600" dirty="0">
                          <a:latin typeface="Calibri"/>
                          <a:cs typeface="Calibri"/>
                        </a:rPr>
                        <a:t>and</a:t>
                      </a:r>
                      <a:r>
                        <a:rPr sz="1600" spc="-45" dirty="0">
                          <a:latin typeface="Calibri"/>
                          <a:cs typeface="Calibri"/>
                        </a:rPr>
                        <a:t> </a:t>
                      </a:r>
                      <a:r>
                        <a:rPr sz="1600" dirty="0">
                          <a:latin typeface="Calibri"/>
                          <a:cs typeface="Calibri"/>
                        </a:rPr>
                        <a:t>an</a:t>
                      </a:r>
                      <a:r>
                        <a:rPr sz="1600" spc="-20" dirty="0">
                          <a:latin typeface="Calibri"/>
                          <a:cs typeface="Calibri"/>
                        </a:rPr>
                        <a:t> </a:t>
                      </a:r>
                      <a:r>
                        <a:rPr sz="1600" b="1" dirty="0">
                          <a:latin typeface="Calibri"/>
                          <a:cs typeface="Calibri"/>
                        </a:rPr>
                        <a:t>SMS</a:t>
                      </a:r>
                      <a:r>
                        <a:rPr sz="1600" b="1" spc="-5" dirty="0">
                          <a:latin typeface="Calibri"/>
                          <a:cs typeface="Calibri"/>
                        </a:rPr>
                        <a:t> </a:t>
                      </a:r>
                      <a:r>
                        <a:rPr sz="1600" b="1" dirty="0">
                          <a:latin typeface="Calibri"/>
                          <a:cs typeface="Calibri"/>
                        </a:rPr>
                        <a:t>alert</a:t>
                      </a:r>
                      <a:r>
                        <a:rPr sz="1600" b="1" spc="-55" dirty="0">
                          <a:latin typeface="Calibri"/>
                          <a:cs typeface="Calibri"/>
                        </a:rPr>
                        <a:t> </a:t>
                      </a:r>
                      <a:r>
                        <a:rPr sz="1600" dirty="0">
                          <a:latin typeface="Calibri"/>
                          <a:cs typeface="Calibri"/>
                        </a:rPr>
                        <a:t>is</a:t>
                      </a:r>
                      <a:r>
                        <a:rPr sz="1600" spc="-35" dirty="0">
                          <a:latin typeface="Calibri"/>
                          <a:cs typeface="Calibri"/>
                        </a:rPr>
                        <a:t> </a:t>
                      </a:r>
                      <a:r>
                        <a:rPr sz="1600" dirty="0">
                          <a:latin typeface="Calibri"/>
                          <a:cs typeface="Calibri"/>
                        </a:rPr>
                        <a:t>sent</a:t>
                      </a:r>
                      <a:r>
                        <a:rPr sz="1600" spc="-35" dirty="0">
                          <a:latin typeface="Calibri"/>
                          <a:cs typeface="Calibri"/>
                        </a:rPr>
                        <a:t> </a:t>
                      </a:r>
                      <a:r>
                        <a:rPr sz="1600" dirty="0">
                          <a:latin typeface="Calibri"/>
                          <a:cs typeface="Calibri"/>
                        </a:rPr>
                        <a:t>to</a:t>
                      </a:r>
                      <a:r>
                        <a:rPr sz="1600" spc="-25" dirty="0">
                          <a:latin typeface="Calibri"/>
                          <a:cs typeface="Calibri"/>
                        </a:rPr>
                        <a:t> </a:t>
                      </a:r>
                      <a:r>
                        <a:rPr sz="1600" dirty="0">
                          <a:latin typeface="Calibri"/>
                          <a:cs typeface="Calibri"/>
                        </a:rPr>
                        <a:t>the</a:t>
                      </a:r>
                      <a:r>
                        <a:rPr sz="1600" spc="-35" dirty="0">
                          <a:latin typeface="Calibri"/>
                          <a:cs typeface="Calibri"/>
                        </a:rPr>
                        <a:t> </a:t>
                      </a:r>
                      <a:r>
                        <a:rPr sz="1600" dirty="0">
                          <a:latin typeface="Calibri"/>
                          <a:cs typeface="Calibri"/>
                        </a:rPr>
                        <a:t>owner’s</a:t>
                      </a:r>
                      <a:r>
                        <a:rPr sz="1600" spc="10" dirty="0">
                          <a:latin typeface="Calibri"/>
                          <a:cs typeface="Calibri"/>
                        </a:rPr>
                        <a:t> </a:t>
                      </a:r>
                      <a:r>
                        <a:rPr sz="1600" spc="-10" dirty="0">
                          <a:latin typeface="Calibri"/>
                          <a:cs typeface="Calibri"/>
                        </a:rPr>
                        <a:t>phone.</a:t>
                      </a:r>
                      <a:endParaRPr sz="1600">
                        <a:latin typeface="Calibri"/>
                        <a:cs typeface="Calibri"/>
                      </a:endParaRPr>
                    </a:p>
                  </a:txBody>
                  <a:tcPr marL="0" marR="0" marT="431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6"/>
                  </a:ext>
                </a:extLst>
              </a:tr>
              <a:tr h="597535">
                <a:tc>
                  <a:txBody>
                    <a:bodyPr/>
                    <a:lstStyle/>
                    <a:p>
                      <a:pPr marL="58419">
                        <a:lnSpc>
                          <a:spcPct val="100000"/>
                        </a:lnSpc>
                        <a:spcBef>
                          <a:spcPts val="1300"/>
                        </a:spcBef>
                      </a:pPr>
                      <a:r>
                        <a:rPr sz="1600" b="1" dirty="0">
                          <a:latin typeface="Calibri"/>
                          <a:cs typeface="Calibri"/>
                        </a:rPr>
                        <a:t>7.</a:t>
                      </a:r>
                      <a:r>
                        <a:rPr sz="1600" b="1" spc="-30" dirty="0">
                          <a:latin typeface="Calibri"/>
                          <a:cs typeface="Calibri"/>
                        </a:rPr>
                        <a:t> </a:t>
                      </a:r>
                      <a:r>
                        <a:rPr sz="1600" b="1" dirty="0">
                          <a:latin typeface="Calibri"/>
                          <a:cs typeface="Calibri"/>
                        </a:rPr>
                        <a:t>Auto</a:t>
                      </a:r>
                      <a:r>
                        <a:rPr sz="1600" b="1" spc="-25" dirty="0">
                          <a:latin typeface="Calibri"/>
                          <a:cs typeface="Calibri"/>
                        </a:rPr>
                        <a:t> </a:t>
                      </a:r>
                      <a:r>
                        <a:rPr sz="1600" b="1" spc="-10" dirty="0">
                          <a:latin typeface="Calibri"/>
                          <a:cs typeface="Calibri"/>
                        </a:rPr>
                        <a:t>Reset</a:t>
                      </a:r>
                      <a:endParaRPr sz="1600">
                        <a:latin typeface="Calibri"/>
                        <a:cs typeface="Calibri"/>
                      </a:endParaRPr>
                    </a:p>
                  </a:txBody>
                  <a:tcPr marL="0" marR="0" marT="165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59055">
                        <a:lnSpc>
                          <a:spcPct val="100000"/>
                        </a:lnSpc>
                        <a:spcBef>
                          <a:spcPts val="340"/>
                        </a:spcBef>
                      </a:pPr>
                      <a:r>
                        <a:rPr sz="1600" dirty="0">
                          <a:latin typeface="Calibri"/>
                          <a:cs typeface="Calibri"/>
                        </a:rPr>
                        <a:t>After</a:t>
                      </a:r>
                      <a:r>
                        <a:rPr sz="1600" spc="-50" dirty="0">
                          <a:latin typeface="Calibri"/>
                          <a:cs typeface="Calibri"/>
                        </a:rPr>
                        <a:t> </a:t>
                      </a:r>
                      <a:r>
                        <a:rPr sz="1600" dirty="0">
                          <a:latin typeface="Calibri"/>
                          <a:cs typeface="Calibri"/>
                        </a:rPr>
                        <a:t>a</a:t>
                      </a:r>
                      <a:r>
                        <a:rPr sz="1600" spc="-45" dirty="0">
                          <a:latin typeface="Calibri"/>
                          <a:cs typeface="Calibri"/>
                        </a:rPr>
                        <a:t> </a:t>
                      </a:r>
                      <a:r>
                        <a:rPr sz="1600" dirty="0">
                          <a:latin typeface="Calibri"/>
                          <a:cs typeface="Calibri"/>
                        </a:rPr>
                        <a:t>successful</a:t>
                      </a:r>
                      <a:r>
                        <a:rPr sz="1600" spc="-55" dirty="0">
                          <a:latin typeface="Calibri"/>
                          <a:cs typeface="Calibri"/>
                        </a:rPr>
                        <a:t> </a:t>
                      </a:r>
                      <a:r>
                        <a:rPr sz="1600" dirty="0">
                          <a:latin typeface="Calibri"/>
                          <a:cs typeface="Calibri"/>
                        </a:rPr>
                        <a:t>or</a:t>
                      </a:r>
                      <a:r>
                        <a:rPr sz="1600" spc="-35" dirty="0">
                          <a:latin typeface="Calibri"/>
                          <a:cs typeface="Calibri"/>
                        </a:rPr>
                        <a:t> </a:t>
                      </a:r>
                      <a:r>
                        <a:rPr sz="1600" dirty="0">
                          <a:latin typeface="Calibri"/>
                          <a:cs typeface="Calibri"/>
                        </a:rPr>
                        <a:t>failed</a:t>
                      </a:r>
                      <a:r>
                        <a:rPr sz="1600" spc="-55" dirty="0">
                          <a:latin typeface="Calibri"/>
                          <a:cs typeface="Calibri"/>
                        </a:rPr>
                        <a:t> </a:t>
                      </a:r>
                      <a:r>
                        <a:rPr sz="1600" dirty="0">
                          <a:latin typeface="Calibri"/>
                          <a:cs typeface="Calibri"/>
                        </a:rPr>
                        <a:t>access</a:t>
                      </a:r>
                      <a:r>
                        <a:rPr sz="1600" spc="-45" dirty="0">
                          <a:latin typeface="Calibri"/>
                          <a:cs typeface="Calibri"/>
                        </a:rPr>
                        <a:t> </a:t>
                      </a:r>
                      <a:r>
                        <a:rPr sz="1600" spc="-10" dirty="0">
                          <a:latin typeface="Calibri"/>
                          <a:cs typeface="Calibri"/>
                        </a:rPr>
                        <a:t>attempt,</a:t>
                      </a:r>
                      <a:r>
                        <a:rPr sz="1600" spc="-45" dirty="0">
                          <a:latin typeface="Calibri"/>
                          <a:cs typeface="Calibri"/>
                        </a:rPr>
                        <a:t> </a:t>
                      </a:r>
                      <a:r>
                        <a:rPr sz="1600" dirty="0">
                          <a:latin typeface="Calibri"/>
                          <a:cs typeface="Calibri"/>
                        </a:rPr>
                        <a:t>the</a:t>
                      </a:r>
                      <a:r>
                        <a:rPr sz="1600" spc="-40" dirty="0">
                          <a:latin typeface="Calibri"/>
                          <a:cs typeface="Calibri"/>
                        </a:rPr>
                        <a:t> </a:t>
                      </a:r>
                      <a:r>
                        <a:rPr sz="1600" spc="-10" dirty="0">
                          <a:latin typeface="Calibri"/>
                          <a:cs typeface="Calibri"/>
                        </a:rPr>
                        <a:t>system</a:t>
                      </a:r>
                      <a:r>
                        <a:rPr sz="1600" spc="-60" dirty="0">
                          <a:latin typeface="Calibri"/>
                          <a:cs typeface="Calibri"/>
                        </a:rPr>
                        <a:t> </a:t>
                      </a:r>
                      <a:r>
                        <a:rPr sz="1600" dirty="0">
                          <a:latin typeface="Calibri"/>
                          <a:cs typeface="Calibri"/>
                        </a:rPr>
                        <a:t>resets</a:t>
                      </a:r>
                      <a:r>
                        <a:rPr sz="1600" spc="-20" dirty="0">
                          <a:latin typeface="Calibri"/>
                          <a:cs typeface="Calibri"/>
                        </a:rPr>
                        <a:t> </a:t>
                      </a:r>
                      <a:r>
                        <a:rPr sz="1600" spc="-25" dirty="0">
                          <a:latin typeface="Calibri"/>
                          <a:cs typeface="Calibri"/>
                        </a:rPr>
                        <a:t>and</a:t>
                      </a:r>
                      <a:endParaRPr sz="1600">
                        <a:latin typeface="Calibri"/>
                        <a:cs typeface="Calibri"/>
                      </a:endParaRPr>
                    </a:p>
                    <a:p>
                      <a:pPr marL="59055">
                        <a:lnSpc>
                          <a:spcPct val="100000"/>
                        </a:lnSpc>
                      </a:pPr>
                      <a:r>
                        <a:rPr sz="1600" dirty="0">
                          <a:latin typeface="Calibri"/>
                          <a:cs typeface="Calibri"/>
                        </a:rPr>
                        <a:t>returns</a:t>
                      </a:r>
                      <a:r>
                        <a:rPr sz="1600" spc="-10" dirty="0">
                          <a:latin typeface="Calibri"/>
                          <a:cs typeface="Calibri"/>
                        </a:rPr>
                        <a:t> </a:t>
                      </a:r>
                      <a:r>
                        <a:rPr sz="1600" dirty="0">
                          <a:latin typeface="Calibri"/>
                          <a:cs typeface="Calibri"/>
                        </a:rPr>
                        <a:t>to</a:t>
                      </a:r>
                      <a:r>
                        <a:rPr sz="1600" spc="-40" dirty="0">
                          <a:latin typeface="Calibri"/>
                          <a:cs typeface="Calibri"/>
                        </a:rPr>
                        <a:t> </a:t>
                      </a:r>
                      <a:r>
                        <a:rPr sz="1600" dirty="0">
                          <a:latin typeface="Calibri"/>
                          <a:cs typeface="Calibri"/>
                        </a:rPr>
                        <a:t>the</a:t>
                      </a:r>
                      <a:r>
                        <a:rPr sz="1600" spc="-35" dirty="0">
                          <a:latin typeface="Calibri"/>
                          <a:cs typeface="Calibri"/>
                        </a:rPr>
                        <a:t> </a:t>
                      </a:r>
                      <a:r>
                        <a:rPr sz="1600" dirty="0">
                          <a:latin typeface="Calibri"/>
                          <a:cs typeface="Calibri"/>
                        </a:rPr>
                        <a:t>initial</a:t>
                      </a:r>
                      <a:r>
                        <a:rPr sz="1600" spc="-65" dirty="0">
                          <a:latin typeface="Calibri"/>
                          <a:cs typeface="Calibri"/>
                        </a:rPr>
                        <a:t> </a:t>
                      </a:r>
                      <a:r>
                        <a:rPr sz="1600" spc="-10" dirty="0">
                          <a:latin typeface="Calibri"/>
                          <a:cs typeface="Calibri"/>
                        </a:rPr>
                        <a:t>standby</a:t>
                      </a:r>
                      <a:r>
                        <a:rPr sz="1600" spc="-55" dirty="0">
                          <a:latin typeface="Calibri"/>
                          <a:cs typeface="Calibri"/>
                        </a:rPr>
                        <a:t> </a:t>
                      </a:r>
                      <a:r>
                        <a:rPr sz="1600" dirty="0">
                          <a:latin typeface="Calibri"/>
                          <a:cs typeface="Calibri"/>
                        </a:rPr>
                        <a:t>state</a:t>
                      </a:r>
                      <a:r>
                        <a:rPr sz="1600" spc="-40" dirty="0">
                          <a:latin typeface="Calibri"/>
                          <a:cs typeface="Calibri"/>
                        </a:rPr>
                        <a:t> </a:t>
                      </a:r>
                      <a:r>
                        <a:rPr sz="1600" dirty="0">
                          <a:latin typeface="Calibri"/>
                          <a:cs typeface="Calibri"/>
                        </a:rPr>
                        <a:t>for</a:t>
                      </a:r>
                      <a:r>
                        <a:rPr sz="1600" spc="-35" dirty="0">
                          <a:latin typeface="Calibri"/>
                          <a:cs typeface="Calibri"/>
                        </a:rPr>
                        <a:t> </a:t>
                      </a:r>
                      <a:r>
                        <a:rPr sz="1600" dirty="0">
                          <a:latin typeface="Calibri"/>
                          <a:cs typeface="Calibri"/>
                        </a:rPr>
                        <a:t>the</a:t>
                      </a:r>
                      <a:r>
                        <a:rPr sz="1600" spc="-30" dirty="0">
                          <a:latin typeface="Calibri"/>
                          <a:cs typeface="Calibri"/>
                        </a:rPr>
                        <a:t> </a:t>
                      </a:r>
                      <a:r>
                        <a:rPr sz="1600" dirty="0">
                          <a:latin typeface="Calibri"/>
                          <a:cs typeface="Calibri"/>
                        </a:rPr>
                        <a:t>next</a:t>
                      </a:r>
                      <a:r>
                        <a:rPr sz="1600" spc="-35" dirty="0">
                          <a:latin typeface="Calibri"/>
                          <a:cs typeface="Calibri"/>
                        </a:rPr>
                        <a:t> </a:t>
                      </a:r>
                      <a:r>
                        <a:rPr sz="1600" spc="-10" dirty="0">
                          <a:latin typeface="Calibri"/>
                          <a:cs typeface="Calibri"/>
                        </a:rPr>
                        <a:t>user.</a:t>
                      </a:r>
                      <a:endParaRPr sz="1600">
                        <a:latin typeface="Calibri"/>
                        <a:cs typeface="Calibri"/>
                      </a:endParaRPr>
                    </a:p>
                  </a:txBody>
                  <a:tcPr marL="0" marR="0" marT="431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94868" y="4401464"/>
            <a:ext cx="4681932" cy="627736"/>
          </a:xfrm>
          <a:prstGeom prst="rect">
            <a:avLst/>
          </a:prstGeom>
        </p:spPr>
        <p:txBody>
          <a:bodyPr vert="horz" wrap="square" lIns="0" tIns="12065" rIns="0" bIns="0" rtlCol="0">
            <a:spAutoFit/>
          </a:bodyPr>
          <a:lstStyle/>
          <a:p>
            <a:pPr marL="12700">
              <a:lnSpc>
                <a:spcPct val="100000"/>
              </a:lnSpc>
              <a:spcBef>
                <a:spcPts val="95"/>
              </a:spcBef>
            </a:pPr>
            <a:r>
              <a:rPr sz="4000" spc="-60" dirty="0">
                <a:latin typeface="Times New Roman" panose="02020603050405020304" pitchFamily="18" charset="0"/>
                <a:cs typeface="Times New Roman" panose="02020603050405020304" pitchFamily="18" charset="0"/>
              </a:rPr>
              <a:t>SOFTWARE</a:t>
            </a:r>
            <a:r>
              <a:rPr sz="4000" spc="-155" dirty="0">
                <a:latin typeface="Times New Roman" panose="02020603050405020304" pitchFamily="18" charset="0"/>
                <a:cs typeface="Times New Roman" panose="02020603050405020304" pitchFamily="18" charset="0"/>
              </a:rPr>
              <a:t> </a:t>
            </a:r>
            <a:r>
              <a:rPr sz="4000" spc="-20" dirty="0">
                <a:latin typeface="Times New Roman" panose="02020603050405020304" pitchFamily="18" charset="0"/>
                <a:cs typeface="Times New Roman" panose="02020603050405020304" pitchFamily="18" charset="0"/>
              </a:rPr>
              <a:t>USED</a:t>
            </a:r>
            <a:endParaRPr sz="4000" dirty="0">
              <a:latin typeface="Times New Roman" panose="02020603050405020304" pitchFamily="18" charset="0"/>
              <a:cs typeface="Times New Roman" panose="02020603050405020304" pitchFamily="18" charset="0"/>
            </a:endParaRPr>
          </a:p>
        </p:txBody>
      </p:sp>
      <p:sp>
        <p:nvSpPr>
          <p:cNvPr id="3" name="object 3"/>
          <p:cNvSpPr txBox="1"/>
          <p:nvPr/>
        </p:nvSpPr>
        <p:spPr>
          <a:xfrm>
            <a:off x="1447800" y="684251"/>
            <a:ext cx="2736215" cy="3600345"/>
          </a:xfrm>
          <a:prstGeom prst="rect">
            <a:avLst/>
          </a:prstGeom>
        </p:spPr>
        <p:txBody>
          <a:bodyPr vert="horz" wrap="square" lIns="0" tIns="111125" rIns="0" bIns="0" rtlCol="0">
            <a:spAutoFit/>
          </a:bodyPr>
          <a:lstStyle/>
          <a:p>
            <a:pPr marL="240665" indent="-227965" algn="l">
              <a:lnSpc>
                <a:spcPct val="100000"/>
              </a:lnSpc>
              <a:spcBef>
                <a:spcPts val="875"/>
              </a:spcBef>
              <a:buFont typeface="Arial MT"/>
              <a:buChar char="•"/>
              <a:tabLst>
                <a:tab pos="240665" algn="l"/>
              </a:tabLst>
            </a:pPr>
            <a:r>
              <a:rPr sz="2000" spc="-30" dirty="0">
                <a:latin typeface="Times New Roman" panose="02020603050405020304" pitchFamily="18" charset="0"/>
                <a:cs typeface="Times New Roman" panose="02020603050405020304" pitchFamily="18" charset="0"/>
              </a:rPr>
              <a:t>Tool</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t>
            </a:r>
            <a:r>
              <a:rPr sz="2000" spc="-4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Component</a:t>
            </a:r>
            <a:endParaRPr sz="2000" dirty="0">
              <a:latin typeface="Times New Roman" panose="02020603050405020304" pitchFamily="18" charset="0"/>
              <a:cs typeface="Times New Roman" panose="02020603050405020304" pitchFamily="18" charset="0"/>
            </a:endParaRPr>
          </a:p>
          <a:p>
            <a:pPr marL="240665" indent="-227965" algn="l">
              <a:lnSpc>
                <a:spcPct val="100000"/>
              </a:lnSpc>
              <a:spcBef>
                <a:spcPts val="780"/>
              </a:spcBef>
              <a:buFont typeface="Arial MT"/>
              <a:buChar char="•"/>
              <a:tabLst>
                <a:tab pos="240665" algn="l"/>
              </a:tabLst>
            </a:pPr>
            <a:r>
              <a:rPr sz="2000" dirty="0">
                <a:latin typeface="Times New Roman" panose="02020603050405020304" pitchFamily="18" charset="0"/>
                <a:cs typeface="Times New Roman" panose="02020603050405020304" pitchFamily="18" charset="0"/>
              </a:rPr>
              <a:t>Ultrasonic</a:t>
            </a:r>
            <a:r>
              <a:rPr sz="2000" spc="-5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Sensor</a:t>
            </a:r>
            <a:endParaRPr sz="2000" dirty="0">
              <a:latin typeface="Times New Roman" panose="02020603050405020304" pitchFamily="18" charset="0"/>
              <a:cs typeface="Times New Roman" panose="02020603050405020304" pitchFamily="18" charset="0"/>
            </a:endParaRPr>
          </a:p>
          <a:p>
            <a:pPr marL="240665" indent="-227965" algn="l">
              <a:lnSpc>
                <a:spcPct val="100000"/>
              </a:lnSpc>
              <a:spcBef>
                <a:spcPts val="785"/>
              </a:spcBef>
              <a:buFont typeface="Arial MT"/>
              <a:buChar char="•"/>
              <a:tabLst>
                <a:tab pos="240665" algn="l"/>
              </a:tabLst>
            </a:pPr>
            <a:r>
              <a:rPr sz="2000" spc="-10" dirty="0">
                <a:latin typeface="Times New Roman" panose="02020603050405020304" pitchFamily="18" charset="0"/>
                <a:cs typeface="Times New Roman" panose="02020603050405020304" pitchFamily="18" charset="0"/>
              </a:rPr>
              <a:t>ESP32</a:t>
            </a:r>
            <a:endParaRPr sz="2000" dirty="0">
              <a:latin typeface="Times New Roman" panose="02020603050405020304" pitchFamily="18" charset="0"/>
              <a:cs typeface="Times New Roman" panose="02020603050405020304" pitchFamily="18" charset="0"/>
            </a:endParaRPr>
          </a:p>
          <a:p>
            <a:pPr marL="240665" indent="-227965" algn="l">
              <a:lnSpc>
                <a:spcPct val="100000"/>
              </a:lnSpc>
              <a:spcBef>
                <a:spcPts val="790"/>
              </a:spcBef>
              <a:buFont typeface="Arial MT"/>
              <a:buChar char="•"/>
              <a:tabLst>
                <a:tab pos="240665" algn="l"/>
              </a:tabLst>
            </a:pPr>
            <a:r>
              <a:rPr sz="2000" spc="-10" dirty="0">
                <a:latin typeface="Times New Roman" panose="02020603050405020304" pitchFamily="18" charset="0"/>
                <a:cs typeface="Times New Roman" panose="02020603050405020304" pitchFamily="18" charset="0"/>
              </a:rPr>
              <a:t>Breadboard</a:t>
            </a:r>
            <a:endParaRPr sz="2000" dirty="0">
              <a:latin typeface="Times New Roman" panose="02020603050405020304" pitchFamily="18" charset="0"/>
              <a:cs typeface="Times New Roman" panose="02020603050405020304" pitchFamily="18" charset="0"/>
            </a:endParaRPr>
          </a:p>
          <a:p>
            <a:pPr marL="240665" indent="-227965" algn="l">
              <a:lnSpc>
                <a:spcPct val="100000"/>
              </a:lnSpc>
              <a:spcBef>
                <a:spcPts val="780"/>
              </a:spcBef>
              <a:buFont typeface="Arial MT"/>
              <a:buChar char="•"/>
              <a:tabLst>
                <a:tab pos="240665" algn="l"/>
              </a:tabLst>
            </a:pPr>
            <a:r>
              <a:rPr sz="2000" dirty="0">
                <a:latin typeface="Times New Roman" panose="02020603050405020304" pitchFamily="18" charset="0"/>
                <a:cs typeface="Times New Roman" panose="02020603050405020304" pitchFamily="18" charset="0"/>
              </a:rPr>
              <a:t>4x4 </a:t>
            </a:r>
            <a:r>
              <a:rPr sz="2000" spc="-10" dirty="0">
                <a:latin typeface="Times New Roman" panose="02020603050405020304" pitchFamily="18" charset="0"/>
                <a:cs typeface="Times New Roman" panose="02020603050405020304" pitchFamily="18" charset="0"/>
              </a:rPr>
              <a:t>Keypad</a:t>
            </a:r>
            <a:endParaRPr sz="2000" dirty="0">
              <a:latin typeface="Times New Roman" panose="02020603050405020304" pitchFamily="18" charset="0"/>
              <a:cs typeface="Times New Roman" panose="02020603050405020304" pitchFamily="18" charset="0"/>
            </a:endParaRPr>
          </a:p>
          <a:p>
            <a:pPr marL="240665" indent="-227965" algn="l">
              <a:lnSpc>
                <a:spcPct val="100000"/>
              </a:lnSpc>
              <a:spcBef>
                <a:spcPts val="780"/>
              </a:spcBef>
              <a:buFont typeface="Arial MT"/>
              <a:buChar char="•"/>
              <a:tabLst>
                <a:tab pos="240665" algn="l"/>
              </a:tabLst>
            </a:pPr>
            <a:r>
              <a:rPr sz="2000" dirty="0">
                <a:latin typeface="Times New Roman" panose="02020603050405020304" pitchFamily="18" charset="0"/>
                <a:cs typeface="Times New Roman" panose="02020603050405020304" pitchFamily="18" charset="0"/>
              </a:rPr>
              <a:t>LCD</a:t>
            </a:r>
            <a:r>
              <a:rPr sz="2000" spc="-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with</a:t>
            </a:r>
            <a:r>
              <a:rPr sz="2000" spc="-35"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I2C</a:t>
            </a:r>
            <a:endParaRPr sz="2000" dirty="0">
              <a:latin typeface="Times New Roman" panose="02020603050405020304" pitchFamily="18" charset="0"/>
              <a:cs typeface="Times New Roman" panose="02020603050405020304" pitchFamily="18" charset="0"/>
            </a:endParaRPr>
          </a:p>
          <a:p>
            <a:pPr marL="240665" indent="-227965" algn="l">
              <a:lnSpc>
                <a:spcPct val="100000"/>
              </a:lnSpc>
              <a:spcBef>
                <a:spcPts val="795"/>
              </a:spcBef>
              <a:buFont typeface="Arial MT"/>
              <a:buChar char="•"/>
              <a:tabLst>
                <a:tab pos="240665" algn="l"/>
              </a:tabLst>
            </a:pPr>
            <a:r>
              <a:rPr sz="2000" dirty="0">
                <a:latin typeface="Times New Roman" panose="02020603050405020304" pitchFamily="18" charset="0"/>
                <a:cs typeface="Times New Roman" panose="02020603050405020304" pitchFamily="18" charset="0"/>
              </a:rPr>
              <a:t>Fingerprint</a:t>
            </a:r>
            <a:r>
              <a:rPr sz="2000" spc="-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Sensor</a:t>
            </a:r>
            <a:r>
              <a:rPr sz="2000" spc="-7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Module</a:t>
            </a:r>
            <a:endParaRPr sz="2000" dirty="0">
              <a:latin typeface="Times New Roman" panose="02020603050405020304" pitchFamily="18" charset="0"/>
              <a:cs typeface="Times New Roman" panose="02020603050405020304" pitchFamily="18" charset="0"/>
            </a:endParaRPr>
          </a:p>
          <a:p>
            <a:pPr marL="240665" indent="-227965" algn="l">
              <a:lnSpc>
                <a:spcPct val="100000"/>
              </a:lnSpc>
              <a:spcBef>
                <a:spcPts val="780"/>
              </a:spcBef>
              <a:buFont typeface="Arial MT"/>
              <a:buChar char="•"/>
              <a:tabLst>
                <a:tab pos="240665" algn="l"/>
              </a:tabLst>
            </a:pPr>
            <a:r>
              <a:rPr sz="2000" dirty="0">
                <a:latin typeface="Times New Roman" panose="02020603050405020304" pitchFamily="18" charset="0"/>
                <a:cs typeface="Times New Roman" panose="02020603050405020304" pitchFamily="18" charset="0"/>
              </a:rPr>
              <a:t>DC</a:t>
            </a:r>
            <a:r>
              <a:rPr sz="2000" spc="-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12V</a:t>
            </a:r>
            <a:r>
              <a:rPr sz="2000" spc="-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Solenoid</a:t>
            </a:r>
            <a:r>
              <a:rPr sz="2000" spc="-35"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Lock</a:t>
            </a:r>
            <a:endParaRPr sz="2000" dirty="0">
              <a:latin typeface="Times New Roman" panose="02020603050405020304" pitchFamily="18" charset="0"/>
              <a:cs typeface="Times New Roman" panose="02020603050405020304" pitchFamily="18" charset="0"/>
            </a:endParaRPr>
          </a:p>
        </p:txBody>
      </p:sp>
      <p:sp>
        <p:nvSpPr>
          <p:cNvPr id="4" name="object 4"/>
          <p:cNvSpPr txBox="1">
            <a:spLocks noGrp="1"/>
          </p:cNvSpPr>
          <p:nvPr>
            <p:ph type="title"/>
          </p:nvPr>
        </p:nvSpPr>
        <p:spPr>
          <a:xfrm>
            <a:off x="194868" y="56515"/>
            <a:ext cx="6053532" cy="627736"/>
          </a:xfrm>
          <a:prstGeom prst="rect">
            <a:avLst/>
          </a:prstGeom>
        </p:spPr>
        <p:txBody>
          <a:bodyPr vert="horz" wrap="square" lIns="0" tIns="12065" rIns="0" bIns="0" rtlCol="0">
            <a:spAutoFit/>
          </a:bodyPr>
          <a:lstStyle/>
          <a:p>
            <a:pPr marL="12700">
              <a:lnSpc>
                <a:spcPct val="100000"/>
              </a:lnSpc>
              <a:spcBef>
                <a:spcPts val="95"/>
              </a:spcBef>
              <a:tabLst>
                <a:tab pos="2601595" algn="l"/>
              </a:tabLst>
            </a:pPr>
            <a:r>
              <a:rPr sz="4000" spc="-10" dirty="0">
                <a:latin typeface="Times New Roman" panose="02020603050405020304" pitchFamily="18" charset="0"/>
                <a:cs typeface="Times New Roman" panose="02020603050405020304" pitchFamily="18" charset="0"/>
              </a:rPr>
              <a:t>HARDWARE</a:t>
            </a:r>
            <a:r>
              <a:rPr lang="en-US" sz="4000" spc="-10" dirty="0">
                <a:latin typeface="Times New Roman" panose="02020603050405020304" pitchFamily="18" charset="0"/>
                <a:cs typeface="Times New Roman" panose="02020603050405020304" pitchFamily="18" charset="0"/>
              </a:rPr>
              <a:t> </a:t>
            </a:r>
            <a:r>
              <a:rPr sz="4000" spc="-20" dirty="0">
                <a:latin typeface="Times New Roman" panose="02020603050405020304" pitchFamily="18" charset="0"/>
                <a:cs typeface="Times New Roman" panose="02020603050405020304" pitchFamily="18" charset="0"/>
              </a:rPr>
              <a:t>USED</a:t>
            </a:r>
            <a:endParaRPr sz="4000" dirty="0">
              <a:latin typeface="Times New Roman" panose="02020603050405020304" pitchFamily="18" charset="0"/>
              <a:cs typeface="Times New Roman" panose="02020603050405020304" pitchFamily="18" charset="0"/>
            </a:endParaRPr>
          </a:p>
        </p:txBody>
      </p:sp>
      <p:sp>
        <p:nvSpPr>
          <p:cNvPr id="6" name="object 6"/>
          <p:cNvSpPr txBox="1"/>
          <p:nvPr/>
        </p:nvSpPr>
        <p:spPr>
          <a:xfrm>
            <a:off x="1447800" y="5146068"/>
            <a:ext cx="3276600" cy="641201"/>
          </a:xfrm>
          <a:prstGeom prst="rect">
            <a:avLst/>
          </a:prstGeom>
        </p:spPr>
        <p:txBody>
          <a:bodyPr vert="horz" wrap="square" lIns="0" tIns="12700" rIns="0" bIns="0" rtlCol="0">
            <a:spAutoFit/>
          </a:bodyPr>
          <a:lstStyle/>
          <a:p>
            <a:pPr marL="355600" marR="5080" indent="-342900">
              <a:lnSpc>
                <a:spcPct val="100000"/>
              </a:lnSpc>
              <a:spcBef>
                <a:spcPts val="100"/>
              </a:spcBef>
              <a:buFont typeface="Arial" panose="020B0604020202020204" pitchFamily="34" charset="0"/>
              <a:buChar char="•"/>
            </a:pPr>
            <a:r>
              <a:rPr sz="2000" dirty="0">
                <a:latin typeface="Times New Roman" panose="02020603050405020304" pitchFamily="18" charset="0"/>
                <a:cs typeface="Times New Roman" panose="02020603050405020304" pitchFamily="18" charset="0"/>
              </a:rPr>
              <a:t>Software</a:t>
            </a:r>
            <a:r>
              <a:rPr sz="2000" spc="-85" dirty="0">
                <a:latin typeface="Times New Roman" panose="02020603050405020304" pitchFamily="18" charset="0"/>
                <a:cs typeface="Times New Roman" panose="02020603050405020304" pitchFamily="18" charset="0"/>
              </a:rPr>
              <a:t> </a:t>
            </a:r>
            <a:r>
              <a:rPr sz="2000" spc="-50" dirty="0">
                <a:latin typeface="Times New Roman" panose="02020603050405020304" pitchFamily="18" charset="0"/>
                <a:cs typeface="Times New Roman" panose="02020603050405020304" pitchFamily="18" charset="0"/>
              </a:rPr>
              <a:t>Tool</a:t>
            </a:r>
            <a:endParaRPr lang="en-US" sz="2000" spc="-50" dirty="0">
              <a:latin typeface="Times New Roman" panose="02020603050405020304" pitchFamily="18" charset="0"/>
              <a:cs typeface="Times New Roman" panose="02020603050405020304" pitchFamily="18" charset="0"/>
            </a:endParaRPr>
          </a:p>
          <a:p>
            <a:pPr marL="355600" marR="5080" indent="-342900">
              <a:lnSpc>
                <a:spcPct val="100000"/>
              </a:lnSpc>
              <a:spcBef>
                <a:spcPts val="100"/>
              </a:spcBef>
              <a:buFont typeface="Arial" panose="020B0604020202020204" pitchFamily="34" charset="0"/>
              <a:buChar char="•"/>
            </a:pPr>
            <a:r>
              <a:rPr sz="2000" dirty="0">
                <a:latin typeface="Times New Roman" panose="02020603050405020304" pitchFamily="18" charset="0"/>
                <a:cs typeface="Times New Roman" panose="02020603050405020304" pitchFamily="18" charset="0"/>
              </a:rPr>
              <a:t>Arduino</a:t>
            </a:r>
            <a:r>
              <a:rPr sz="2000" spc="-90"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IDE </a:t>
            </a:r>
            <a:r>
              <a:rPr sz="2000" dirty="0">
                <a:latin typeface="Times New Roman" panose="02020603050405020304" pitchFamily="18" charset="0"/>
                <a:cs typeface="Times New Roman" panose="02020603050405020304" pitchFamily="18" charset="0"/>
              </a:rPr>
              <a:t>Twilio</a:t>
            </a:r>
            <a:r>
              <a:rPr sz="2000" spc="-110"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API</a:t>
            </a:r>
            <a:endParaRPr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1593" y="169814"/>
            <a:ext cx="12034520" cy="627736"/>
          </a:xfrm>
          <a:prstGeom prst="rect">
            <a:avLst/>
          </a:prstGeom>
        </p:spPr>
        <p:txBody>
          <a:bodyPr vert="horz" wrap="square" lIns="0" tIns="12065" rIns="0" bIns="0" rtlCol="0">
            <a:spAutoFit/>
          </a:bodyPr>
          <a:lstStyle/>
          <a:p>
            <a:pPr marL="12700">
              <a:lnSpc>
                <a:spcPct val="100000"/>
              </a:lnSpc>
              <a:spcBef>
                <a:spcPts val="95"/>
              </a:spcBef>
            </a:pPr>
            <a:r>
              <a:rPr sz="4000" spc="-85" dirty="0">
                <a:latin typeface="Times New Roman" panose="02020603050405020304" pitchFamily="18" charset="0"/>
                <a:cs typeface="Times New Roman" panose="02020603050405020304" pitchFamily="18" charset="0"/>
              </a:rPr>
              <a:t>IMPLEMENTATION</a:t>
            </a:r>
            <a:r>
              <a:rPr sz="4000" spc="-100"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&amp;</a:t>
            </a:r>
            <a:r>
              <a:rPr sz="4000" spc="-80" dirty="0">
                <a:latin typeface="Times New Roman" panose="02020603050405020304" pitchFamily="18" charset="0"/>
                <a:cs typeface="Times New Roman" panose="02020603050405020304" pitchFamily="18" charset="0"/>
              </a:rPr>
              <a:t> </a:t>
            </a:r>
            <a:r>
              <a:rPr sz="4000" spc="-60" dirty="0">
                <a:latin typeface="Times New Roman" panose="02020603050405020304" pitchFamily="18" charset="0"/>
                <a:cs typeface="Times New Roman" panose="02020603050405020304" pitchFamily="18" charset="0"/>
              </a:rPr>
              <a:t>RESULTS</a:t>
            </a:r>
            <a:endParaRPr sz="4000" dirty="0">
              <a:latin typeface="Times New Roman" panose="02020603050405020304" pitchFamily="18" charset="0"/>
              <a:cs typeface="Times New Roman" panose="02020603050405020304" pitchFamily="18" charset="0"/>
            </a:endParaRPr>
          </a:p>
        </p:txBody>
      </p:sp>
      <p:sp>
        <p:nvSpPr>
          <p:cNvPr id="3" name="AutoShape 2">
            <a:extLst>
              <a:ext uri="{FF2B5EF4-FFF2-40B4-BE49-F238E27FC236}">
                <a16:creationId xmlns:a16="http://schemas.microsoft.com/office/drawing/2014/main" id="{3D2296FD-5CA5-07B0-1D34-B2D53DB41EB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 name="Picture 4">
            <a:extLst>
              <a:ext uri="{FF2B5EF4-FFF2-40B4-BE49-F238E27FC236}">
                <a16:creationId xmlns:a16="http://schemas.microsoft.com/office/drawing/2014/main" id="{C161B8BA-BFBE-F1E2-CC77-0288DC76CCB8}"/>
              </a:ext>
            </a:extLst>
          </p:cNvPr>
          <p:cNvPicPr>
            <a:picLocks noChangeAspect="1"/>
          </p:cNvPicPr>
          <p:nvPr/>
        </p:nvPicPr>
        <p:blipFill>
          <a:blip r:embed="rId2"/>
          <a:stretch>
            <a:fillRect/>
          </a:stretch>
        </p:blipFill>
        <p:spPr>
          <a:xfrm>
            <a:off x="377582" y="1114425"/>
            <a:ext cx="4114800" cy="2314575"/>
          </a:xfrm>
          <a:prstGeom prst="rect">
            <a:avLst/>
          </a:prstGeom>
        </p:spPr>
      </p:pic>
      <p:pic>
        <p:nvPicPr>
          <p:cNvPr id="7" name="Picture 6">
            <a:extLst>
              <a:ext uri="{FF2B5EF4-FFF2-40B4-BE49-F238E27FC236}">
                <a16:creationId xmlns:a16="http://schemas.microsoft.com/office/drawing/2014/main" id="{97FCE8F3-4FDD-76BA-F735-2728707A7B89}"/>
              </a:ext>
            </a:extLst>
          </p:cNvPr>
          <p:cNvPicPr>
            <a:picLocks noChangeAspect="1"/>
          </p:cNvPicPr>
          <p:nvPr/>
        </p:nvPicPr>
        <p:blipFill>
          <a:blip r:embed="rId3"/>
          <a:stretch>
            <a:fillRect/>
          </a:stretch>
        </p:blipFill>
        <p:spPr>
          <a:xfrm>
            <a:off x="3083560" y="4142251"/>
            <a:ext cx="4114801" cy="2314576"/>
          </a:xfrm>
          <a:prstGeom prst="rect">
            <a:avLst/>
          </a:prstGeom>
        </p:spPr>
      </p:pic>
      <p:pic>
        <p:nvPicPr>
          <p:cNvPr id="8" name="Picture 7">
            <a:extLst>
              <a:ext uri="{FF2B5EF4-FFF2-40B4-BE49-F238E27FC236}">
                <a16:creationId xmlns:a16="http://schemas.microsoft.com/office/drawing/2014/main" id="{65A269AE-D384-C806-698F-19A7840497B2}"/>
              </a:ext>
            </a:extLst>
          </p:cNvPr>
          <p:cNvPicPr>
            <a:picLocks noChangeAspect="1"/>
          </p:cNvPicPr>
          <p:nvPr/>
        </p:nvPicPr>
        <p:blipFill>
          <a:blip r:embed="rId4"/>
          <a:stretch>
            <a:fillRect/>
          </a:stretch>
        </p:blipFill>
        <p:spPr>
          <a:xfrm>
            <a:off x="6095999" y="1216612"/>
            <a:ext cx="3848100" cy="2164557"/>
          </a:xfrm>
          <a:prstGeom prst="rect">
            <a:avLst/>
          </a:prstGeom>
        </p:spPr>
      </p:pic>
      <p:sp>
        <p:nvSpPr>
          <p:cNvPr id="9" name="TextBox 8">
            <a:extLst>
              <a:ext uri="{FF2B5EF4-FFF2-40B4-BE49-F238E27FC236}">
                <a16:creationId xmlns:a16="http://schemas.microsoft.com/office/drawing/2014/main" id="{8469730F-F609-69C7-B999-465CFA54204D}"/>
              </a:ext>
            </a:extLst>
          </p:cNvPr>
          <p:cNvSpPr txBox="1"/>
          <p:nvPr/>
        </p:nvSpPr>
        <p:spPr>
          <a:xfrm>
            <a:off x="762000" y="3577044"/>
            <a:ext cx="3185487"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Press # to verify the Finger print</a:t>
            </a:r>
          </a:p>
        </p:txBody>
      </p:sp>
      <p:sp>
        <p:nvSpPr>
          <p:cNvPr id="10" name="TextBox 9">
            <a:extLst>
              <a:ext uri="{FF2B5EF4-FFF2-40B4-BE49-F238E27FC236}">
                <a16:creationId xmlns:a16="http://schemas.microsoft.com/office/drawing/2014/main" id="{48BD7D2C-BC93-1CB9-7013-93402AD8199A}"/>
              </a:ext>
            </a:extLst>
          </p:cNvPr>
          <p:cNvSpPr txBox="1"/>
          <p:nvPr/>
        </p:nvSpPr>
        <p:spPr>
          <a:xfrm>
            <a:off x="6368853" y="3529683"/>
            <a:ext cx="3217547"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Placing the Fingerprint to verify </a:t>
            </a:r>
          </a:p>
        </p:txBody>
      </p:sp>
      <p:sp>
        <p:nvSpPr>
          <p:cNvPr id="11" name="TextBox 10">
            <a:extLst>
              <a:ext uri="{FF2B5EF4-FFF2-40B4-BE49-F238E27FC236}">
                <a16:creationId xmlns:a16="http://schemas.microsoft.com/office/drawing/2014/main" id="{79C0B30A-28B7-0382-BB3F-5AFE1747D9A1}"/>
              </a:ext>
            </a:extLst>
          </p:cNvPr>
          <p:cNvSpPr txBox="1"/>
          <p:nvPr/>
        </p:nvSpPr>
        <p:spPr>
          <a:xfrm>
            <a:off x="7315200" y="4930207"/>
            <a:ext cx="3659976"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Verifying the OTP to unlock the door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739" y="-59944"/>
            <a:ext cx="12034520" cy="1125180"/>
          </a:xfrm>
          <a:prstGeom prst="rect">
            <a:avLst/>
          </a:prstGeom>
        </p:spPr>
        <p:txBody>
          <a:bodyPr vert="horz" wrap="square" lIns="0" tIns="443738" rIns="0" bIns="0" rtlCol="0">
            <a:spAutoFit/>
          </a:bodyPr>
          <a:lstStyle/>
          <a:p>
            <a:pPr marL="603885">
              <a:lnSpc>
                <a:spcPct val="100000"/>
              </a:lnSpc>
              <a:spcBef>
                <a:spcPts val="105"/>
              </a:spcBef>
            </a:pPr>
            <a:r>
              <a:rPr spc="-65" dirty="0">
                <a:latin typeface="Times New Roman" panose="02020603050405020304" pitchFamily="18" charset="0"/>
                <a:cs typeface="Times New Roman" panose="02020603050405020304" pitchFamily="18" charset="0"/>
              </a:rPr>
              <a:t>APPLICATIONS</a:t>
            </a:r>
          </a:p>
        </p:txBody>
      </p:sp>
      <p:sp>
        <p:nvSpPr>
          <p:cNvPr id="3" name="object 3"/>
          <p:cNvSpPr txBox="1"/>
          <p:nvPr/>
        </p:nvSpPr>
        <p:spPr>
          <a:xfrm>
            <a:off x="990600" y="1065236"/>
            <a:ext cx="10843260" cy="5364545"/>
          </a:xfrm>
          <a:prstGeom prst="rect">
            <a:avLst/>
          </a:prstGeom>
        </p:spPr>
        <p:txBody>
          <a:bodyPr vert="horz" wrap="square" lIns="0" tIns="12700" rIns="0" bIns="0" rtlCol="0">
            <a:spAutoFit/>
          </a:bodyPr>
          <a:lstStyle/>
          <a:p>
            <a:pPr marL="2540" algn="just">
              <a:lnSpc>
                <a:spcPct val="150000"/>
              </a:lnSpc>
              <a:spcBef>
                <a:spcPts val="100"/>
              </a:spcBef>
              <a:buSzPct val="94444"/>
              <a:tabLst>
                <a:tab pos="91440" algn="l"/>
              </a:tabLst>
            </a:pPr>
            <a:r>
              <a:rPr lang="en-US" dirty="0">
                <a:latin typeface="Times New Roman" panose="02020603050405020304" pitchFamily="18" charset="0"/>
                <a:cs typeface="Times New Roman" panose="02020603050405020304" pitchFamily="18" charset="0"/>
              </a:rPr>
              <a:t>1. </a:t>
            </a:r>
            <a:r>
              <a:rPr dirty="0">
                <a:latin typeface="Times New Roman" panose="02020603050405020304" pitchFamily="18" charset="0"/>
                <a:cs typeface="Times New Roman" panose="02020603050405020304" pitchFamily="18" charset="0"/>
              </a:rPr>
              <a:t>Bank Lockers and ATM Vaults</a:t>
            </a:r>
            <a:r>
              <a:rPr lang="en-IN" dirty="0">
                <a:latin typeface="Times New Roman" panose="02020603050405020304" pitchFamily="18" charset="0"/>
                <a:cs typeface="Times New Roman" panose="02020603050405020304" pitchFamily="18" charset="0"/>
              </a:rPr>
              <a:t> - </a:t>
            </a:r>
            <a:r>
              <a:rPr dirty="0">
                <a:latin typeface="Times New Roman" panose="02020603050405020304" pitchFamily="18" charset="0"/>
                <a:cs typeface="Times New Roman" panose="02020603050405020304" pitchFamily="18" charset="0"/>
              </a:rPr>
              <a:t>Used in financial institutions to secure lockers and vaults with multi-factor authentication for authorized staff access only.</a:t>
            </a:r>
          </a:p>
          <a:p>
            <a:pPr marL="2540" algn="just">
              <a:lnSpc>
                <a:spcPct val="150000"/>
              </a:lnSpc>
              <a:buSzPct val="94444"/>
              <a:tabLst>
                <a:tab pos="91440" algn="l"/>
              </a:tabLst>
            </a:pPr>
            <a:r>
              <a:rPr lang="en-US" dirty="0">
                <a:latin typeface="Times New Roman" panose="02020603050405020304" pitchFamily="18" charset="0"/>
                <a:cs typeface="Times New Roman" panose="02020603050405020304" pitchFamily="18" charset="0"/>
              </a:rPr>
              <a:t>2. </a:t>
            </a:r>
            <a:r>
              <a:rPr dirty="0">
                <a:latin typeface="Times New Roman" panose="02020603050405020304" pitchFamily="18" charset="0"/>
                <a:cs typeface="Times New Roman" panose="02020603050405020304" pitchFamily="18" charset="0"/>
              </a:rPr>
              <a:t>Home and Office Safes</a:t>
            </a:r>
            <a:r>
              <a:rPr lang="en-IN" dirty="0">
                <a:latin typeface="Times New Roman" panose="02020603050405020304" pitchFamily="18" charset="0"/>
                <a:cs typeface="Times New Roman" panose="02020603050405020304" pitchFamily="18" charset="0"/>
              </a:rPr>
              <a:t> - </a:t>
            </a:r>
            <a:r>
              <a:rPr dirty="0">
                <a:latin typeface="Times New Roman" panose="02020603050405020304" pitchFamily="18" charset="0"/>
                <a:cs typeface="Times New Roman" panose="02020603050405020304" pitchFamily="18" charset="0"/>
              </a:rPr>
              <a:t>Provides secure storage for valuables, documents, and cash with fingerprint and OTP verification.</a:t>
            </a:r>
          </a:p>
          <a:p>
            <a:pPr marL="2540" algn="just">
              <a:lnSpc>
                <a:spcPct val="150000"/>
              </a:lnSpc>
              <a:buSzPct val="94444"/>
              <a:tabLst>
                <a:tab pos="91440" algn="l"/>
              </a:tabLst>
            </a:pPr>
            <a:r>
              <a:rPr lang="en-US" dirty="0">
                <a:latin typeface="Times New Roman" panose="02020603050405020304" pitchFamily="18" charset="0"/>
                <a:cs typeface="Times New Roman" panose="02020603050405020304" pitchFamily="18" charset="0"/>
              </a:rPr>
              <a:t>3. </a:t>
            </a:r>
            <a:r>
              <a:rPr dirty="0">
                <a:latin typeface="Times New Roman" panose="02020603050405020304" pitchFamily="18" charset="0"/>
                <a:cs typeface="Times New Roman" panose="02020603050405020304" pitchFamily="18" charset="0"/>
              </a:rPr>
              <a:t>Industrial Security Systems</a:t>
            </a:r>
            <a:r>
              <a:rPr lang="en-IN" dirty="0">
                <a:latin typeface="Times New Roman" panose="02020603050405020304" pitchFamily="18" charset="0"/>
                <a:cs typeface="Times New Roman" panose="02020603050405020304" pitchFamily="18" charset="0"/>
              </a:rPr>
              <a:t> - </a:t>
            </a:r>
            <a:r>
              <a:rPr dirty="0">
                <a:latin typeface="Times New Roman" panose="02020603050405020304" pitchFamily="18" charset="0"/>
                <a:cs typeface="Times New Roman" panose="02020603050405020304" pitchFamily="18" charset="0"/>
              </a:rPr>
              <a:t>Protects critical equipment, control rooms, and storage units by restricting unauthorized access.</a:t>
            </a:r>
          </a:p>
          <a:p>
            <a:pPr marL="2540" algn="just">
              <a:lnSpc>
                <a:spcPct val="150000"/>
              </a:lnSpc>
              <a:spcBef>
                <a:spcPts val="5"/>
              </a:spcBef>
              <a:buSzPct val="94444"/>
              <a:tabLst>
                <a:tab pos="91440" algn="l"/>
              </a:tabLst>
            </a:pPr>
            <a:r>
              <a:rPr lang="en-US" dirty="0">
                <a:latin typeface="Times New Roman" panose="02020603050405020304" pitchFamily="18" charset="0"/>
                <a:cs typeface="Times New Roman" panose="02020603050405020304" pitchFamily="18" charset="0"/>
              </a:rPr>
              <a:t>4. </a:t>
            </a:r>
            <a:r>
              <a:rPr dirty="0">
                <a:latin typeface="Times New Roman" panose="02020603050405020304" pitchFamily="18" charset="0"/>
                <a:cs typeface="Times New Roman" panose="02020603050405020304" pitchFamily="18" charset="0"/>
              </a:rPr>
              <a:t>Data Centers and Server Rooms</a:t>
            </a:r>
            <a:r>
              <a:rPr lang="en-IN" dirty="0">
                <a:latin typeface="Times New Roman" panose="02020603050405020304" pitchFamily="18" charset="0"/>
                <a:cs typeface="Times New Roman" panose="02020603050405020304" pitchFamily="18" charset="0"/>
              </a:rPr>
              <a:t> - </a:t>
            </a:r>
            <a:r>
              <a:rPr dirty="0">
                <a:latin typeface="Times New Roman" panose="02020603050405020304" pitchFamily="18" charset="0"/>
                <a:cs typeface="Times New Roman" panose="02020603050405020304" pitchFamily="18" charset="0"/>
              </a:rPr>
              <a:t>Ensures only verified personnel can access sensitive systems or data storage facilities.</a:t>
            </a:r>
          </a:p>
          <a:p>
            <a:pPr marL="2540" algn="just">
              <a:lnSpc>
                <a:spcPct val="150000"/>
              </a:lnSpc>
              <a:buSzPct val="94444"/>
              <a:tabLst>
                <a:tab pos="91440" algn="l"/>
              </a:tabLst>
            </a:pPr>
            <a:r>
              <a:rPr lang="en-US" dirty="0">
                <a:latin typeface="Times New Roman" panose="02020603050405020304" pitchFamily="18" charset="0"/>
                <a:cs typeface="Times New Roman" panose="02020603050405020304" pitchFamily="18" charset="0"/>
              </a:rPr>
              <a:t>5. </a:t>
            </a:r>
            <a:r>
              <a:rPr dirty="0">
                <a:latin typeface="Times New Roman" panose="02020603050405020304" pitchFamily="18" charset="0"/>
                <a:cs typeface="Times New Roman" panose="02020603050405020304" pitchFamily="18" charset="0"/>
              </a:rPr>
              <a:t>Defense and Military Storage Units</a:t>
            </a:r>
            <a:r>
              <a:rPr lang="en-IN" dirty="0">
                <a:latin typeface="Times New Roman" panose="02020603050405020304" pitchFamily="18" charset="0"/>
                <a:cs typeface="Times New Roman" panose="02020603050405020304" pitchFamily="18" charset="0"/>
              </a:rPr>
              <a:t> - </a:t>
            </a:r>
            <a:r>
              <a:rPr dirty="0">
                <a:latin typeface="Times New Roman" panose="02020603050405020304" pitchFamily="18" charset="0"/>
                <a:cs typeface="Times New Roman" panose="02020603050405020304" pitchFamily="18" charset="0"/>
              </a:rPr>
              <a:t>Used to secure confidential files, weapons, or communication devices requiring high-level authentication.</a:t>
            </a:r>
          </a:p>
          <a:p>
            <a:pPr marL="2540" algn="just">
              <a:lnSpc>
                <a:spcPct val="150000"/>
              </a:lnSpc>
              <a:buSzPct val="94444"/>
              <a:tabLst>
                <a:tab pos="91440" algn="l"/>
              </a:tabLst>
            </a:pPr>
            <a:r>
              <a:rPr lang="en-US" dirty="0">
                <a:latin typeface="Times New Roman" panose="02020603050405020304" pitchFamily="18" charset="0"/>
                <a:cs typeface="Times New Roman" panose="02020603050405020304" pitchFamily="18" charset="0"/>
              </a:rPr>
              <a:t>6. </a:t>
            </a:r>
            <a:r>
              <a:rPr dirty="0">
                <a:latin typeface="Times New Roman" panose="02020603050405020304" pitchFamily="18" charset="0"/>
                <a:cs typeface="Times New Roman" panose="02020603050405020304" pitchFamily="18" charset="0"/>
              </a:rPr>
              <a:t>Jewelry Shops and Showrooms</a:t>
            </a:r>
            <a:r>
              <a:rPr lang="en-IN" dirty="0">
                <a:latin typeface="Times New Roman" panose="02020603050405020304" pitchFamily="18" charset="0"/>
                <a:cs typeface="Times New Roman" panose="02020603050405020304" pitchFamily="18" charset="0"/>
              </a:rPr>
              <a:t> - </a:t>
            </a:r>
            <a:r>
              <a:rPr dirty="0">
                <a:latin typeface="Times New Roman" panose="02020603050405020304" pitchFamily="18" charset="0"/>
                <a:cs typeface="Times New Roman" panose="02020603050405020304" pitchFamily="18" charset="0"/>
              </a:rPr>
              <a:t>Protects valuable assets using IoT-based real-time monitoring and alert systems.</a:t>
            </a:r>
          </a:p>
          <a:p>
            <a:pPr marL="2540" algn="just">
              <a:lnSpc>
                <a:spcPct val="150000"/>
              </a:lnSpc>
              <a:buSzPct val="94444"/>
              <a:tabLst>
                <a:tab pos="91440" algn="l"/>
              </a:tabLst>
            </a:pPr>
            <a:r>
              <a:rPr lang="en-US" dirty="0">
                <a:latin typeface="Times New Roman" panose="02020603050405020304" pitchFamily="18" charset="0"/>
                <a:cs typeface="Times New Roman" panose="02020603050405020304" pitchFamily="18" charset="0"/>
              </a:rPr>
              <a:t>7. </a:t>
            </a:r>
            <a:r>
              <a:rPr dirty="0">
                <a:latin typeface="Times New Roman" panose="02020603050405020304" pitchFamily="18" charset="0"/>
                <a:cs typeface="Times New Roman" panose="02020603050405020304" pitchFamily="18" charset="0"/>
              </a:rPr>
              <a:t>Smart Home Automation Systems</a:t>
            </a:r>
            <a:r>
              <a:rPr lang="en-IN" dirty="0">
                <a:latin typeface="Times New Roman" panose="02020603050405020304" pitchFamily="18" charset="0"/>
                <a:cs typeface="Times New Roman" panose="02020603050405020304" pitchFamily="18" charset="0"/>
              </a:rPr>
              <a:t> - </a:t>
            </a:r>
            <a:r>
              <a:rPr dirty="0">
                <a:latin typeface="Times New Roman" panose="02020603050405020304" pitchFamily="18" charset="0"/>
                <a:cs typeface="Times New Roman" panose="02020603050405020304" pitchFamily="18" charset="0"/>
              </a:rPr>
              <a:t>Can be integrated with IoT-based smart homes for intelligent and safe access control.</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6294" y="235661"/>
            <a:ext cx="4616705" cy="690574"/>
          </a:xfrm>
          <a:prstGeom prst="rect">
            <a:avLst/>
          </a:prstGeom>
        </p:spPr>
        <p:txBody>
          <a:bodyPr vert="horz" wrap="square" lIns="0" tIns="13335" rIns="0" bIns="0" rtlCol="0">
            <a:spAutoFit/>
          </a:bodyPr>
          <a:lstStyle/>
          <a:p>
            <a:pPr marL="12700">
              <a:lnSpc>
                <a:spcPct val="100000"/>
              </a:lnSpc>
              <a:spcBef>
                <a:spcPts val="105"/>
              </a:spcBef>
            </a:pPr>
            <a:r>
              <a:rPr spc="-100" dirty="0">
                <a:latin typeface="Times New Roman" panose="02020603050405020304" pitchFamily="18" charset="0"/>
                <a:cs typeface="Times New Roman" panose="02020603050405020304" pitchFamily="18" charset="0"/>
              </a:rPr>
              <a:t>ADVANTAGES</a:t>
            </a:r>
          </a:p>
        </p:txBody>
      </p:sp>
      <p:sp>
        <p:nvSpPr>
          <p:cNvPr id="3" name="object 3"/>
          <p:cNvSpPr txBox="1"/>
          <p:nvPr/>
        </p:nvSpPr>
        <p:spPr>
          <a:xfrm>
            <a:off x="336295" y="1060145"/>
            <a:ext cx="10668000" cy="5655394"/>
          </a:xfrm>
          <a:prstGeom prst="rect">
            <a:avLst/>
          </a:prstGeom>
        </p:spPr>
        <p:txBody>
          <a:bodyPr vert="horz" wrap="square" lIns="0" tIns="12700" rIns="0" bIns="0" rtlCol="0">
            <a:spAutoFit/>
          </a:bodyPr>
          <a:lstStyle/>
          <a:p>
            <a:pPr marL="345439" indent="-342900">
              <a:lnSpc>
                <a:spcPct val="100000"/>
              </a:lnSpc>
              <a:spcBef>
                <a:spcPts val="100"/>
              </a:spcBef>
              <a:buSzPct val="91666"/>
              <a:buFont typeface="+mj-lt"/>
              <a:buAutoNum type="arabicPeriod"/>
              <a:tabLst>
                <a:tab pos="126364" algn="l"/>
              </a:tabLst>
            </a:pPr>
            <a:r>
              <a:rPr dirty="0">
                <a:latin typeface="Times New Roman" panose="02020603050405020304" pitchFamily="18" charset="0"/>
                <a:cs typeface="Times New Roman" panose="02020603050405020304" pitchFamily="18" charset="0"/>
              </a:rPr>
              <a:t>Enhanced Security:Provides dual-layer protection using biometric authentication and OTP verification, reducing the risk of unauthorized access.</a:t>
            </a:r>
          </a:p>
          <a:p>
            <a:pPr marL="343535" marR="403225" indent="-342900">
              <a:lnSpc>
                <a:spcPct val="100000"/>
              </a:lnSpc>
              <a:buSzPct val="91666"/>
              <a:buFont typeface="+mj-lt"/>
              <a:buAutoNum type="arabicPeriod"/>
              <a:tabLst>
                <a:tab pos="91440" algn="l"/>
              </a:tabLst>
            </a:pPr>
            <a:r>
              <a:rPr dirty="0">
                <a:latin typeface="Times New Roman" panose="02020603050405020304" pitchFamily="18" charset="0"/>
                <a:cs typeface="Times New Roman" panose="02020603050405020304" pitchFamily="18" charset="0"/>
              </a:rPr>
              <a:t>Real-Time Monitoring:IoT integration enables live status updates and remote monitoring of vault</a:t>
            </a:r>
            <a:r>
              <a:rPr lang="en-IN"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activity through cloud platforms or mobile apps.</a:t>
            </a:r>
          </a:p>
          <a:p>
            <a:pPr marL="343535" marR="594360" indent="-342900">
              <a:lnSpc>
                <a:spcPct val="100000"/>
              </a:lnSpc>
              <a:buSzPct val="91666"/>
              <a:buFont typeface="+mj-lt"/>
              <a:buAutoNum type="arabicPeriod"/>
              <a:tabLst>
                <a:tab pos="91440" algn="l"/>
              </a:tabLst>
            </a:pPr>
            <a:r>
              <a:rPr dirty="0">
                <a:latin typeface="Times New Roman" panose="02020603050405020304" pitchFamily="18" charset="0"/>
                <a:cs typeface="Times New Roman" panose="02020603050405020304" pitchFamily="18" charset="0"/>
              </a:rPr>
              <a:t>Automatic Alerts:Sends SMS or IoT notifications instantly during unauthorized access attempts,</a:t>
            </a:r>
            <a:r>
              <a:rPr lang="en-IN"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ensuring quick response.</a:t>
            </a:r>
          </a:p>
          <a:p>
            <a:pPr marL="343535" indent="-342900">
              <a:lnSpc>
                <a:spcPct val="100000"/>
              </a:lnSpc>
              <a:buSzPct val="91666"/>
              <a:buFont typeface="+mj-lt"/>
              <a:buAutoNum type="arabicPeriod"/>
              <a:tabLst>
                <a:tab pos="91440" algn="l"/>
              </a:tabLst>
            </a:pPr>
            <a:r>
              <a:rPr lang="en-IN" dirty="0">
                <a:latin typeface="Times New Roman" panose="02020603050405020304" pitchFamily="18" charset="0"/>
                <a:cs typeface="Times New Roman" panose="02020603050405020304" pitchFamily="18" charset="0"/>
              </a:rPr>
              <a:t>U</a:t>
            </a:r>
            <a:r>
              <a:rPr dirty="0">
                <a:latin typeface="Times New Roman" panose="02020603050405020304" pitchFamily="18" charset="0"/>
                <a:cs typeface="Times New Roman" panose="02020603050405020304" pitchFamily="18" charset="0"/>
              </a:rPr>
              <a:t>ser-Friendly Operation:Simple and convenient access using fingerprint and OTP — no need to</a:t>
            </a:r>
            <a:r>
              <a:rPr lang="en-IN"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remember complex passwords or carry keys.</a:t>
            </a:r>
          </a:p>
          <a:p>
            <a:pPr marL="12700">
              <a:lnSpc>
                <a:spcPct val="100000"/>
              </a:lnSpc>
              <a:spcBef>
                <a:spcPts val="450"/>
              </a:spcBef>
            </a:pPr>
            <a:r>
              <a:rPr sz="4400" spc="-10" dirty="0">
                <a:latin typeface="Times New Roman" panose="02020603050405020304" pitchFamily="18" charset="0"/>
                <a:cs typeface="Times New Roman" panose="02020603050405020304" pitchFamily="18" charset="0"/>
              </a:rPr>
              <a:t>LIMITATIONS</a:t>
            </a:r>
            <a:endParaRPr sz="4400" dirty="0">
              <a:latin typeface="Times New Roman" panose="02020603050405020304" pitchFamily="18" charset="0"/>
              <a:cs typeface="Times New Roman" panose="02020603050405020304" pitchFamily="18" charset="0"/>
            </a:endParaRPr>
          </a:p>
          <a:p>
            <a:pPr marL="493395" lvl="1" indent="-342900">
              <a:lnSpc>
                <a:spcPct val="150000"/>
              </a:lnSpc>
              <a:spcBef>
                <a:spcPts val="1885"/>
              </a:spcBef>
              <a:buSzPct val="94444"/>
              <a:buFont typeface="+mj-lt"/>
              <a:buAutoNum type="arabicPeriod"/>
              <a:tabLst>
                <a:tab pos="239395" algn="l"/>
              </a:tabLst>
            </a:pPr>
            <a:r>
              <a:rPr dirty="0">
                <a:latin typeface="Times New Roman" panose="02020603050405020304" pitchFamily="18" charset="0"/>
                <a:cs typeface="Times New Roman" panose="02020603050405020304" pitchFamily="18" charset="0"/>
              </a:rPr>
              <a:t>Dependence on Network Connectivity</a:t>
            </a:r>
            <a:r>
              <a:rPr lang="en-IN"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The system relies on GSM or Wi-Fi for OTP generation and IoT monitoring. Poor network coverage may delay messages or alerts.</a:t>
            </a:r>
          </a:p>
          <a:p>
            <a:pPr marL="493395" lvl="1" indent="-342900">
              <a:lnSpc>
                <a:spcPct val="150000"/>
              </a:lnSpc>
              <a:buSzPct val="94444"/>
              <a:buFont typeface="+mj-lt"/>
              <a:buAutoNum type="arabicPeriod"/>
              <a:tabLst>
                <a:tab pos="239395" algn="l"/>
              </a:tabLst>
            </a:pPr>
            <a:r>
              <a:rPr dirty="0">
                <a:latin typeface="Times New Roman" panose="02020603050405020304" pitchFamily="18" charset="0"/>
                <a:cs typeface="Times New Roman" panose="02020603050405020304" pitchFamily="18" charset="0"/>
              </a:rPr>
              <a:t>Limited Power Backup</a:t>
            </a:r>
            <a:r>
              <a:rPr lang="en-IN" dirty="0">
                <a:latin typeface="Times New Roman" panose="02020603050405020304" pitchFamily="18" charset="0"/>
                <a:cs typeface="Times New Roman" panose="02020603050405020304" pitchFamily="18" charset="0"/>
              </a:rPr>
              <a:t> - </a:t>
            </a:r>
            <a:r>
              <a:rPr dirty="0">
                <a:latin typeface="Times New Roman" panose="02020603050405020304" pitchFamily="18" charset="0"/>
                <a:cs typeface="Times New Roman" panose="02020603050405020304" pitchFamily="18" charset="0"/>
              </a:rPr>
              <a:t>Since the system operates on a DC power supply, it may stop functioning during power failures unless a</a:t>
            </a:r>
            <a:r>
              <a:rPr lang="en-IN"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backup battery is provided.</a:t>
            </a:r>
          </a:p>
          <a:p>
            <a:pPr marL="493395" lvl="1" indent="-342900">
              <a:lnSpc>
                <a:spcPct val="150000"/>
              </a:lnSpc>
              <a:buSzPct val="94444"/>
              <a:buFont typeface="+mj-lt"/>
              <a:buAutoNum type="arabicPeriod"/>
              <a:tabLst>
                <a:tab pos="239395" algn="l"/>
              </a:tabLst>
            </a:pPr>
            <a:r>
              <a:rPr dirty="0">
                <a:latin typeface="Times New Roman" panose="02020603050405020304" pitchFamily="18" charset="0"/>
                <a:cs typeface="Times New Roman" panose="02020603050405020304" pitchFamily="18" charset="0"/>
              </a:rPr>
              <a:t>Single User Registration (Basic Version)</a:t>
            </a:r>
            <a:r>
              <a:rPr lang="en-IN" dirty="0">
                <a:latin typeface="Times New Roman" panose="02020603050405020304" pitchFamily="18" charset="0"/>
                <a:cs typeface="Times New Roman" panose="02020603050405020304" pitchFamily="18" charset="0"/>
              </a:rPr>
              <a:t> - </a:t>
            </a:r>
            <a:r>
              <a:rPr dirty="0">
                <a:latin typeface="Times New Roman" panose="02020603050405020304" pitchFamily="18" charset="0"/>
                <a:cs typeface="Times New Roman" panose="02020603050405020304" pitchFamily="18" charset="0"/>
              </a:rPr>
              <a:t>The prototype may support limited fingerprint templates, restricting multiple-user access in shared environments.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9427" y="701801"/>
            <a:ext cx="4932173" cy="690574"/>
          </a:xfrm>
          <a:prstGeom prst="rect">
            <a:avLst/>
          </a:prstGeom>
        </p:spPr>
        <p:txBody>
          <a:bodyPr vert="horz" wrap="square" lIns="0" tIns="13335" rIns="0" bIns="0" rtlCol="0">
            <a:spAutoFit/>
          </a:bodyPr>
          <a:lstStyle/>
          <a:p>
            <a:pPr marL="12700">
              <a:lnSpc>
                <a:spcPct val="100000"/>
              </a:lnSpc>
              <a:spcBef>
                <a:spcPts val="105"/>
              </a:spcBef>
            </a:pPr>
            <a:r>
              <a:rPr spc="-25" dirty="0">
                <a:latin typeface="Times New Roman" panose="02020603050405020304" pitchFamily="18" charset="0"/>
                <a:cs typeface="Times New Roman" panose="02020603050405020304" pitchFamily="18" charset="0"/>
              </a:rPr>
              <a:t>FUTURE</a:t>
            </a:r>
            <a:r>
              <a:rPr spc="-204" dirty="0">
                <a:latin typeface="Times New Roman" panose="02020603050405020304" pitchFamily="18" charset="0"/>
                <a:cs typeface="Times New Roman" panose="02020603050405020304" pitchFamily="18" charset="0"/>
              </a:rPr>
              <a:t> </a:t>
            </a:r>
            <a:r>
              <a:rPr spc="-10" dirty="0">
                <a:latin typeface="Times New Roman" panose="02020603050405020304" pitchFamily="18" charset="0"/>
                <a:cs typeface="Times New Roman" panose="02020603050405020304" pitchFamily="18" charset="0"/>
              </a:rPr>
              <a:t>SCOPE</a:t>
            </a:r>
          </a:p>
        </p:txBody>
      </p:sp>
      <p:sp>
        <p:nvSpPr>
          <p:cNvPr id="3" name="object 3"/>
          <p:cNvSpPr txBox="1"/>
          <p:nvPr/>
        </p:nvSpPr>
        <p:spPr>
          <a:xfrm>
            <a:off x="424180" y="1600200"/>
            <a:ext cx="11343640" cy="4947508"/>
          </a:xfrm>
          <a:prstGeom prst="rect">
            <a:avLst/>
          </a:prstGeom>
        </p:spPr>
        <p:txBody>
          <a:bodyPr vert="horz" wrap="square" lIns="0" tIns="12700" rIns="0" bIns="0" rtlCol="0">
            <a:spAutoFit/>
          </a:bodyPr>
          <a:lstStyle/>
          <a:p>
            <a:pPr marL="345440" marR="712470" indent="-342900">
              <a:lnSpc>
                <a:spcPct val="150000"/>
              </a:lnSpc>
              <a:spcBef>
                <a:spcPts val="100"/>
              </a:spcBef>
              <a:buSzPct val="94444"/>
              <a:buFont typeface="+mj-lt"/>
              <a:buAutoNum type="arabicPeriod"/>
              <a:tabLst>
                <a:tab pos="91440" algn="l"/>
              </a:tabLst>
            </a:pPr>
            <a:r>
              <a:rPr dirty="0">
                <a:latin typeface="Times New Roman" panose="02020603050405020304" pitchFamily="18" charset="0"/>
                <a:cs typeface="Times New Roman" panose="02020603050405020304" pitchFamily="18" charset="0"/>
              </a:rPr>
              <a:t>Mobile App Integration:</a:t>
            </a:r>
            <a:r>
              <a:rPr lang="en-IN"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 dedicated Android/iOS app can be developed for remote monitoring, access control, and instant notifications with a user-friendly interface.</a:t>
            </a:r>
          </a:p>
          <a:p>
            <a:pPr marL="345440" marR="5080" indent="-342900">
              <a:lnSpc>
                <a:spcPct val="150000"/>
              </a:lnSpc>
              <a:buSzPct val="94444"/>
              <a:buFont typeface="+mj-lt"/>
              <a:buAutoNum type="arabicPeriod"/>
              <a:tabLst>
                <a:tab pos="91440" algn="l"/>
              </a:tabLst>
            </a:pPr>
            <a:r>
              <a:rPr dirty="0">
                <a:latin typeface="Times New Roman" panose="02020603050405020304" pitchFamily="18" charset="0"/>
                <a:cs typeface="Times New Roman" panose="02020603050405020304" pitchFamily="18" charset="0"/>
              </a:rPr>
              <a:t>Cloud Data Storage:</a:t>
            </a:r>
            <a:r>
              <a:rPr lang="en-IN"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Implementing cloud-based data logging will help store access records, timestamps, and user activity for improved security analysis.</a:t>
            </a:r>
          </a:p>
          <a:p>
            <a:pPr marL="345440" marR="725805" indent="-342900">
              <a:lnSpc>
                <a:spcPct val="150000"/>
              </a:lnSpc>
              <a:buSzPct val="94444"/>
              <a:buFont typeface="+mj-lt"/>
              <a:buAutoNum type="arabicPeriod"/>
              <a:tabLst>
                <a:tab pos="91440" algn="l"/>
              </a:tabLst>
            </a:pPr>
            <a:r>
              <a:rPr dirty="0">
                <a:latin typeface="Times New Roman" panose="02020603050405020304" pitchFamily="18" charset="0"/>
                <a:cs typeface="Times New Roman" panose="02020603050405020304" pitchFamily="18" charset="0"/>
              </a:rPr>
              <a:t>AI-Based Intrusion Detection:</a:t>
            </a:r>
            <a:r>
              <a:rPr lang="en-IN"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Artificial Intelligence can be used to detect unusual access patterns or multiple failed attempts and trigger predictive security measures.</a:t>
            </a:r>
          </a:p>
          <a:p>
            <a:pPr marL="345440" marR="121285" indent="-342900">
              <a:lnSpc>
                <a:spcPct val="150000"/>
              </a:lnSpc>
              <a:buSzPct val="94444"/>
              <a:buFont typeface="+mj-lt"/>
              <a:buAutoNum type="arabicPeriod"/>
              <a:tabLst>
                <a:tab pos="91440" algn="l"/>
              </a:tabLst>
            </a:pPr>
            <a:r>
              <a:rPr dirty="0">
                <a:latin typeface="Times New Roman" panose="02020603050405020304" pitchFamily="18" charset="0"/>
                <a:cs typeface="Times New Roman" panose="02020603050405020304" pitchFamily="18" charset="0"/>
              </a:rPr>
              <a:t>Multiple User Management:</a:t>
            </a:r>
            <a:r>
              <a:rPr lang="en-IN"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Future versions can support multiple authorized users with separate fingerprint and OTP profiles for team or family access.</a:t>
            </a:r>
          </a:p>
          <a:p>
            <a:pPr marL="345440" indent="-342900">
              <a:lnSpc>
                <a:spcPct val="150000"/>
              </a:lnSpc>
              <a:buSzPct val="94444"/>
              <a:buFont typeface="+mj-lt"/>
              <a:buAutoNum type="arabicPeriod"/>
              <a:tabLst>
                <a:tab pos="91440" algn="l"/>
              </a:tabLst>
            </a:pPr>
            <a:r>
              <a:rPr dirty="0">
                <a:latin typeface="Times New Roman" panose="02020603050405020304" pitchFamily="18" charset="0"/>
                <a:cs typeface="Times New Roman" panose="02020603050405020304" pitchFamily="18" charset="0"/>
              </a:rPr>
              <a:t>Voice or Face Recognition:</a:t>
            </a:r>
            <a:r>
              <a:rPr lang="en-IN"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The system can be upgraded with voice or facial recognition to add more</a:t>
            </a:r>
            <a:r>
              <a:rPr lang="en-IN"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advanced authentication layers.</a:t>
            </a:r>
          </a:p>
          <a:p>
            <a:pPr marL="345440" marR="220345" indent="-342900">
              <a:lnSpc>
                <a:spcPct val="150000"/>
              </a:lnSpc>
              <a:spcBef>
                <a:spcPts val="5"/>
              </a:spcBef>
              <a:buSzPct val="94444"/>
              <a:buFont typeface="+mj-lt"/>
              <a:buAutoNum type="arabicPeriod"/>
              <a:tabLst>
                <a:tab pos="91440" algn="l"/>
              </a:tabLst>
            </a:pPr>
            <a:r>
              <a:rPr dirty="0">
                <a:latin typeface="Times New Roman" panose="02020603050405020304" pitchFamily="18" charset="0"/>
                <a:cs typeface="Times New Roman" panose="02020603050405020304" pitchFamily="18" charset="0"/>
              </a:rPr>
              <a:t>Integration with Smart Home Ecosystem:</a:t>
            </a:r>
            <a:r>
              <a:rPr lang="en-IN"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The vault system can be linked with other IoT home devices like CCTV, alarms, and smart locks for complete security automation.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37132" y="299161"/>
            <a:ext cx="4315867" cy="690574"/>
          </a:xfrm>
          <a:prstGeom prst="rect">
            <a:avLst/>
          </a:prstGeom>
        </p:spPr>
        <p:txBody>
          <a:bodyPr vert="horz" wrap="square" lIns="0" tIns="13335" rIns="0" bIns="0" rtlCol="0">
            <a:spAutoFit/>
          </a:bodyPr>
          <a:lstStyle/>
          <a:p>
            <a:pPr marL="12700">
              <a:lnSpc>
                <a:spcPct val="100000"/>
              </a:lnSpc>
              <a:spcBef>
                <a:spcPts val="105"/>
              </a:spcBef>
            </a:pPr>
            <a:r>
              <a:rPr spc="-50" dirty="0">
                <a:latin typeface="Times New Roman" panose="02020603050405020304" pitchFamily="18" charset="0"/>
                <a:cs typeface="Times New Roman" panose="02020603050405020304" pitchFamily="18" charset="0"/>
              </a:rPr>
              <a:t>CONCLUSION</a:t>
            </a:r>
          </a:p>
        </p:txBody>
      </p:sp>
      <p:sp>
        <p:nvSpPr>
          <p:cNvPr id="3" name="object 3"/>
          <p:cNvSpPr txBox="1"/>
          <p:nvPr/>
        </p:nvSpPr>
        <p:spPr>
          <a:xfrm>
            <a:off x="637132" y="1371600"/>
            <a:ext cx="11134243" cy="3702552"/>
          </a:xfrm>
          <a:prstGeom prst="rect">
            <a:avLst/>
          </a:prstGeom>
        </p:spPr>
        <p:txBody>
          <a:bodyPr vert="horz" wrap="square" lIns="0" tIns="12700" rIns="0" bIns="0" rtlCol="0">
            <a:spAutoFit/>
          </a:bodyPr>
          <a:lstStyle/>
          <a:p>
            <a:pPr marL="354965" marR="5715" indent="-342900" algn="just">
              <a:lnSpc>
                <a:spcPct val="150000"/>
              </a:lnSpc>
              <a:spcBef>
                <a:spcPts val="100"/>
              </a:spcBef>
              <a:buFont typeface="Wingdings"/>
              <a:buChar char=""/>
              <a:tabLst>
                <a:tab pos="354965" algn="l"/>
              </a:tabLst>
            </a:pPr>
            <a:r>
              <a:rPr dirty="0">
                <a:latin typeface="Times New Roman" panose="02020603050405020304" pitchFamily="18" charset="0"/>
                <a:cs typeface="Times New Roman" panose="02020603050405020304" pitchFamily="18" charset="0"/>
              </a:rPr>
              <a:t>The IoT-Enabled Biometric and OTP-Based Smart Vault Security System provides an advanced, reliable,  and  multi-layered  security  solution  for  safeguarding  valuables.  By  integrating biometric authentication, OTP verification, and IoT connectivity, the system ensures that only authorized users can access the vault.</a:t>
            </a:r>
          </a:p>
          <a:p>
            <a:pPr marL="354965" marR="5715" indent="-342900" algn="just">
              <a:lnSpc>
                <a:spcPct val="150000"/>
              </a:lnSpc>
              <a:buFont typeface="Wingdings"/>
              <a:buChar char=""/>
              <a:tabLst>
                <a:tab pos="354965" algn="l"/>
                <a:tab pos="412115" algn="l"/>
              </a:tabLst>
            </a:pPr>
            <a:r>
              <a:rPr dirty="0">
                <a:latin typeface="Times New Roman" panose="02020603050405020304" pitchFamily="18" charset="0"/>
                <a:cs typeface="Times New Roman" panose="02020603050405020304" pitchFamily="18" charset="0"/>
              </a:rPr>
              <a:t>	It eliminates the weaknesses of traditional lock systems, which can be easily duplicated or tampered with. The real-time monitoring and alert notifications enhance the overall safety and convenience for users.</a:t>
            </a:r>
          </a:p>
          <a:p>
            <a:pPr marL="354965" marR="5080" indent="-342900" algn="just">
              <a:lnSpc>
                <a:spcPct val="150000"/>
              </a:lnSpc>
              <a:buFont typeface="Wingdings"/>
              <a:buChar char=""/>
              <a:tabLst>
                <a:tab pos="354965" algn="l"/>
                <a:tab pos="412115" algn="l"/>
              </a:tabLst>
            </a:pPr>
            <a:r>
              <a:rPr dirty="0">
                <a:latin typeface="Times New Roman" panose="02020603050405020304" pitchFamily="18" charset="0"/>
                <a:cs typeface="Times New Roman" panose="02020603050405020304" pitchFamily="18" charset="0"/>
              </a:rPr>
              <a:t>	This  smart  security  system  is  cost-effective,  energy-efficient,  and  scalable  for  various applications like homes, banks, and offices. Overall, the project successfully demonstrates how</a:t>
            </a:r>
          </a:p>
          <a:p>
            <a:pPr marL="354965" marR="7620" algn="just">
              <a:lnSpc>
                <a:spcPct val="150000"/>
              </a:lnSpc>
            </a:pPr>
            <a:r>
              <a:rPr dirty="0">
                <a:latin typeface="Times New Roman" panose="02020603050405020304" pitchFamily="18" charset="0"/>
                <a:cs typeface="Times New Roman" panose="02020603050405020304" pitchFamily="18" charset="0"/>
              </a:rPr>
              <a:t>modern IoT and biometric technologies can be combined to create a secure, user-friendly, and intelligent vault system</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23316" rIns="0" bIns="0" rtlCol="0">
            <a:spAutoFit/>
          </a:bodyPr>
          <a:lstStyle/>
          <a:p>
            <a:pPr marL="182880">
              <a:lnSpc>
                <a:spcPct val="100000"/>
              </a:lnSpc>
              <a:spcBef>
                <a:spcPts val="105"/>
              </a:spcBef>
            </a:pPr>
            <a:r>
              <a:rPr spc="-40" dirty="0">
                <a:latin typeface="Times New Roman" panose="02020603050405020304" pitchFamily="18" charset="0"/>
                <a:cs typeface="Times New Roman" panose="02020603050405020304" pitchFamily="18" charset="0"/>
              </a:rPr>
              <a:t>REFERENCES</a:t>
            </a:r>
          </a:p>
        </p:txBody>
      </p:sp>
      <p:sp>
        <p:nvSpPr>
          <p:cNvPr id="3" name="object 3"/>
          <p:cNvSpPr txBox="1">
            <a:spLocks noGrp="1"/>
          </p:cNvSpPr>
          <p:nvPr>
            <p:ph type="body" idx="1"/>
          </p:nvPr>
        </p:nvSpPr>
        <p:spPr>
          <a:xfrm>
            <a:off x="685800" y="1168781"/>
            <a:ext cx="11201400" cy="4949047"/>
          </a:xfrm>
          <a:prstGeom prst="rect">
            <a:avLst/>
          </a:prstGeom>
        </p:spPr>
        <p:txBody>
          <a:bodyPr vert="horz" wrap="square" lIns="0" tIns="12700" rIns="0" bIns="0" rtlCol="0">
            <a:spAutoFit/>
          </a:bodyPr>
          <a:lstStyle/>
          <a:p>
            <a:pPr marL="345440" marR="647065" indent="-342900">
              <a:lnSpc>
                <a:spcPct val="150000"/>
              </a:lnSpc>
              <a:spcBef>
                <a:spcPts val="100"/>
              </a:spcBef>
              <a:buSzPct val="94444"/>
              <a:buFont typeface="+mj-lt"/>
              <a:buAutoNum type="arabicPeriod"/>
              <a:tabLst>
                <a:tab pos="91440" algn="l"/>
              </a:tabLst>
            </a:pPr>
            <a:r>
              <a:rPr dirty="0">
                <a:latin typeface="Times New Roman" panose="02020603050405020304" pitchFamily="18" charset="0"/>
                <a:cs typeface="Times New Roman" panose="02020603050405020304" pitchFamily="18" charset="0"/>
              </a:rPr>
              <a:t>A. Kumar, R. Sharma, and P. Singh, “IoT Based Smart Security System Using Biometric and OTP Authentication,” International Journal of Advanced Research in Electronics and Communication Engineering (IJARECE), Vol. 9, No. 4, 2023.</a:t>
            </a:r>
          </a:p>
          <a:p>
            <a:pPr marL="345440" marR="58419" indent="-342900">
              <a:lnSpc>
                <a:spcPct val="150000"/>
              </a:lnSpc>
              <a:buSzPct val="94444"/>
              <a:buFont typeface="+mj-lt"/>
              <a:buAutoNum type="arabicPeriod"/>
              <a:tabLst>
                <a:tab pos="91440" algn="l"/>
              </a:tabLst>
            </a:pPr>
            <a:r>
              <a:rPr dirty="0">
                <a:latin typeface="Times New Roman" panose="02020603050405020304" pitchFamily="18" charset="0"/>
                <a:cs typeface="Times New Roman" panose="02020603050405020304" pitchFamily="18" charset="0"/>
              </a:rPr>
              <a:t>S. Gupta and M. Verma, “Design and Implementation of IoT-Enabled Security Systems,” International Journal of Innovative Research in Computer and Communication Engineering (IJIRCCE), Vol. 10, No. 7, 2022.</a:t>
            </a:r>
          </a:p>
          <a:p>
            <a:pPr marL="345440" marR="107950" indent="-342900">
              <a:lnSpc>
                <a:spcPct val="150000"/>
              </a:lnSpc>
              <a:buSzPct val="94444"/>
              <a:buFont typeface="+mj-lt"/>
              <a:buAutoNum type="arabicPeriod"/>
              <a:tabLst>
                <a:tab pos="91440" algn="l"/>
              </a:tabLst>
            </a:pPr>
            <a:r>
              <a:rPr dirty="0">
                <a:latin typeface="Times New Roman" panose="02020603050405020304" pitchFamily="18" charset="0"/>
                <a:cs typeface="Times New Roman" panose="02020603050405020304" pitchFamily="18" charset="0"/>
              </a:rPr>
              <a:t>P. Kaur and D. Mehta, “Biometric Authentication in Smart Security Systems,” IEEE International Conference on Smart Technologies and Management for Computing, Communication, Controls, Energy and Materials (ICSTM), 2021.</a:t>
            </a:r>
          </a:p>
          <a:p>
            <a:pPr marL="345440" indent="-342900">
              <a:lnSpc>
                <a:spcPct val="150000"/>
              </a:lnSpc>
              <a:buSzPct val="94444"/>
              <a:buFont typeface="+mj-lt"/>
              <a:buAutoNum type="arabicPeriod"/>
              <a:tabLst>
                <a:tab pos="91440" algn="l"/>
              </a:tabLst>
            </a:pPr>
            <a:r>
              <a:rPr dirty="0">
                <a:latin typeface="Times New Roman" panose="02020603050405020304" pitchFamily="18" charset="0"/>
                <a:cs typeface="Times New Roman" panose="02020603050405020304" pitchFamily="18" charset="0"/>
              </a:rPr>
              <a:t>R. S. Patel and T. Desai, “Enhancing Home and Vault Security Using IoT and GSM Modules,”</a:t>
            </a:r>
            <a:r>
              <a:rPr lang="en-IN"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International Journal of Emerging Technology and Advanced Engineering (IJETAE), Vol. 12, No. 5, </a:t>
            </a:r>
            <a:r>
              <a:rPr lang="en-IN" dirty="0">
                <a:latin typeface="Times New Roman" panose="02020603050405020304" pitchFamily="18" charset="0"/>
                <a:cs typeface="Times New Roman" panose="02020603050405020304" pitchFamily="18" charset="0"/>
              </a:rPr>
              <a:t>2022</a:t>
            </a:r>
            <a:endParaRPr lang="en-US" dirty="0">
              <a:latin typeface="Times New Roman" panose="02020603050405020304" pitchFamily="18" charset="0"/>
              <a:cs typeface="Times New Roman" panose="02020603050405020304" pitchFamily="18" charset="0"/>
            </a:endParaRPr>
          </a:p>
          <a:p>
            <a:pPr marL="345440" marR="376555" indent="-342900">
              <a:lnSpc>
                <a:spcPct val="150000"/>
              </a:lnSpc>
              <a:buSzPct val="94444"/>
              <a:buFont typeface="+mj-lt"/>
              <a:buAutoNum type="arabicPeriod"/>
              <a:tabLst>
                <a:tab pos="91440" algn="l"/>
              </a:tabLst>
            </a:pPr>
            <a:r>
              <a:rPr lang="en-US" dirty="0">
                <a:latin typeface="Times New Roman" panose="02020603050405020304" pitchFamily="18" charset="0"/>
                <a:cs typeface="Times New Roman" panose="02020603050405020304" pitchFamily="18" charset="0"/>
              </a:rPr>
              <a:t>A. Bansal, “Integration of IoT and Biometric Systems for Enhanced Security Applications,” Journal of Information and Computational Science, Vol. 14, No. 9, 2023.</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54170" y="2788666"/>
            <a:ext cx="3247390" cy="696595"/>
          </a:xfrm>
          <a:prstGeom prst="rect">
            <a:avLst/>
          </a:prstGeom>
        </p:spPr>
        <p:txBody>
          <a:bodyPr vert="horz" wrap="square" lIns="0" tIns="13335" rIns="0" bIns="0" rtlCol="0">
            <a:spAutoFit/>
          </a:bodyPr>
          <a:lstStyle/>
          <a:p>
            <a:pPr marL="12700">
              <a:lnSpc>
                <a:spcPct val="100000"/>
              </a:lnSpc>
              <a:spcBef>
                <a:spcPts val="105"/>
              </a:spcBef>
            </a:pPr>
            <a:r>
              <a:rPr dirty="0"/>
              <a:t>ANY</a:t>
            </a:r>
            <a:r>
              <a:rPr spc="-210" dirty="0"/>
              <a:t> </a:t>
            </a:r>
            <a:r>
              <a:rPr spc="-30" dirty="0"/>
              <a:t>QUERIES?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40885" y="2747518"/>
            <a:ext cx="2648585" cy="696595"/>
          </a:xfrm>
          <a:prstGeom prst="rect">
            <a:avLst/>
          </a:prstGeom>
        </p:spPr>
        <p:txBody>
          <a:bodyPr vert="horz" wrap="square" lIns="0" tIns="13335" rIns="0" bIns="0" rtlCol="0">
            <a:spAutoFit/>
          </a:bodyPr>
          <a:lstStyle/>
          <a:p>
            <a:pPr marL="12700">
              <a:lnSpc>
                <a:spcPct val="100000"/>
              </a:lnSpc>
              <a:spcBef>
                <a:spcPts val="105"/>
              </a:spcBef>
            </a:pPr>
            <a:r>
              <a:rPr spc="-25" dirty="0"/>
              <a:t>THANK</a:t>
            </a:r>
            <a:r>
              <a:rPr spc="-204" dirty="0"/>
              <a:t> </a:t>
            </a:r>
            <a:r>
              <a:rPr spc="-30" dirty="0"/>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84</TotalTime>
  <Words>2062</Words>
  <Application>Microsoft Office PowerPoint</Application>
  <PresentationFormat>Widescreen</PresentationFormat>
  <Paragraphs>166</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Arial MT</vt:lpstr>
      <vt:lpstr>Calibri</vt:lpstr>
      <vt:lpstr>Calibri Light</vt:lpstr>
      <vt:lpstr>Times New Roman</vt:lpstr>
      <vt:lpstr>Wingdings</vt:lpstr>
      <vt:lpstr>Office Theme</vt:lpstr>
      <vt:lpstr>ADHIYAMAAN COLLEGE OF ENGINEERING (AN AUTONOMOUS INSTITUTION)</vt:lpstr>
      <vt:lpstr>INTRODUCTION</vt:lpstr>
      <vt:lpstr>PROBLEM STATEMENT</vt:lpstr>
      <vt:lpstr>OBJECTIVES</vt:lpstr>
      <vt:lpstr>LITERATURE REVIEW</vt:lpstr>
      <vt:lpstr>DISADVANTAGES OF EXISTING SYSTEM</vt:lpstr>
      <vt:lpstr>PROPOSED SYSTEM</vt:lpstr>
      <vt:lpstr>WORKING EXPLANATION</vt:lpstr>
      <vt:lpstr>PowerPoint Presentation</vt:lpstr>
      <vt:lpstr>METHODOLOGY / SYSTEM DESIGN</vt:lpstr>
      <vt:lpstr>HARDWARE USED</vt:lpstr>
      <vt:lpstr>IMPLEMENTATION &amp; RESULTS</vt:lpstr>
      <vt:lpstr>APPLICATIONS</vt:lpstr>
      <vt:lpstr>ADVANTAGES</vt:lpstr>
      <vt:lpstr>FUTURE SCOPE</vt:lpstr>
      <vt:lpstr>CONCLUSION</vt:lpstr>
      <vt:lpstr>REFERENCES</vt:lpstr>
      <vt:lpstr>ANY QUERIES?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UMA KUMAR</dc:creator>
  <cp:lastModifiedBy>Vidyadheesha M Pandurangi</cp:lastModifiedBy>
  <cp:revision>13</cp:revision>
  <dcterms:created xsi:type="dcterms:W3CDTF">2025-10-30T05:25:59Z</dcterms:created>
  <dcterms:modified xsi:type="dcterms:W3CDTF">2025-11-23T09:19:04Z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2025-10-29T00:00:00Z</vt:filetime>
  </property>
  <property fmtid="{D5CDD505-2E9C-101B-9397-08002B2CF9AE}" pid="3" name="Creator">
    <vt:lpwstr>Microsoft® PowerPoint® 2021</vt:lpwstr>
  </property>
  <property fmtid="{D5CDD505-2E9C-101B-9397-08002B2CF9AE}" pid="4" name="LastSaved">
    <vt:filetime>2025-10-30T00:00:00Z</vt:filetime>
  </property>
  <property fmtid="{D5CDD505-2E9C-101B-9397-08002B2CF9AE}" pid="5" name="Producer">
    <vt:lpwstr>Microsoft® PowerPoint® 2021</vt:lpwstr>
  </property>
</Properties>
</file>